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1.xml" ContentType="application/vnd.openxmlformats-officedocument.drawingml.chart+xml"/>
  <Override PartName="/ppt/notesSlides/notesSlide13.xml" ContentType="application/vnd.openxmlformats-officedocument.presentationml.notesSlide+xml"/>
  <Override PartName="/ppt/charts/chart2.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60" r:id="rId3"/>
    <p:sldId id="257" r:id="rId4"/>
    <p:sldId id="258" r:id="rId5"/>
    <p:sldId id="259" r:id="rId6"/>
    <p:sldId id="261" r:id="rId7"/>
    <p:sldId id="262" r:id="rId8"/>
    <p:sldId id="263" r:id="rId9"/>
    <p:sldId id="265" r:id="rId10"/>
    <p:sldId id="266" r:id="rId11"/>
    <p:sldId id="267" r:id="rId12"/>
    <p:sldId id="268" r:id="rId13"/>
    <p:sldId id="269" r:id="rId14"/>
    <p:sldId id="271" r:id="rId15"/>
    <p:sldId id="270"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7" d="100"/>
          <a:sy n="87" d="100"/>
        </p:scale>
        <p:origin x="68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1B2A3A"/>
                </a:solidFill>
                <a:latin typeface="Calibri"/>
              </a:defRPr>
            </a:pPr>
            <a:r>
              <a:rPr lang="en-US" sz="1100" b="0" i="0" u="none" strike="noStrike">
                <a:solidFill>
                  <a:srgbClr val="1B2A3A"/>
                </a:solidFill>
                <a:latin typeface="Calibri"/>
              </a:rPr>
              <a:t>Revenue by market ($K)</a:t>
            </a:r>
          </a:p>
        </c:rich>
      </c:tx>
      <c:overlay val="0"/>
    </c:title>
    <c:autoTitleDeleted val="0"/>
    <c:plotArea>
      <c:layout/>
      <c:barChart>
        <c:barDir val="col"/>
        <c:grouping val="stacked"/>
        <c:varyColors val="0"/>
        <c:ser>
          <c:idx val="0"/>
          <c:order val="0"/>
          <c:tx>
            <c:strRef>
              <c:f>Sheet1!$B$1</c:f>
              <c:strCache>
                <c:ptCount val="1"/>
                <c:pt idx="0">
                  <c:v>Bangladesh</c:v>
                </c:pt>
              </c:strCache>
            </c:strRef>
          </c:tx>
          <c:spPr>
            <a:solidFill>
              <a:srgbClr val="0B2545"/>
            </a:solidFill>
            <a:effectLst/>
          </c:spPr>
          <c:invertIfNegative val="0"/>
          <c:cat>
            <c:strRef>
              <c:f>Sheet1!$A$2:$A$6</c:f>
              <c:strCache>
                <c:ptCount val="5"/>
                <c:pt idx="0">
                  <c:v>2027</c:v>
                </c:pt>
                <c:pt idx="1">
                  <c:v>2028</c:v>
                </c:pt>
                <c:pt idx="2">
                  <c:v>2029</c:v>
                </c:pt>
                <c:pt idx="3">
                  <c:v>2030</c:v>
                </c:pt>
                <c:pt idx="4">
                  <c:v>2031</c:v>
                </c:pt>
              </c:strCache>
            </c:strRef>
          </c:cat>
          <c:val>
            <c:numRef>
              <c:f>Sheet1!$B$2:$B$6</c:f>
              <c:numCache>
                <c:formatCode>General</c:formatCode>
                <c:ptCount val="5"/>
                <c:pt idx="0">
                  <c:v>40.9</c:v>
                </c:pt>
                <c:pt idx="1">
                  <c:v>175.4</c:v>
                </c:pt>
                <c:pt idx="2">
                  <c:v>401.2</c:v>
                </c:pt>
                <c:pt idx="3">
                  <c:v>696.7</c:v>
                </c:pt>
                <c:pt idx="4">
                  <c:v>1046.7</c:v>
                </c:pt>
              </c:numCache>
            </c:numRef>
          </c:val>
          <c:extLst>
            <c:ext xmlns:c16="http://schemas.microsoft.com/office/drawing/2014/chart" uri="{C3380CC4-5D6E-409C-BE32-E72D297353CC}">
              <c16:uniqueId val="{00000000-423B-4ADB-8D61-D52330A92FA1}"/>
            </c:ext>
          </c:extLst>
        </c:ser>
        <c:ser>
          <c:idx val="1"/>
          <c:order val="1"/>
          <c:tx>
            <c:strRef>
              <c:f>Sheet1!$C$1</c:f>
              <c:strCache>
                <c:ptCount val="1"/>
                <c:pt idx="0">
                  <c:v>UAE</c:v>
                </c:pt>
              </c:strCache>
            </c:strRef>
          </c:tx>
          <c:spPr>
            <a:solidFill>
              <a:srgbClr val="0E9AA7"/>
            </a:solidFill>
            <a:effectLst/>
          </c:spPr>
          <c:invertIfNegative val="0"/>
          <c:cat>
            <c:strRef>
              <c:f>Sheet1!$A$2:$A$6</c:f>
              <c:strCache>
                <c:ptCount val="5"/>
                <c:pt idx="0">
                  <c:v>2027</c:v>
                </c:pt>
                <c:pt idx="1">
                  <c:v>2028</c:v>
                </c:pt>
                <c:pt idx="2">
                  <c:v>2029</c:v>
                </c:pt>
                <c:pt idx="3">
                  <c:v>2030</c:v>
                </c:pt>
                <c:pt idx="4">
                  <c:v>2031</c:v>
                </c:pt>
              </c:strCache>
            </c:strRef>
          </c:cat>
          <c:val>
            <c:numRef>
              <c:f>Sheet1!$C$2:$C$6</c:f>
              <c:numCache>
                <c:formatCode>General</c:formatCode>
                <c:ptCount val="5"/>
                <c:pt idx="0">
                  <c:v>60.5</c:v>
                </c:pt>
                <c:pt idx="1">
                  <c:v>314.8</c:v>
                </c:pt>
                <c:pt idx="2">
                  <c:v>849.2</c:v>
                </c:pt>
                <c:pt idx="3">
                  <c:v>1611.8</c:v>
                </c:pt>
                <c:pt idx="4">
                  <c:v>2516.1</c:v>
                </c:pt>
              </c:numCache>
            </c:numRef>
          </c:val>
          <c:extLst>
            <c:ext xmlns:c16="http://schemas.microsoft.com/office/drawing/2014/chart" uri="{C3380CC4-5D6E-409C-BE32-E72D297353CC}">
              <c16:uniqueId val="{00000001-423B-4ADB-8D61-D52330A92FA1}"/>
            </c:ext>
          </c:extLst>
        </c:ser>
        <c:ser>
          <c:idx val="2"/>
          <c:order val="2"/>
          <c:tx>
            <c:strRef>
              <c:f>Sheet1!$D$1</c:f>
              <c:strCache>
                <c:ptCount val="1"/>
                <c:pt idx="0">
                  <c:v>Qatar</c:v>
                </c:pt>
              </c:strCache>
            </c:strRef>
          </c:tx>
          <c:spPr>
            <a:solidFill>
              <a:srgbClr val="BFE6EA"/>
            </a:solidFill>
            <a:effectLst/>
          </c:spPr>
          <c:invertIfNegative val="0"/>
          <c:cat>
            <c:strRef>
              <c:f>Sheet1!$A$2:$A$6</c:f>
              <c:strCache>
                <c:ptCount val="5"/>
                <c:pt idx="0">
                  <c:v>2027</c:v>
                </c:pt>
                <c:pt idx="1">
                  <c:v>2028</c:v>
                </c:pt>
                <c:pt idx="2">
                  <c:v>2029</c:v>
                </c:pt>
                <c:pt idx="3">
                  <c:v>2030</c:v>
                </c:pt>
                <c:pt idx="4">
                  <c:v>2031</c:v>
                </c:pt>
              </c:strCache>
            </c:strRef>
          </c:cat>
          <c:val>
            <c:numRef>
              <c:f>Sheet1!$D$2:$D$6</c:f>
              <c:numCache>
                <c:formatCode>General</c:formatCode>
                <c:ptCount val="5"/>
                <c:pt idx="0">
                  <c:v>0</c:v>
                </c:pt>
                <c:pt idx="1">
                  <c:v>30.5</c:v>
                </c:pt>
                <c:pt idx="2">
                  <c:v>129.6</c:v>
                </c:pt>
                <c:pt idx="3">
                  <c:v>278.2</c:v>
                </c:pt>
                <c:pt idx="4">
                  <c:v>457</c:v>
                </c:pt>
              </c:numCache>
            </c:numRef>
          </c:val>
          <c:extLst>
            <c:ext xmlns:c16="http://schemas.microsoft.com/office/drawing/2014/chart" uri="{C3380CC4-5D6E-409C-BE32-E72D297353CC}">
              <c16:uniqueId val="{00000002-423B-4ADB-8D61-D52330A92FA1}"/>
            </c:ext>
          </c:extLst>
        </c:ser>
        <c:ser>
          <c:idx val="3"/>
          <c:order val="3"/>
          <c:tx>
            <c:strRef>
              <c:f>Sheet1!$E$1</c:f>
              <c:strCache>
                <c:ptCount val="1"/>
                <c:pt idx="0">
                  <c:v>Canada</c:v>
                </c:pt>
              </c:strCache>
            </c:strRef>
          </c:tx>
          <c:spPr>
            <a:solidFill>
              <a:srgbClr val="E8A33D"/>
            </a:solidFill>
            <a:effectLst/>
          </c:spPr>
          <c:invertIfNegative val="0"/>
          <c:cat>
            <c:strRef>
              <c:f>Sheet1!$A$2:$A$6</c:f>
              <c:strCache>
                <c:ptCount val="5"/>
                <c:pt idx="0">
                  <c:v>2027</c:v>
                </c:pt>
                <c:pt idx="1">
                  <c:v>2028</c:v>
                </c:pt>
                <c:pt idx="2">
                  <c:v>2029</c:v>
                </c:pt>
                <c:pt idx="3">
                  <c:v>2030</c:v>
                </c:pt>
                <c:pt idx="4">
                  <c:v>2031</c:v>
                </c:pt>
              </c:strCache>
            </c:strRef>
          </c:cat>
          <c:val>
            <c:numRef>
              <c:f>Sheet1!$E$2:$E$6</c:f>
              <c:numCache>
                <c:formatCode>General</c:formatCode>
                <c:ptCount val="5"/>
                <c:pt idx="0">
                  <c:v>0</c:v>
                </c:pt>
                <c:pt idx="1">
                  <c:v>0</c:v>
                </c:pt>
                <c:pt idx="2">
                  <c:v>110.7</c:v>
                </c:pt>
                <c:pt idx="3">
                  <c:v>603.1</c:v>
                </c:pt>
                <c:pt idx="4">
                  <c:v>1715.2</c:v>
                </c:pt>
              </c:numCache>
            </c:numRef>
          </c:val>
          <c:extLst>
            <c:ext xmlns:c16="http://schemas.microsoft.com/office/drawing/2014/chart" uri="{C3380CC4-5D6E-409C-BE32-E72D297353CC}">
              <c16:uniqueId val="{00000003-423B-4ADB-8D61-D52330A92FA1}"/>
            </c:ext>
          </c:extLst>
        </c:ser>
        <c:dLbls>
          <c:showLegendKey val="0"/>
          <c:showVal val="0"/>
          <c:showCatName val="0"/>
          <c:showSerName val="0"/>
          <c:showPercent val="0"/>
          <c:showBubbleSize val="0"/>
        </c:dLbls>
        <c:gapWidth val="50"/>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B6B7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3EAF0"/>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B7B"/>
                </a:solidFill>
                <a:latin typeface="Arial"/>
              </a:defRPr>
            </a:pPr>
            <a:endParaRPr lang="en-US"/>
          </a:p>
        </c:txPr>
        <c:crossAx val="2094734554"/>
        <c:crosses val="autoZero"/>
        <c:crossBetween val="between"/>
      </c:valAx>
      <c:spPr>
        <a:noFill/>
        <a:ln>
          <a:noFill/>
        </a:ln>
        <a:effectLst/>
      </c:spPr>
    </c:plotArea>
    <c:legend>
      <c:legendPos val="r"/>
      <c:overlay val="0"/>
      <c:txPr>
        <a:bodyPr/>
        <a:lstStyle/>
        <a:p>
          <a:pPr>
            <a:defRPr sz="900">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doughnutChart>
        <c:varyColors val="1"/>
        <c:ser>
          <c:idx val="0"/>
          <c:order val="0"/>
          <c:tx>
            <c:strRef>
              <c:f>Sheet1!$B$1</c:f>
              <c:strCache>
                <c:ptCount val="1"/>
                <c:pt idx="0">
                  <c:v>Use of funds</c:v>
                </c:pt>
              </c:strCache>
            </c:strRef>
          </c:tx>
          <c:dPt>
            <c:idx val="0"/>
            <c:bubble3D val="0"/>
            <c:spPr>
              <a:solidFill>
                <a:srgbClr val="0B2545"/>
              </a:solidFill>
              <a:ln>
                <a:solidFill>
                  <a:srgbClr val="FFFFFF"/>
                </a:solidFill>
              </a:ln>
            </c:spPr>
            <c:extLst>
              <c:ext xmlns:c16="http://schemas.microsoft.com/office/drawing/2014/chart" uri="{C3380CC4-5D6E-409C-BE32-E72D297353CC}">
                <c16:uniqueId val="{00000001-3055-4C31-B630-E4015422773B}"/>
              </c:ext>
            </c:extLst>
          </c:dPt>
          <c:dPt>
            <c:idx val="1"/>
            <c:bubble3D val="0"/>
            <c:spPr>
              <a:solidFill>
                <a:srgbClr val="0E9AA7"/>
              </a:solidFill>
              <a:ln>
                <a:solidFill>
                  <a:srgbClr val="FFFFFF"/>
                </a:solidFill>
              </a:ln>
            </c:spPr>
            <c:extLst>
              <c:ext xmlns:c16="http://schemas.microsoft.com/office/drawing/2014/chart" uri="{C3380CC4-5D6E-409C-BE32-E72D297353CC}">
                <c16:uniqueId val="{00000003-3055-4C31-B630-E4015422773B}"/>
              </c:ext>
            </c:extLst>
          </c:dPt>
          <c:dPt>
            <c:idx val="2"/>
            <c:bubble3D val="0"/>
            <c:spPr>
              <a:solidFill>
                <a:srgbClr val="1F5F8B"/>
              </a:solidFill>
              <a:ln>
                <a:solidFill>
                  <a:srgbClr val="FFFFFF"/>
                </a:solidFill>
              </a:ln>
            </c:spPr>
            <c:extLst>
              <c:ext xmlns:c16="http://schemas.microsoft.com/office/drawing/2014/chart" uri="{C3380CC4-5D6E-409C-BE32-E72D297353CC}">
                <c16:uniqueId val="{00000005-3055-4C31-B630-E4015422773B}"/>
              </c:ext>
            </c:extLst>
          </c:dPt>
          <c:dPt>
            <c:idx val="3"/>
            <c:bubble3D val="0"/>
            <c:spPr>
              <a:solidFill>
                <a:srgbClr val="5B6B7B"/>
              </a:solidFill>
              <a:ln>
                <a:solidFill>
                  <a:srgbClr val="FFFFFF"/>
                </a:solidFill>
              </a:ln>
            </c:spPr>
            <c:extLst>
              <c:ext xmlns:c16="http://schemas.microsoft.com/office/drawing/2014/chart" uri="{C3380CC4-5D6E-409C-BE32-E72D297353CC}">
                <c16:uniqueId val="{00000007-3055-4C31-B630-E4015422773B}"/>
              </c:ext>
            </c:extLst>
          </c:dPt>
          <c:dLbls>
            <c:numFmt formatCode="0%" sourceLinked="0"/>
            <c:spPr>
              <a:noFill/>
              <a:ln>
                <a:noFill/>
              </a:ln>
              <a:effectLst/>
            </c:spPr>
            <c:txPr>
              <a:bodyPr/>
              <a:lstStyle/>
              <a:p>
                <a:pPr>
                  <a:defRPr sz="1200" b="1">
                    <a:solidFill>
                      <a:srgbClr val="FFFFFF"/>
                    </a:solidFill>
                  </a:defRPr>
                </a:pPr>
                <a:endParaRPr lang="en-US"/>
              </a:p>
            </c:txPr>
            <c:showLegendKey val="0"/>
            <c:showVal val="1"/>
            <c:showCatName val="0"/>
            <c:showSerName val="0"/>
            <c:showPercent val="0"/>
            <c:showBubbleSize val="0"/>
            <c:showLeaderLines val="1"/>
            <c:extLst>
              <c:ext xmlns:c15="http://schemas.microsoft.com/office/drawing/2012/chart" uri="{CE6537A1-D6FC-4f65-9D91-7224C49458BB}"/>
            </c:extLst>
          </c:dLbls>
          <c:cat>
            <c:strRef>
              <c:f>Sheet1!$A$2:$A$5</c:f>
              <c:strCache>
                <c:ptCount val="4"/>
                <c:pt idx="0">
                  <c:v>Product &amp; Engineering</c:v>
                </c:pt>
                <c:pt idx="1">
                  <c:v>Sales &amp; Marketing</c:v>
                </c:pt>
                <c:pt idx="2">
                  <c:v>Compliance &amp; Infrastructure</c:v>
                </c:pt>
                <c:pt idx="3">
                  <c:v>Operations &amp; Support</c:v>
                </c:pt>
              </c:strCache>
            </c:strRef>
          </c:cat>
          <c:val>
            <c:numRef>
              <c:f>Sheet1!$B$2:$B$5</c:f>
              <c:numCache>
                <c:formatCode>General</c:formatCode>
                <c:ptCount val="4"/>
                <c:pt idx="0">
                  <c:v>0.25</c:v>
                </c:pt>
                <c:pt idx="1">
                  <c:v>0.25</c:v>
                </c:pt>
                <c:pt idx="2">
                  <c:v>0.25</c:v>
                </c:pt>
                <c:pt idx="3">
                  <c:v>0.25</c:v>
                </c:pt>
              </c:numCache>
            </c:numRef>
          </c:val>
          <c:extLst>
            <c:ext xmlns:c16="http://schemas.microsoft.com/office/drawing/2014/chart" uri="{C3380CC4-5D6E-409C-BE32-E72D297353CC}">
              <c16:uniqueId val="{00000008-3055-4C31-B630-E4015422773B}"/>
            </c:ext>
          </c:extLst>
        </c:ser>
        <c:dLbls>
          <c:showLegendKey val="0"/>
          <c:showVal val="1"/>
          <c:showCatName val="0"/>
          <c:showSerName val="0"/>
          <c:showPercent val="0"/>
          <c:showBubbleSize val="0"/>
          <c:showLeaderLines val="1"/>
        </c:dLbls>
        <c:firstSliceAng val="0"/>
        <c:holeSize val="55"/>
      </c:doughnutChart>
    </c:plotArea>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687358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your origin story here: why you started Clarus, and what you saw in clinics that made you build it. Keep it under 30 seconds.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founders: CEO, COO, CTO and the head advisor. Replace the bracketed placeholders with real names, one-line bios and where each person has worked. Keep bios short. Investors like to see who is full time and what each person owns.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it personal. Dig into the pain clinics feel WITHOUT Clarus. Every missed visit is revenue that never comes back, and overhead does not take the day off.</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solution maps to a problem on the previous slide. Talk benefits, not features: fewer empty slots, more repeat visits, less phone chasing.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three questions only: what is different, why customers care, why it is hard to copy. Be honest that the moat deepens with integrations and data.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 is every private facility across our four markets. SAM is the urban, digitally-run clinics we target first. Values are clinic counts times our blended FY2027 monthly prices. 2031 SAM value reflects price escalation only.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key features only: the workflow builder with reminders, the AI voice tier, and HMS/EMR integrations. The commentary explains why each comes next.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 every competitor so investors never find one you left off. Positions are our assessment. Note that we plan to partner with HMS vendors, not fight them.</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answers the previous slide, concern by concern. Read the concern, then give the answer with the number. End on the return and the timing.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channels only. Founder-led pilots prove results; partnerships and events scale them. Unit economics below are FY2031 steady state.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it simple: a monthly subscription per clinic location on three plans, a one-time setup fee in the Gulf and Canada, and AI voice minutes as an upsell. Prices are set by market and sit at competitor levels or above where AI voice and revenue recovery justify it.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Clarus is pre-revenue, so there is no historical data. Revenue grows from $101K in 2027 to $5.7M in 2031. EBITDA turns positive in 2029. Assumes 25% fewer sign-ups and 15% higher churn than the low-price plan, because higher prices slow sales. Hosting, AI and voice costs are raised to cover about 250 voice minutes per clinic; validate these.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money and introductions. Base-case return is 9.5x for the SAFE on the premium-price plan; a slower-adoption case is a real risk, so say so.</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jpg"/><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a:effectLst/>
      </p:bgPr>
    </p:bg>
    <p:spTree>
      <p:nvGrpSpPr>
        <p:cNvPr id="1" name=""/>
        <p:cNvGrpSpPr/>
        <p:nvPr/>
      </p:nvGrpSpPr>
      <p:grpSpPr>
        <a:xfrm>
          <a:off x="0" y="0"/>
          <a:ext cx="0" cy="0"/>
          <a:chOff x="0" y="0"/>
          <a:chExt cx="0" cy="0"/>
        </a:xfrm>
      </p:grpSpPr>
      <p:sp>
        <p:nvSpPr>
          <p:cNvPr id="2" name="Text 0"/>
          <p:cNvSpPr txBox="1"/>
          <p:nvPr/>
        </p:nvSpPr>
        <p:spPr>
          <a:xfrm>
            <a:off x="640080" y="1364742"/>
            <a:ext cx="7863840" cy="1005840"/>
          </a:xfrm>
          <a:prstGeom prst="rect">
            <a:avLst/>
          </a:prstGeom>
          <a:noFill/>
          <a:ln/>
        </p:spPr>
        <p:txBody>
          <a:bodyPr wrap="square" lIns="0" tIns="0" rIns="0" bIns="0" rtlCol="0" anchor="t"/>
          <a:lstStyle/>
          <a:p>
            <a:pPr marL="0" indent="0">
              <a:buNone/>
            </a:pPr>
            <a:r>
              <a:rPr lang="en-US" sz="6000" b="1" dirty="0">
                <a:solidFill>
                  <a:srgbClr val="FFFFFF"/>
                </a:solidFill>
                <a:latin typeface="Calibri" pitchFamily="34" charset="0"/>
                <a:ea typeface="Calibri" pitchFamily="34" charset="-122"/>
                <a:cs typeface="Calibri" pitchFamily="34" charset="-120"/>
              </a:rPr>
              <a:t>Clarus</a:t>
            </a:r>
            <a:endParaRPr lang="en-US" sz="6000" dirty="0"/>
          </a:p>
        </p:txBody>
      </p:sp>
      <p:sp>
        <p:nvSpPr>
          <p:cNvPr id="3" name="Text 1"/>
          <p:cNvSpPr txBox="1"/>
          <p:nvPr/>
        </p:nvSpPr>
        <p:spPr>
          <a:xfrm>
            <a:off x="640080" y="2708910"/>
            <a:ext cx="6949440" cy="822960"/>
          </a:xfrm>
          <a:prstGeom prst="rect">
            <a:avLst/>
          </a:prstGeom>
          <a:noFill/>
          <a:ln/>
        </p:spPr>
        <p:txBody>
          <a:bodyPr wrap="square" lIns="0" tIns="0" rIns="0" bIns="0" rtlCol="0" anchor="t"/>
          <a:lstStyle/>
          <a:p>
            <a:pPr marL="0" indent="0">
              <a:buNone/>
            </a:pPr>
            <a:r>
              <a:rPr lang="en-US" sz="2000" dirty="0">
                <a:solidFill>
                  <a:srgbClr val="BFE6EA"/>
                </a:solidFill>
                <a:latin typeface="Calibri" pitchFamily="34" charset="0"/>
                <a:ea typeface="Calibri" pitchFamily="34" charset="-122"/>
                <a:cs typeface="Calibri" pitchFamily="34" charset="-120"/>
              </a:rPr>
              <a:t>AI-assisted patient follow-up that fills clinic calendars and recovers lost revenue</a:t>
            </a:r>
            <a:endParaRPr lang="en-US" sz="2000" dirty="0"/>
          </a:p>
        </p:txBody>
      </p:sp>
      <p:sp>
        <p:nvSpPr>
          <p:cNvPr id="6" name="Text 4"/>
          <p:cNvSpPr txBox="1"/>
          <p:nvPr/>
        </p:nvSpPr>
        <p:spPr>
          <a:xfrm>
            <a:off x="640080" y="4818888"/>
            <a:ext cx="4572000" cy="201168"/>
          </a:xfrm>
          <a:prstGeom prst="rect">
            <a:avLst/>
          </a:prstGeom>
          <a:noFill/>
          <a:ln/>
        </p:spPr>
        <p:txBody>
          <a:bodyPr wrap="square" lIns="0" tIns="0" rIns="0" bIns="0" rtlCol="0" anchor="t"/>
          <a:lstStyle/>
          <a:p>
            <a:pPr marL="0" indent="0">
              <a:buNone/>
            </a:pPr>
            <a:r>
              <a:rPr lang="en-US" sz="900" dirty="0">
                <a:solidFill>
                  <a:srgbClr val="BFE6EA"/>
                </a:solidFill>
                <a:latin typeface="Calibri" pitchFamily="34" charset="0"/>
                <a:ea typeface="Calibri" pitchFamily="34" charset="-122"/>
                <a:cs typeface="Calibri" pitchFamily="34" charset="-120"/>
              </a:rPr>
              <a:t>.</a:t>
            </a:r>
            <a:endParaRPr lang="en-US" sz="900" dirty="0"/>
          </a:p>
        </p:txBody>
      </p:sp>
      <p:pic>
        <p:nvPicPr>
          <p:cNvPr id="8" name="Picture 7">
            <a:extLst>
              <a:ext uri="{FF2B5EF4-FFF2-40B4-BE49-F238E27FC236}">
                <a16:creationId xmlns:a16="http://schemas.microsoft.com/office/drawing/2014/main" id="{4F4BC141-F999-4F1E-BAAE-B6E133236805}"/>
              </a:ext>
            </a:extLst>
          </p:cNvPr>
          <p:cNvPicPr>
            <a:picLocks noChangeAspect="1"/>
          </p:cNvPicPr>
          <p:nvPr/>
        </p:nvPicPr>
        <p:blipFill>
          <a:blip r:embed="rId3"/>
          <a:stretch>
            <a:fillRect/>
          </a:stretch>
        </p:blipFill>
        <p:spPr>
          <a:xfrm>
            <a:off x="5318150" y="622758"/>
            <a:ext cx="1825600" cy="174782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32764" y="90476"/>
            <a:ext cx="8229600" cy="548640"/>
          </a:xfrm>
          <a:prstGeom prst="rect">
            <a:avLst/>
          </a:prstGeom>
          <a:noFill/>
          <a:ln/>
        </p:spPr>
        <p:txBody>
          <a:bodyPr wrap="square" lIns="0" tIns="0" rIns="0" bIns="0" rtlCol="0" anchor="ctr"/>
          <a:lstStyle/>
          <a:p>
            <a:pPr marL="0" indent="0">
              <a:buNone/>
            </a:pPr>
            <a:r>
              <a:rPr lang="en-US" sz="2600" b="1" dirty="0">
                <a:solidFill>
                  <a:srgbClr val="0B2545"/>
                </a:solidFill>
                <a:latin typeface="Calibri" pitchFamily="34" charset="0"/>
                <a:ea typeface="Calibri" pitchFamily="34" charset="-122"/>
                <a:cs typeface="Calibri" pitchFamily="34" charset="-120"/>
              </a:rPr>
              <a:t>Team</a:t>
            </a:r>
            <a:endParaRPr lang="en-US" sz="2600" dirty="0"/>
          </a:p>
        </p:txBody>
      </p:sp>
      <p:sp>
        <p:nvSpPr>
          <p:cNvPr id="5" name="Shape 2"/>
          <p:cNvSpPr/>
          <p:nvPr/>
        </p:nvSpPr>
        <p:spPr>
          <a:xfrm>
            <a:off x="305640" y="978852"/>
            <a:ext cx="2206672" cy="3980854"/>
          </a:xfrm>
          <a:prstGeom prst="roundRect">
            <a:avLst>
              <a:gd name="adj" fmla="val 3721"/>
            </a:avLst>
          </a:prstGeom>
          <a:solidFill>
            <a:srgbClr val="EEF4F7"/>
          </a:solidFill>
          <a:ln w="12700">
            <a:solidFill>
              <a:srgbClr val="EEF4F7"/>
            </a:solidFill>
            <a:prstDash val="solid"/>
          </a:ln>
        </p:spPr>
        <p:txBody>
          <a:bodyPr/>
          <a:lstStyle/>
          <a:p>
            <a:endParaRPr dirty="0"/>
          </a:p>
        </p:txBody>
      </p:sp>
      <p:sp>
        <p:nvSpPr>
          <p:cNvPr id="6" name="Shape 3"/>
          <p:cNvSpPr/>
          <p:nvPr/>
        </p:nvSpPr>
        <p:spPr>
          <a:xfrm>
            <a:off x="974293" y="1078548"/>
            <a:ext cx="914400" cy="914400"/>
          </a:xfrm>
          <a:prstGeom prst="ellipse">
            <a:avLst/>
          </a:prstGeom>
          <a:solidFill>
            <a:srgbClr val="0E9AA7"/>
          </a:solidFill>
          <a:ln w="12700">
            <a:solidFill>
              <a:srgbClr val="0E9AA7"/>
            </a:solidFill>
            <a:prstDash val="solid"/>
          </a:ln>
        </p:spPr>
        <p:txBody>
          <a:bodyPr/>
          <a:lstStyle/>
          <a:p>
            <a:endParaRPr/>
          </a:p>
        </p:txBody>
      </p:sp>
      <p:sp>
        <p:nvSpPr>
          <p:cNvPr id="7" name="Text 4"/>
          <p:cNvSpPr txBox="1"/>
          <p:nvPr/>
        </p:nvSpPr>
        <p:spPr>
          <a:xfrm>
            <a:off x="480632" y="3040815"/>
            <a:ext cx="1856687" cy="420000"/>
          </a:xfrm>
          <a:prstGeom prst="rect">
            <a:avLst/>
          </a:prstGeom>
          <a:noFill/>
          <a:ln/>
        </p:spPr>
        <p:txBody>
          <a:bodyPr wrap="square" lIns="0" tIns="0" rIns="0" bIns="0" rtlCol="0" anchor="t"/>
          <a:lstStyle/>
          <a:p>
            <a:pPr marL="0" indent="0">
              <a:buNone/>
            </a:pPr>
            <a:r>
              <a:rPr lang="en-US" sz="1300" b="1" dirty="0">
                <a:solidFill>
                  <a:srgbClr val="0B2545"/>
                </a:solidFill>
                <a:latin typeface="Calibri" pitchFamily="34" charset="0"/>
                <a:ea typeface="Calibri" pitchFamily="34" charset="-122"/>
                <a:cs typeface="Calibri" pitchFamily="34" charset="-120"/>
              </a:rPr>
              <a:t>Mohammed Faraz </a:t>
            </a:r>
            <a:r>
              <a:rPr lang="en-US" sz="1300" b="1" dirty="0" err="1">
                <a:solidFill>
                  <a:srgbClr val="0B2545"/>
                </a:solidFill>
                <a:latin typeface="Calibri" pitchFamily="34" charset="0"/>
                <a:ea typeface="Calibri" pitchFamily="34" charset="-122"/>
                <a:cs typeface="Calibri" pitchFamily="34" charset="-120"/>
              </a:rPr>
              <a:t>Kabbo</a:t>
            </a:r>
            <a:endParaRPr lang="en-US" sz="1300" dirty="0"/>
          </a:p>
        </p:txBody>
      </p:sp>
      <p:sp>
        <p:nvSpPr>
          <p:cNvPr id="8" name="Text 5"/>
          <p:cNvSpPr txBox="1"/>
          <p:nvPr/>
        </p:nvSpPr>
        <p:spPr>
          <a:xfrm>
            <a:off x="586015" y="3349222"/>
            <a:ext cx="1645920" cy="210000"/>
          </a:xfrm>
          <a:prstGeom prst="rect">
            <a:avLst/>
          </a:prstGeom>
          <a:noFill/>
          <a:ln/>
        </p:spPr>
        <p:txBody>
          <a:bodyPr wrap="square" lIns="0" tIns="0" rIns="0" bIns="0" rtlCol="0" anchor="t"/>
          <a:lstStyle/>
          <a:p>
            <a:pPr marL="0" indent="0">
              <a:buNone/>
            </a:pPr>
            <a:r>
              <a:rPr lang="en-US" sz="1600" b="1" dirty="0">
                <a:solidFill>
                  <a:srgbClr val="0E9AA7"/>
                </a:solidFill>
                <a:latin typeface="Calibri" pitchFamily="34" charset="0"/>
                <a:ea typeface="Calibri" pitchFamily="34" charset="-122"/>
                <a:cs typeface="Calibri" pitchFamily="34" charset="-120"/>
              </a:rPr>
              <a:t>Co-founder &amp; CEO</a:t>
            </a:r>
            <a:endParaRPr lang="en-US" sz="1600" dirty="0"/>
          </a:p>
        </p:txBody>
      </p:sp>
      <p:sp>
        <p:nvSpPr>
          <p:cNvPr id="10" name="Shape 7"/>
          <p:cNvSpPr/>
          <p:nvPr/>
        </p:nvSpPr>
        <p:spPr>
          <a:xfrm>
            <a:off x="3528099" y="972370"/>
            <a:ext cx="2202100" cy="3896810"/>
          </a:xfrm>
          <a:prstGeom prst="roundRect">
            <a:avLst>
              <a:gd name="adj" fmla="val 3721"/>
            </a:avLst>
          </a:prstGeom>
          <a:solidFill>
            <a:srgbClr val="EEF4F7"/>
          </a:solidFill>
          <a:ln w="12700">
            <a:solidFill>
              <a:srgbClr val="EEF4F7"/>
            </a:solidFill>
            <a:prstDash val="solid"/>
          </a:ln>
        </p:spPr>
        <p:txBody>
          <a:bodyPr/>
          <a:lstStyle/>
          <a:p>
            <a:endParaRPr dirty="0"/>
          </a:p>
        </p:txBody>
      </p:sp>
      <p:sp>
        <p:nvSpPr>
          <p:cNvPr id="11" name="Shape 8"/>
          <p:cNvSpPr/>
          <p:nvPr/>
        </p:nvSpPr>
        <p:spPr>
          <a:xfrm>
            <a:off x="4114800" y="1067051"/>
            <a:ext cx="914400" cy="914400"/>
          </a:xfrm>
          <a:prstGeom prst="ellipse">
            <a:avLst/>
          </a:prstGeom>
          <a:solidFill>
            <a:srgbClr val="0E9AA7"/>
          </a:solidFill>
          <a:ln w="12700">
            <a:solidFill>
              <a:srgbClr val="0E9AA7"/>
            </a:solidFill>
            <a:prstDash val="solid"/>
          </a:ln>
        </p:spPr>
        <p:txBody>
          <a:bodyPr/>
          <a:lstStyle/>
          <a:p>
            <a:endParaRPr dirty="0"/>
          </a:p>
        </p:txBody>
      </p:sp>
      <p:sp>
        <p:nvSpPr>
          <p:cNvPr id="12" name="Text 9"/>
          <p:cNvSpPr txBox="1"/>
          <p:nvPr/>
        </p:nvSpPr>
        <p:spPr>
          <a:xfrm>
            <a:off x="3812589" y="3051407"/>
            <a:ext cx="1645920" cy="420000"/>
          </a:xfrm>
          <a:prstGeom prst="rect">
            <a:avLst/>
          </a:prstGeom>
          <a:noFill/>
          <a:ln/>
        </p:spPr>
        <p:txBody>
          <a:bodyPr wrap="square" lIns="0" tIns="0" rIns="0" bIns="0" rtlCol="0" anchor="t"/>
          <a:lstStyle/>
          <a:p>
            <a:pPr marL="0" indent="0">
              <a:buNone/>
            </a:pPr>
            <a:r>
              <a:rPr lang="en-US" sz="1300" b="1" dirty="0" err="1">
                <a:solidFill>
                  <a:srgbClr val="0B2545"/>
                </a:solidFill>
                <a:latin typeface="Calibri" pitchFamily="34" charset="0"/>
                <a:ea typeface="Calibri" pitchFamily="34" charset="-122"/>
                <a:cs typeface="Calibri" pitchFamily="34" charset="-120"/>
              </a:rPr>
              <a:t>Rubaiya</a:t>
            </a:r>
            <a:r>
              <a:rPr lang="en-US" sz="1300" b="1" dirty="0">
                <a:solidFill>
                  <a:srgbClr val="0B2545"/>
                </a:solidFill>
                <a:latin typeface="Calibri" pitchFamily="34" charset="0"/>
                <a:ea typeface="Calibri" pitchFamily="34" charset="-122"/>
                <a:cs typeface="Calibri" pitchFamily="34" charset="-120"/>
              </a:rPr>
              <a:t> </a:t>
            </a:r>
            <a:r>
              <a:rPr lang="en-US" sz="1300" b="1" dirty="0" err="1">
                <a:solidFill>
                  <a:srgbClr val="0B2545"/>
                </a:solidFill>
                <a:latin typeface="Calibri" pitchFamily="34" charset="0"/>
                <a:ea typeface="Calibri" pitchFamily="34" charset="-122"/>
                <a:cs typeface="Calibri" pitchFamily="34" charset="-120"/>
              </a:rPr>
              <a:t>Hassin</a:t>
            </a:r>
            <a:r>
              <a:rPr lang="en-US" sz="1300" b="1" dirty="0">
                <a:solidFill>
                  <a:srgbClr val="0B2545"/>
                </a:solidFill>
                <a:latin typeface="Calibri" pitchFamily="34" charset="0"/>
                <a:ea typeface="Calibri" pitchFamily="34" charset="-122"/>
                <a:cs typeface="Calibri" pitchFamily="34" charset="-120"/>
              </a:rPr>
              <a:t> </a:t>
            </a:r>
            <a:r>
              <a:rPr lang="en-US" sz="1300" b="1" dirty="0" err="1">
                <a:solidFill>
                  <a:srgbClr val="0B2545"/>
                </a:solidFill>
                <a:latin typeface="Calibri" pitchFamily="34" charset="0"/>
                <a:ea typeface="Calibri" pitchFamily="34" charset="-122"/>
                <a:cs typeface="Calibri" pitchFamily="34" charset="-120"/>
              </a:rPr>
              <a:t>Farheen</a:t>
            </a:r>
            <a:endParaRPr lang="en-US" sz="1300" dirty="0"/>
          </a:p>
        </p:txBody>
      </p:sp>
      <p:sp>
        <p:nvSpPr>
          <p:cNvPr id="13" name="Text 10"/>
          <p:cNvSpPr txBox="1"/>
          <p:nvPr/>
        </p:nvSpPr>
        <p:spPr>
          <a:xfrm>
            <a:off x="3812589" y="3321874"/>
            <a:ext cx="1645920" cy="210000"/>
          </a:xfrm>
          <a:prstGeom prst="rect">
            <a:avLst/>
          </a:prstGeom>
          <a:noFill/>
          <a:ln/>
        </p:spPr>
        <p:txBody>
          <a:bodyPr wrap="square" lIns="0" tIns="0" rIns="0" bIns="0" rtlCol="0" anchor="t"/>
          <a:lstStyle/>
          <a:p>
            <a:pPr marL="0" indent="0">
              <a:buNone/>
            </a:pPr>
            <a:r>
              <a:rPr lang="en-US" sz="1600" b="1" dirty="0">
                <a:solidFill>
                  <a:srgbClr val="0E9AA7"/>
                </a:solidFill>
                <a:latin typeface="Calibri" pitchFamily="34" charset="0"/>
                <a:ea typeface="Calibri" pitchFamily="34" charset="-122"/>
                <a:cs typeface="Calibri" pitchFamily="34" charset="-120"/>
              </a:rPr>
              <a:t>Co-founder &amp; COO</a:t>
            </a:r>
            <a:endParaRPr lang="en-US" sz="1600" dirty="0"/>
          </a:p>
        </p:txBody>
      </p:sp>
      <p:sp>
        <p:nvSpPr>
          <p:cNvPr id="15" name="Shape 12"/>
          <p:cNvSpPr/>
          <p:nvPr/>
        </p:nvSpPr>
        <p:spPr>
          <a:xfrm>
            <a:off x="6537960" y="978852"/>
            <a:ext cx="1965960" cy="3896810"/>
          </a:xfrm>
          <a:prstGeom prst="roundRect">
            <a:avLst>
              <a:gd name="adj" fmla="val 3721"/>
            </a:avLst>
          </a:prstGeom>
          <a:solidFill>
            <a:srgbClr val="EEF4F7"/>
          </a:solidFill>
          <a:ln w="12700">
            <a:solidFill>
              <a:srgbClr val="EEF4F7"/>
            </a:solidFill>
            <a:prstDash val="solid"/>
          </a:ln>
        </p:spPr>
        <p:txBody>
          <a:bodyPr/>
          <a:lstStyle/>
          <a:p>
            <a:endParaRPr lang="en-US" dirty="0"/>
          </a:p>
        </p:txBody>
      </p:sp>
      <p:sp>
        <p:nvSpPr>
          <p:cNvPr id="16" name="Shape 13"/>
          <p:cNvSpPr/>
          <p:nvPr/>
        </p:nvSpPr>
        <p:spPr>
          <a:xfrm>
            <a:off x="7029908" y="1078680"/>
            <a:ext cx="914400" cy="914400"/>
          </a:xfrm>
          <a:prstGeom prst="ellipse">
            <a:avLst/>
          </a:prstGeom>
          <a:solidFill>
            <a:srgbClr val="0E9AA7"/>
          </a:solidFill>
          <a:ln w="12700">
            <a:solidFill>
              <a:srgbClr val="0E9AA7"/>
            </a:solidFill>
            <a:prstDash val="solid"/>
          </a:ln>
        </p:spPr>
        <p:txBody>
          <a:bodyPr/>
          <a:lstStyle/>
          <a:p>
            <a:endParaRPr/>
          </a:p>
        </p:txBody>
      </p:sp>
      <p:sp>
        <p:nvSpPr>
          <p:cNvPr id="17" name="Text 14"/>
          <p:cNvSpPr txBox="1"/>
          <p:nvPr/>
        </p:nvSpPr>
        <p:spPr>
          <a:xfrm>
            <a:off x="6948098" y="3051407"/>
            <a:ext cx="1645920" cy="420000"/>
          </a:xfrm>
          <a:prstGeom prst="rect">
            <a:avLst/>
          </a:prstGeom>
          <a:noFill/>
          <a:ln/>
        </p:spPr>
        <p:txBody>
          <a:bodyPr wrap="square" lIns="0" tIns="0" rIns="0" bIns="0" rtlCol="0" anchor="t"/>
          <a:lstStyle/>
          <a:p>
            <a:pPr marL="0" indent="0">
              <a:buNone/>
            </a:pPr>
            <a:r>
              <a:rPr lang="en-US" sz="1300" b="1" dirty="0">
                <a:solidFill>
                  <a:srgbClr val="0B2545"/>
                </a:solidFill>
                <a:latin typeface="Calibri" pitchFamily="34" charset="0"/>
                <a:ea typeface="Calibri" pitchFamily="34" charset="-122"/>
                <a:cs typeface="Calibri" pitchFamily="34" charset="-120"/>
              </a:rPr>
              <a:t>MD </a:t>
            </a:r>
            <a:r>
              <a:rPr lang="en-US" sz="1300" b="1" dirty="0" err="1">
                <a:solidFill>
                  <a:srgbClr val="0B2545"/>
                </a:solidFill>
                <a:latin typeface="Calibri" pitchFamily="34" charset="0"/>
                <a:ea typeface="Calibri" pitchFamily="34" charset="-122"/>
                <a:cs typeface="Calibri" pitchFamily="34" charset="-120"/>
              </a:rPr>
              <a:t>Rahbir</a:t>
            </a:r>
            <a:r>
              <a:rPr lang="en-US" sz="1300" b="1" dirty="0">
                <a:solidFill>
                  <a:srgbClr val="0B2545"/>
                </a:solidFill>
                <a:latin typeface="Calibri" pitchFamily="34" charset="0"/>
                <a:ea typeface="Calibri" pitchFamily="34" charset="-122"/>
                <a:cs typeface="Calibri" pitchFamily="34" charset="-120"/>
              </a:rPr>
              <a:t> Mahdi</a:t>
            </a:r>
            <a:endParaRPr lang="en-US" sz="1300" dirty="0"/>
          </a:p>
        </p:txBody>
      </p:sp>
      <p:sp>
        <p:nvSpPr>
          <p:cNvPr id="18" name="Text 15"/>
          <p:cNvSpPr txBox="1"/>
          <p:nvPr/>
        </p:nvSpPr>
        <p:spPr>
          <a:xfrm>
            <a:off x="6948098" y="3349222"/>
            <a:ext cx="1645920" cy="210000"/>
          </a:xfrm>
          <a:prstGeom prst="rect">
            <a:avLst/>
          </a:prstGeom>
          <a:noFill/>
          <a:ln/>
        </p:spPr>
        <p:txBody>
          <a:bodyPr wrap="square" lIns="0" tIns="0" rIns="0" bIns="0" rtlCol="0" anchor="t"/>
          <a:lstStyle/>
          <a:p>
            <a:pPr marL="0" indent="0">
              <a:buNone/>
            </a:pPr>
            <a:r>
              <a:rPr lang="en-US" sz="1400" b="1" dirty="0">
                <a:solidFill>
                  <a:srgbClr val="0E9AA7"/>
                </a:solidFill>
                <a:latin typeface="Calibri" pitchFamily="34" charset="0"/>
                <a:ea typeface="Calibri" pitchFamily="34" charset="-122"/>
                <a:cs typeface="Calibri" pitchFamily="34" charset="-120"/>
              </a:rPr>
              <a:t>Co-founder &amp; CTO</a:t>
            </a:r>
            <a:endParaRPr lang="en-US" sz="1400" dirty="0"/>
          </a:p>
        </p:txBody>
      </p:sp>
      <p:sp>
        <p:nvSpPr>
          <p:cNvPr id="23" name="Text 20"/>
          <p:cNvSpPr txBox="1"/>
          <p:nvPr/>
        </p:nvSpPr>
        <p:spPr>
          <a:xfrm>
            <a:off x="6922008" y="2834640"/>
            <a:ext cx="1645920" cy="210000"/>
          </a:xfrm>
          <a:prstGeom prst="rect">
            <a:avLst/>
          </a:prstGeom>
          <a:noFill/>
          <a:ln/>
        </p:spPr>
        <p:txBody>
          <a:bodyPr wrap="square" lIns="0" tIns="0" rIns="0" bIns="0" rtlCol="0" anchor="t"/>
          <a:lstStyle/>
          <a:p>
            <a:pPr marL="0" indent="0">
              <a:buNone/>
            </a:pPr>
            <a:endParaRPr lang="en-US" sz="1100" dirty="0"/>
          </a:p>
        </p:txBody>
      </p:sp>
      <p:sp>
        <p:nvSpPr>
          <p:cNvPr id="40" name="Experience 40"/>
          <p:cNvSpPr txBox="1"/>
          <p:nvPr/>
        </p:nvSpPr>
        <p:spPr>
          <a:xfrm>
            <a:off x="551326" y="3698958"/>
            <a:ext cx="1645920" cy="200000"/>
          </a:xfrm>
          <a:prstGeom prst="rect">
            <a:avLst/>
          </a:prstGeom>
          <a:noFill/>
          <a:ln/>
        </p:spPr>
        <p:txBody>
          <a:bodyPr wrap="square" lIns="0" tIns="0" rIns="0" bIns="0" rtlCol="0" anchor="t"/>
          <a:lstStyle/>
          <a:p>
            <a:pPr marL="0" indent="0">
              <a:buNone/>
            </a:pPr>
            <a:r>
              <a:rPr lang="en-US" sz="1400" i="1" dirty="0">
                <a:solidFill>
                  <a:srgbClr val="0B2545"/>
                </a:solidFill>
                <a:latin typeface="Calibri" pitchFamily="34" charset="0"/>
                <a:ea typeface="Calibri" pitchFamily="34" charset="-122"/>
                <a:cs typeface="Calibri" pitchFamily="34" charset="-120"/>
              </a:rPr>
              <a:t>2 years of experience</a:t>
            </a:r>
          </a:p>
          <a:p>
            <a:pPr marL="0" indent="0">
              <a:buNone/>
            </a:pPr>
            <a:endParaRPr lang="en-US" sz="1400" i="1" dirty="0">
              <a:solidFill>
                <a:srgbClr val="0B2545"/>
              </a:solidFill>
              <a:latin typeface="Calibri" pitchFamily="34" charset="0"/>
              <a:ea typeface="Calibri" pitchFamily="34" charset="-122"/>
              <a:cs typeface="Calibri" pitchFamily="34" charset="-120"/>
            </a:endParaRPr>
          </a:p>
          <a:p>
            <a:pPr marL="0" indent="0">
              <a:buNone/>
            </a:pPr>
            <a:r>
              <a:rPr lang="en-US" sz="1400" i="1" dirty="0">
                <a:solidFill>
                  <a:srgbClr val="0B2545"/>
                </a:solidFill>
                <a:latin typeface="Calibri" pitchFamily="34" charset="0"/>
                <a:ea typeface="Calibri" pitchFamily="34" charset="-122"/>
                <a:cs typeface="Calibri" pitchFamily="34" charset="-120"/>
              </a:rPr>
              <a:t>AI and software engineering</a:t>
            </a:r>
          </a:p>
        </p:txBody>
      </p:sp>
      <p:sp>
        <p:nvSpPr>
          <p:cNvPr id="41" name="Experience 41"/>
          <p:cNvSpPr txBox="1"/>
          <p:nvPr/>
        </p:nvSpPr>
        <p:spPr>
          <a:xfrm>
            <a:off x="3868826" y="3698183"/>
            <a:ext cx="1645920" cy="200000"/>
          </a:xfrm>
          <a:prstGeom prst="rect">
            <a:avLst/>
          </a:prstGeom>
          <a:noFill/>
          <a:ln/>
        </p:spPr>
        <p:txBody>
          <a:bodyPr wrap="square" lIns="0" tIns="0" rIns="0" bIns="0" rtlCol="0" anchor="t"/>
          <a:lstStyle/>
          <a:p>
            <a:pPr marL="0" indent="0">
              <a:buNone/>
            </a:pPr>
            <a:r>
              <a:rPr lang="en-US" sz="1400" i="1" dirty="0">
                <a:solidFill>
                  <a:srgbClr val="0B2545"/>
                </a:solidFill>
                <a:latin typeface="Calibri" pitchFamily="34" charset="0"/>
                <a:ea typeface="Calibri" pitchFamily="34" charset="-122"/>
                <a:cs typeface="Calibri" pitchFamily="34" charset="-120"/>
              </a:rPr>
              <a:t>6 years of experience</a:t>
            </a:r>
          </a:p>
          <a:p>
            <a:pPr marL="0" indent="0">
              <a:buNone/>
            </a:pPr>
            <a:endParaRPr lang="en-US" sz="1400" i="1" dirty="0">
              <a:solidFill>
                <a:srgbClr val="0B2545"/>
              </a:solidFill>
              <a:latin typeface="Calibri" pitchFamily="34" charset="0"/>
              <a:ea typeface="Calibri" pitchFamily="34" charset="-122"/>
              <a:cs typeface="Calibri" pitchFamily="34" charset="-120"/>
            </a:endParaRPr>
          </a:p>
          <a:p>
            <a:pPr marL="0" indent="0">
              <a:buNone/>
            </a:pPr>
            <a:r>
              <a:rPr lang="en-US" sz="1400" i="1" dirty="0">
                <a:solidFill>
                  <a:schemeClr val="tx1">
                    <a:lumMod val="75000"/>
                    <a:lumOff val="25000"/>
                  </a:schemeClr>
                </a:solidFill>
              </a:rPr>
              <a:t>Business operations, finance and growth</a:t>
            </a:r>
            <a:endParaRPr lang="en-US" sz="1400" i="1" dirty="0">
              <a:solidFill>
                <a:schemeClr val="tx1">
                  <a:lumMod val="75000"/>
                  <a:lumOff val="25000"/>
                </a:schemeClr>
              </a:solidFill>
              <a:latin typeface="Calibri" pitchFamily="34" charset="0"/>
              <a:ea typeface="Calibri" pitchFamily="34" charset="-122"/>
              <a:cs typeface="Calibri" pitchFamily="34" charset="-120"/>
            </a:endParaRPr>
          </a:p>
        </p:txBody>
      </p:sp>
      <p:sp>
        <p:nvSpPr>
          <p:cNvPr id="42" name="Experience 42"/>
          <p:cNvSpPr txBox="1"/>
          <p:nvPr/>
        </p:nvSpPr>
        <p:spPr>
          <a:xfrm>
            <a:off x="6858000" y="3698958"/>
            <a:ext cx="1645920" cy="200000"/>
          </a:xfrm>
          <a:prstGeom prst="rect">
            <a:avLst/>
          </a:prstGeom>
          <a:noFill/>
          <a:ln/>
        </p:spPr>
        <p:txBody>
          <a:bodyPr wrap="square" lIns="0" tIns="0" rIns="0" bIns="0" rtlCol="0" anchor="t"/>
          <a:lstStyle/>
          <a:p>
            <a:pPr marL="0" indent="0">
              <a:buNone/>
            </a:pPr>
            <a:r>
              <a:rPr lang="en-US" sz="1400" i="1" dirty="0">
                <a:solidFill>
                  <a:srgbClr val="0B2545"/>
                </a:solidFill>
                <a:latin typeface="Calibri" pitchFamily="34" charset="0"/>
                <a:ea typeface="Calibri" pitchFamily="34" charset="-122"/>
                <a:cs typeface="Calibri" pitchFamily="34" charset="-120"/>
              </a:rPr>
              <a:t>2 years of experience</a:t>
            </a:r>
          </a:p>
          <a:p>
            <a:pPr marL="0" indent="0">
              <a:buNone/>
            </a:pPr>
            <a:endParaRPr lang="en-US" sz="1400" i="1" dirty="0">
              <a:solidFill>
                <a:srgbClr val="0B2545"/>
              </a:solidFill>
              <a:latin typeface="Calibri" pitchFamily="34" charset="0"/>
              <a:ea typeface="Calibri" pitchFamily="34" charset="-122"/>
              <a:cs typeface="Calibri" pitchFamily="34" charset="-120"/>
            </a:endParaRPr>
          </a:p>
          <a:p>
            <a:pPr marL="0" indent="0">
              <a:buNone/>
            </a:pPr>
            <a:r>
              <a:rPr lang="en-US" sz="1400" i="1" dirty="0">
                <a:solidFill>
                  <a:srgbClr val="0B2545"/>
                </a:solidFill>
                <a:latin typeface="Calibri" pitchFamily="34" charset="0"/>
                <a:ea typeface="Calibri" pitchFamily="34" charset="-122"/>
                <a:cs typeface="Calibri" pitchFamily="34" charset="-120"/>
              </a:rPr>
              <a:t>AI and software engineering</a:t>
            </a:r>
          </a:p>
        </p:txBody>
      </p:sp>
      <p:sp>
        <p:nvSpPr>
          <p:cNvPr id="43" name="Experience 43"/>
          <p:cNvSpPr txBox="1"/>
          <p:nvPr/>
        </p:nvSpPr>
        <p:spPr>
          <a:xfrm>
            <a:off x="6366966" y="3845262"/>
            <a:ext cx="1645920" cy="200000"/>
          </a:xfrm>
          <a:prstGeom prst="rect">
            <a:avLst/>
          </a:prstGeom>
          <a:noFill/>
          <a:ln/>
        </p:spPr>
        <p:txBody>
          <a:bodyPr wrap="square" lIns="0" tIns="0" rIns="0" bIns="0" rtlCol="0" anchor="t"/>
          <a:lstStyle/>
          <a:p>
            <a:pPr marL="0" indent="0">
              <a:buNone/>
            </a:pPr>
            <a:endParaRPr lang="en-US" sz="1000" i="1" dirty="0">
              <a:solidFill>
                <a:srgbClr val="0B2545"/>
              </a:solidFill>
              <a:latin typeface="Calibri" pitchFamily="34" charset="0"/>
              <a:ea typeface="Calibri" pitchFamily="34" charset="-122"/>
              <a:cs typeface="Calibri" pitchFamily="34" charset="-120"/>
            </a:endParaRPr>
          </a:p>
        </p:txBody>
      </p:sp>
      <p:pic>
        <p:nvPicPr>
          <p:cNvPr id="29" name="Picture 28">
            <a:extLst>
              <a:ext uri="{FF2B5EF4-FFF2-40B4-BE49-F238E27FC236}">
                <a16:creationId xmlns:a16="http://schemas.microsoft.com/office/drawing/2014/main" id="{74921196-B7FC-403B-A478-A3EDE5944D3F}"/>
              </a:ext>
            </a:extLst>
          </p:cNvPr>
          <p:cNvPicPr>
            <a:picLocks noChangeAspect="1"/>
          </p:cNvPicPr>
          <p:nvPr/>
        </p:nvPicPr>
        <p:blipFill>
          <a:blip r:embed="rId3"/>
          <a:stretch>
            <a:fillRect/>
          </a:stretch>
        </p:blipFill>
        <p:spPr>
          <a:xfrm>
            <a:off x="3878208" y="745594"/>
            <a:ext cx="1465546" cy="1944064"/>
          </a:xfrm>
          <a:prstGeom prst="rect">
            <a:avLst/>
          </a:prstGeom>
        </p:spPr>
      </p:pic>
      <p:pic>
        <p:nvPicPr>
          <p:cNvPr id="31" name="Picture 30">
            <a:extLst>
              <a:ext uri="{FF2B5EF4-FFF2-40B4-BE49-F238E27FC236}">
                <a16:creationId xmlns:a16="http://schemas.microsoft.com/office/drawing/2014/main" id="{1F39C273-8496-45DA-ABBA-EBBB7234419C}"/>
              </a:ext>
            </a:extLst>
          </p:cNvPr>
          <p:cNvPicPr>
            <a:picLocks noChangeAspect="1"/>
          </p:cNvPicPr>
          <p:nvPr/>
        </p:nvPicPr>
        <p:blipFill>
          <a:blip r:embed="rId4"/>
          <a:stretch>
            <a:fillRect/>
          </a:stretch>
        </p:blipFill>
        <p:spPr>
          <a:xfrm>
            <a:off x="632764" y="745594"/>
            <a:ext cx="1335910" cy="1944064"/>
          </a:xfrm>
          <a:prstGeom prst="rect">
            <a:avLst/>
          </a:prstGeom>
        </p:spPr>
      </p:pic>
      <p:pic>
        <p:nvPicPr>
          <p:cNvPr id="33" name="Picture 32">
            <a:extLst>
              <a:ext uri="{FF2B5EF4-FFF2-40B4-BE49-F238E27FC236}">
                <a16:creationId xmlns:a16="http://schemas.microsoft.com/office/drawing/2014/main" id="{685752CE-87D4-4D46-A3E5-BD411F0633B3}"/>
              </a:ext>
            </a:extLst>
          </p:cNvPr>
          <p:cNvPicPr>
            <a:picLocks noChangeAspect="1"/>
          </p:cNvPicPr>
          <p:nvPr/>
        </p:nvPicPr>
        <p:blipFill>
          <a:blip r:embed="rId5"/>
          <a:stretch>
            <a:fillRect/>
          </a:stretch>
        </p:blipFill>
        <p:spPr>
          <a:xfrm>
            <a:off x="6869335" y="780576"/>
            <a:ext cx="1367262" cy="194406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buNone/>
            </a:pPr>
            <a:r>
              <a:rPr lang="en-US" sz="2600" b="1" dirty="0">
                <a:solidFill>
                  <a:srgbClr val="0B2545"/>
                </a:solidFill>
                <a:latin typeface="Calibri" pitchFamily="34" charset="0"/>
                <a:ea typeface="Calibri" pitchFamily="34" charset="-122"/>
                <a:cs typeface="Calibri" pitchFamily="34" charset="-120"/>
              </a:rPr>
              <a:t>The Problem</a:t>
            </a:r>
            <a:endParaRPr lang="en-US" sz="2600" dirty="0"/>
          </a:p>
        </p:txBody>
      </p:sp>
      <p:sp>
        <p:nvSpPr>
          <p:cNvPr id="3" name="Text 1"/>
          <p:cNvSpPr txBox="1"/>
          <p:nvPr/>
        </p:nvSpPr>
        <p:spPr>
          <a:xfrm>
            <a:off x="457200" y="4818888"/>
            <a:ext cx="4572000" cy="201168"/>
          </a:xfrm>
          <a:prstGeom prst="rect">
            <a:avLst/>
          </a:prstGeom>
          <a:noFill/>
          <a:ln/>
        </p:spPr>
        <p:txBody>
          <a:bodyPr wrap="square" lIns="0" tIns="0" rIns="0" bIns="0" rtlCol="0" anchor="t"/>
          <a:lstStyle/>
          <a:p>
            <a:pPr marL="0" indent="0">
              <a:buNone/>
            </a:pPr>
            <a:r>
              <a:rPr lang="en-US" sz="900" dirty="0">
                <a:solidFill>
                  <a:srgbClr val="5B6B7B"/>
                </a:solidFill>
                <a:latin typeface="Calibri" pitchFamily="34" charset="0"/>
                <a:ea typeface="Calibri" pitchFamily="34" charset="-122"/>
                <a:cs typeface="Calibri" pitchFamily="34" charset="-120"/>
              </a:rPr>
              <a:t>.</a:t>
            </a:r>
            <a:endParaRPr lang="en-US" sz="900" dirty="0"/>
          </a:p>
        </p:txBody>
      </p:sp>
      <p:sp>
        <p:nvSpPr>
          <p:cNvPr id="5" name="Text 2"/>
          <p:cNvSpPr txBox="1"/>
          <p:nvPr/>
        </p:nvSpPr>
        <p:spPr>
          <a:xfrm>
            <a:off x="457200" y="914400"/>
            <a:ext cx="8229600" cy="640080"/>
          </a:xfrm>
          <a:prstGeom prst="rect">
            <a:avLst/>
          </a:prstGeom>
          <a:noFill/>
          <a:ln/>
        </p:spPr>
        <p:txBody>
          <a:bodyPr wrap="square" lIns="0" tIns="0" rIns="0" bIns="0" rtlCol="0" anchor="t"/>
          <a:lstStyle/>
          <a:p>
            <a:pPr marL="0" indent="0">
              <a:buNone/>
            </a:pPr>
            <a:r>
              <a:rPr lang="en-US" sz="1600" b="1" dirty="0">
                <a:solidFill>
                  <a:srgbClr val="1B2A3A"/>
                </a:solidFill>
                <a:latin typeface="Calibri" pitchFamily="34" charset="0"/>
                <a:ea typeface="Calibri" pitchFamily="34" charset="-122"/>
                <a:cs typeface="Calibri" pitchFamily="34" charset="-120"/>
              </a:rPr>
              <a:t>Clinics lose revenue every day to missed appointments and forgotten follow-ups, while staff burn hours chasing patients by phone.</a:t>
            </a:r>
            <a:endParaRPr lang="en-US" sz="1600" dirty="0"/>
          </a:p>
        </p:txBody>
      </p:sp>
      <p:sp>
        <p:nvSpPr>
          <p:cNvPr id="6" name="Shape 3"/>
          <p:cNvSpPr/>
          <p:nvPr/>
        </p:nvSpPr>
        <p:spPr>
          <a:xfrm>
            <a:off x="457200" y="1691640"/>
            <a:ext cx="2651760" cy="1920240"/>
          </a:xfrm>
          <a:prstGeom prst="roundRect">
            <a:avLst>
              <a:gd name="adj" fmla="val 3810"/>
            </a:avLst>
          </a:prstGeom>
          <a:solidFill>
            <a:srgbClr val="EEF4F7"/>
          </a:solidFill>
          <a:ln w="12700">
            <a:solidFill>
              <a:srgbClr val="EEF4F7"/>
            </a:solidFill>
            <a:prstDash val="solid"/>
          </a:ln>
        </p:spPr>
        <p:txBody>
          <a:bodyPr/>
          <a:lstStyle/>
          <a:p>
            <a:endParaRPr/>
          </a:p>
        </p:txBody>
      </p:sp>
      <p:sp>
        <p:nvSpPr>
          <p:cNvPr id="7" name="Text 4"/>
          <p:cNvSpPr txBox="1"/>
          <p:nvPr/>
        </p:nvSpPr>
        <p:spPr>
          <a:xfrm>
            <a:off x="640080" y="1828800"/>
            <a:ext cx="2286000" cy="640080"/>
          </a:xfrm>
          <a:prstGeom prst="rect">
            <a:avLst/>
          </a:prstGeom>
          <a:noFill/>
          <a:ln/>
        </p:spPr>
        <p:txBody>
          <a:bodyPr wrap="square" lIns="0" tIns="0" rIns="0" bIns="0" rtlCol="0" anchor="t"/>
          <a:lstStyle/>
          <a:p>
            <a:pPr marL="0" indent="0">
              <a:buNone/>
            </a:pPr>
            <a:r>
              <a:rPr lang="en-US" sz="3200" b="1" dirty="0">
                <a:solidFill>
                  <a:srgbClr val="0E9AA7"/>
                </a:solidFill>
                <a:latin typeface="Calibri" pitchFamily="34" charset="0"/>
                <a:ea typeface="Calibri" pitchFamily="34" charset="-122"/>
                <a:cs typeface="Calibri" pitchFamily="34" charset="-120"/>
              </a:rPr>
              <a:t>~23%</a:t>
            </a:r>
            <a:endParaRPr lang="en-US" sz="3200" dirty="0"/>
          </a:p>
        </p:txBody>
      </p:sp>
      <p:sp>
        <p:nvSpPr>
          <p:cNvPr id="8" name="Text 5"/>
          <p:cNvSpPr txBox="1"/>
          <p:nvPr/>
        </p:nvSpPr>
        <p:spPr>
          <a:xfrm>
            <a:off x="640080" y="2560320"/>
            <a:ext cx="2286000" cy="1005840"/>
          </a:xfrm>
          <a:prstGeom prst="rect">
            <a:avLst/>
          </a:prstGeom>
          <a:noFill/>
          <a:ln/>
        </p:spPr>
        <p:txBody>
          <a:bodyPr wrap="square" lIns="0" tIns="0" rIns="0" bIns="0" rtlCol="0" anchor="t"/>
          <a:lstStyle/>
          <a:p>
            <a:pPr marL="0" indent="0">
              <a:buNone/>
            </a:pPr>
            <a:r>
              <a:rPr lang="en-US" sz="1150" dirty="0">
                <a:solidFill>
                  <a:srgbClr val="1B2A3A"/>
                </a:solidFill>
                <a:latin typeface="Calibri" pitchFamily="34" charset="0"/>
                <a:ea typeface="Calibri" pitchFamily="34" charset="-122"/>
                <a:cs typeface="Calibri" pitchFamily="34" charset="-120"/>
              </a:rPr>
              <a:t>of booked appointments are missed on average worldwide. Canadian clinics report 10–25%.</a:t>
            </a:r>
            <a:endParaRPr lang="en-US" sz="1150" dirty="0"/>
          </a:p>
        </p:txBody>
      </p:sp>
      <p:sp>
        <p:nvSpPr>
          <p:cNvPr id="9" name="Shape 6"/>
          <p:cNvSpPr/>
          <p:nvPr/>
        </p:nvSpPr>
        <p:spPr>
          <a:xfrm>
            <a:off x="3246120" y="1691640"/>
            <a:ext cx="2651760" cy="1920240"/>
          </a:xfrm>
          <a:prstGeom prst="roundRect">
            <a:avLst>
              <a:gd name="adj" fmla="val 3810"/>
            </a:avLst>
          </a:prstGeom>
          <a:solidFill>
            <a:srgbClr val="EEF4F7"/>
          </a:solidFill>
          <a:ln w="12700">
            <a:solidFill>
              <a:srgbClr val="EEF4F7"/>
            </a:solidFill>
            <a:prstDash val="solid"/>
          </a:ln>
        </p:spPr>
        <p:txBody>
          <a:bodyPr/>
          <a:lstStyle/>
          <a:p>
            <a:endParaRPr/>
          </a:p>
        </p:txBody>
      </p:sp>
      <p:sp>
        <p:nvSpPr>
          <p:cNvPr id="10" name="Text 7"/>
          <p:cNvSpPr txBox="1"/>
          <p:nvPr/>
        </p:nvSpPr>
        <p:spPr>
          <a:xfrm>
            <a:off x="3429000" y="1828800"/>
            <a:ext cx="2286000" cy="640080"/>
          </a:xfrm>
          <a:prstGeom prst="rect">
            <a:avLst/>
          </a:prstGeom>
          <a:noFill/>
          <a:ln/>
        </p:spPr>
        <p:txBody>
          <a:bodyPr wrap="square" lIns="0" tIns="0" rIns="0" bIns="0" rtlCol="0" anchor="t"/>
          <a:lstStyle/>
          <a:p>
            <a:pPr marL="0" indent="0">
              <a:buNone/>
            </a:pPr>
            <a:r>
              <a:rPr lang="en-US" sz="3200" b="1" dirty="0">
                <a:solidFill>
                  <a:srgbClr val="0E9AA7"/>
                </a:solidFill>
                <a:latin typeface="Calibri" pitchFamily="34" charset="0"/>
                <a:ea typeface="Calibri" pitchFamily="34" charset="-122"/>
                <a:cs typeface="Calibri" pitchFamily="34" charset="-120"/>
              </a:rPr>
              <a:t>$196</a:t>
            </a:r>
            <a:endParaRPr lang="en-US" sz="3200" dirty="0"/>
          </a:p>
        </p:txBody>
      </p:sp>
      <p:sp>
        <p:nvSpPr>
          <p:cNvPr id="11" name="Text 8"/>
          <p:cNvSpPr txBox="1"/>
          <p:nvPr/>
        </p:nvSpPr>
        <p:spPr>
          <a:xfrm>
            <a:off x="3429000" y="2560320"/>
            <a:ext cx="2286000" cy="1005840"/>
          </a:xfrm>
          <a:prstGeom prst="rect">
            <a:avLst/>
          </a:prstGeom>
          <a:noFill/>
          <a:ln/>
        </p:spPr>
        <p:txBody>
          <a:bodyPr wrap="square" lIns="0" tIns="0" rIns="0" bIns="0" rtlCol="0" anchor="t"/>
          <a:lstStyle/>
          <a:p>
            <a:pPr marL="0" indent="0">
              <a:buNone/>
            </a:pPr>
            <a:r>
              <a:rPr lang="en-US" sz="1150" dirty="0">
                <a:solidFill>
                  <a:srgbClr val="1B2A3A"/>
                </a:solidFill>
                <a:latin typeface="Calibri" pitchFamily="34" charset="0"/>
                <a:ea typeface="Calibri" pitchFamily="34" charset="-122"/>
                <a:cs typeface="Calibri" pitchFamily="34" charset="-120"/>
              </a:rPr>
              <a:t>average cost of one no-show in a large hospital study. A clinic losing 8 visits a week loses $30–57K a year.</a:t>
            </a:r>
            <a:endParaRPr lang="en-US" sz="1150" dirty="0"/>
          </a:p>
        </p:txBody>
      </p:sp>
      <p:sp>
        <p:nvSpPr>
          <p:cNvPr id="12" name="Shape 9"/>
          <p:cNvSpPr/>
          <p:nvPr/>
        </p:nvSpPr>
        <p:spPr>
          <a:xfrm>
            <a:off x="6035040" y="1691640"/>
            <a:ext cx="2651760" cy="1920240"/>
          </a:xfrm>
          <a:prstGeom prst="roundRect">
            <a:avLst>
              <a:gd name="adj" fmla="val 3810"/>
            </a:avLst>
          </a:prstGeom>
          <a:solidFill>
            <a:srgbClr val="EEF4F7"/>
          </a:solidFill>
          <a:ln w="12700">
            <a:solidFill>
              <a:srgbClr val="EEF4F7"/>
            </a:solidFill>
            <a:prstDash val="solid"/>
          </a:ln>
        </p:spPr>
        <p:txBody>
          <a:bodyPr/>
          <a:lstStyle/>
          <a:p>
            <a:endParaRPr/>
          </a:p>
        </p:txBody>
      </p:sp>
      <p:sp>
        <p:nvSpPr>
          <p:cNvPr id="13" name="Text 10"/>
          <p:cNvSpPr txBox="1"/>
          <p:nvPr/>
        </p:nvSpPr>
        <p:spPr>
          <a:xfrm>
            <a:off x="6217920" y="1828800"/>
            <a:ext cx="2286000" cy="640080"/>
          </a:xfrm>
          <a:prstGeom prst="rect">
            <a:avLst/>
          </a:prstGeom>
          <a:noFill/>
          <a:ln/>
        </p:spPr>
        <p:txBody>
          <a:bodyPr wrap="square" lIns="0" tIns="0" rIns="0" bIns="0" rtlCol="0" anchor="t"/>
          <a:lstStyle/>
          <a:p>
            <a:pPr marL="0" indent="0">
              <a:buNone/>
            </a:pPr>
            <a:r>
              <a:rPr lang="en-US" sz="3200" b="1" dirty="0">
                <a:solidFill>
                  <a:srgbClr val="0E9AA7"/>
                </a:solidFill>
                <a:latin typeface="Calibri" pitchFamily="34" charset="0"/>
                <a:ea typeface="Calibri" pitchFamily="34" charset="-122"/>
                <a:cs typeface="Calibri" pitchFamily="34" charset="-120"/>
              </a:rPr>
              <a:t>Hours</a:t>
            </a:r>
            <a:endParaRPr lang="en-US" sz="3200" dirty="0"/>
          </a:p>
        </p:txBody>
      </p:sp>
      <p:sp>
        <p:nvSpPr>
          <p:cNvPr id="14" name="Text 11"/>
          <p:cNvSpPr txBox="1"/>
          <p:nvPr/>
        </p:nvSpPr>
        <p:spPr>
          <a:xfrm>
            <a:off x="6217920" y="2560320"/>
            <a:ext cx="2286000" cy="1005840"/>
          </a:xfrm>
          <a:prstGeom prst="rect">
            <a:avLst/>
          </a:prstGeom>
          <a:noFill/>
          <a:ln/>
        </p:spPr>
        <p:txBody>
          <a:bodyPr wrap="square" lIns="0" tIns="0" rIns="0" bIns="0" rtlCol="0" anchor="t"/>
          <a:lstStyle/>
          <a:p>
            <a:pPr marL="0" indent="0">
              <a:buNone/>
            </a:pPr>
            <a:r>
              <a:rPr lang="en-US" sz="1150" dirty="0">
                <a:solidFill>
                  <a:srgbClr val="1B2A3A"/>
                </a:solidFill>
                <a:latin typeface="Calibri" pitchFamily="34" charset="0"/>
                <a:ea typeface="Calibri" pitchFamily="34" charset="-122"/>
                <a:cs typeface="Calibri" pitchFamily="34" charset="-120"/>
              </a:rPr>
              <a:t>of staff time go into chasing lab results, follow-ups and reschedules by hand, every week.</a:t>
            </a:r>
            <a:endParaRPr lang="en-US" sz="1150" dirty="0"/>
          </a:p>
        </p:txBody>
      </p:sp>
      <p:sp>
        <p:nvSpPr>
          <p:cNvPr id="15" name="Shape 12"/>
          <p:cNvSpPr/>
          <p:nvPr/>
        </p:nvSpPr>
        <p:spPr>
          <a:xfrm>
            <a:off x="457200" y="3749040"/>
            <a:ext cx="8229600" cy="777240"/>
          </a:xfrm>
          <a:prstGeom prst="roundRect">
            <a:avLst>
              <a:gd name="adj" fmla="val 9412"/>
            </a:avLst>
          </a:prstGeom>
          <a:solidFill>
            <a:srgbClr val="0B2545"/>
          </a:solidFill>
          <a:ln w="12700">
            <a:solidFill>
              <a:srgbClr val="0B2545"/>
            </a:solidFill>
            <a:prstDash val="solid"/>
          </a:ln>
        </p:spPr>
        <p:txBody>
          <a:bodyPr/>
          <a:lstStyle/>
          <a:p>
            <a:endParaRPr/>
          </a:p>
        </p:txBody>
      </p:sp>
      <p:sp>
        <p:nvSpPr>
          <p:cNvPr id="16" name="Text 13"/>
          <p:cNvSpPr txBox="1"/>
          <p:nvPr/>
        </p:nvSpPr>
        <p:spPr>
          <a:xfrm>
            <a:off x="685800" y="3749040"/>
            <a:ext cx="7772400" cy="77724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The opportunity: about 163,000 healthcare facilities across Bangladesh, UAE, Qatar and Canada. Around 16,200 are our first serviceable market, worth about $69M a year at our premium prices.</a:t>
            </a:r>
            <a:endParaRPr lang="en-US" sz="1300" dirty="0"/>
          </a:p>
        </p:txBody>
      </p:sp>
      <p:sp>
        <p:nvSpPr>
          <p:cNvPr id="17" name="Text 14"/>
          <p:cNvSpPr txBox="1"/>
          <p:nvPr/>
        </p:nvSpPr>
        <p:spPr>
          <a:xfrm>
            <a:off x="457200" y="4599432"/>
            <a:ext cx="8229600" cy="182880"/>
          </a:xfrm>
          <a:prstGeom prst="rect">
            <a:avLst/>
          </a:prstGeom>
          <a:noFill/>
          <a:ln/>
        </p:spPr>
        <p:txBody>
          <a:bodyPr wrap="square" lIns="0" tIns="0" rIns="0" bIns="0" rtlCol="0" anchor="t"/>
          <a:lstStyle/>
          <a:p>
            <a:pPr marL="0" indent="0">
              <a:buNone/>
            </a:pPr>
            <a:r>
              <a:rPr lang="en-US" sz="800" dirty="0">
                <a:solidFill>
                  <a:srgbClr val="5B6B7B"/>
                </a:solidFill>
                <a:latin typeface="Calibri" pitchFamily="34" charset="0"/>
                <a:ea typeface="Calibri" pitchFamily="34" charset="-122"/>
                <a:cs typeface="Calibri" pitchFamily="34" charset="-120"/>
              </a:rPr>
              <a:t>Sources: Medimap (Jul 2026); no-show cost study PMC4714455; Clarus financial model (Sep 2026).</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buNone/>
            </a:pPr>
            <a:r>
              <a:rPr lang="en-US" sz="2600" b="1" dirty="0">
                <a:solidFill>
                  <a:srgbClr val="0B2545"/>
                </a:solidFill>
                <a:latin typeface="Calibri" pitchFamily="34" charset="0"/>
                <a:ea typeface="Calibri" pitchFamily="34" charset="-122"/>
                <a:cs typeface="Calibri" pitchFamily="34" charset="-120"/>
              </a:rPr>
              <a:t>The Solution</a:t>
            </a:r>
            <a:endParaRPr lang="en-US" sz="2600" dirty="0"/>
          </a:p>
        </p:txBody>
      </p:sp>
      <p:sp>
        <p:nvSpPr>
          <p:cNvPr id="3" name="Text 1"/>
          <p:cNvSpPr txBox="1"/>
          <p:nvPr/>
        </p:nvSpPr>
        <p:spPr>
          <a:xfrm>
            <a:off x="457200" y="4818888"/>
            <a:ext cx="4572000" cy="201168"/>
          </a:xfrm>
          <a:prstGeom prst="rect">
            <a:avLst/>
          </a:prstGeom>
          <a:noFill/>
          <a:ln/>
        </p:spPr>
        <p:txBody>
          <a:bodyPr wrap="square" lIns="0" tIns="0" rIns="0" bIns="0" rtlCol="0" anchor="t"/>
          <a:lstStyle/>
          <a:p>
            <a:pPr marL="0" indent="0">
              <a:buNone/>
            </a:pPr>
            <a:r>
              <a:rPr lang="en-US" sz="900" dirty="0">
                <a:solidFill>
                  <a:srgbClr val="5B6B7B"/>
                </a:solidFill>
                <a:latin typeface="Calibri" pitchFamily="34" charset="0"/>
                <a:ea typeface="Calibri" pitchFamily="34" charset="-122"/>
                <a:cs typeface="Calibri" pitchFamily="34" charset="-120"/>
              </a:rPr>
              <a:t>.</a:t>
            </a:r>
            <a:endParaRPr lang="en-US" sz="900" dirty="0"/>
          </a:p>
        </p:txBody>
      </p:sp>
      <p:sp>
        <p:nvSpPr>
          <p:cNvPr id="5" name="Text 2"/>
          <p:cNvSpPr txBox="1"/>
          <p:nvPr/>
        </p:nvSpPr>
        <p:spPr>
          <a:xfrm>
            <a:off x="457200" y="914400"/>
            <a:ext cx="8229600" cy="640080"/>
          </a:xfrm>
          <a:prstGeom prst="rect">
            <a:avLst/>
          </a:prstGeom>
          <a:noFill/>
          <a:ln/>
        </p:spPr>
        <p:txBody>
          <a:bodyPr wrap="square" lIns="0" tIns="0" rIns="0" bIns="0" rtlCol="0" anchor="t"/>
          <a:lstStyle/>
          <a:p>
            <a:pPr marL="0" indent="0">
              <a:buNone/>
            </a:pPr>
            <a:r>
              <a:rPr lang="en-US" sz="1600" b="1" dirty="0">
                <a:solidFill>
                  <a:srgbClr val="1B2A3A"/>
                </a:solidFill>
                <a:latin typeface="Calibri" pitchFamily="34" charset="0"/>
                <a:ea typeface="Calibri" pitchFamily="34" charset="-122"/>
                <a:cs typeface="Calibri" pitchFamily="34" charset="-120"/>
              </a:rPr>
              <a:t>Clarus turns clinical events into automatic patient follow-ups by WhatsApp, SMS or AI voice call, and books the next visit.</a:t>
            </a:r>
            <a:endParaRPr lang="en-US" sz="1600" dirty="0"/>
          </a:p>
        </p:txBody>
      </p:sp>
      <p:sp>
        <p:nvSpPr>
          <p:cNvPr id="6" name="Shape 3"/>
          <p:cNvSpPr/>
          <p:nvPr/>
        </p:nvSpPr>
        <p:spPr>
          <a:xfrm>
            <a:off x="457200" y="1691640"/>
            <a:ext cx="2651760" cy="1920240"/>
          </a:xfrm>
          <a:prstGeom prst="roundRect">
            <a:avLst>
              <a:gd name="adj" fmla="val 3810"/>
            </a:avLst>
          </a:prstGeom>
          <a:solidFill>
            <a:srgbClr val="EEF4F7"/>
          </a:solidFill>
          <a:ln w="12700">
            <a:solidFill>
              <a:srgbClr val="EEF4F7"/>
            </a:solidFill>
            <a:prstDash val="solid"/>
          </a:ln>
        </p:spPr>
        <p:txBody>
          <a:bodyPr/>
          <a:lstStyle/>
          <a:p>
            <a:endParaRPr/>
          </a:p>
        </p:txBody>
      </p:sp>
      <p:sp>
        <p:nvSpPr>
          <p:cNvPr id="7" name="Text 4"/>
          <p:cNvSpPr txBox="1"/>
          <p:nvPr/>
        </p:nvSpPr>
        <p:spPr>
          <a:xfrm>
            <a:off x="640080" y="1828800"/>
            <a:ext cx="2286000" cy="365760"/>
          </a:xfrm>
          <a:prstGeom prst="rect">
            <a:avLst/>
          </a:prstGeom>
          <a:noFill/>
          <a:ln/>
        </p:spPr>
        <p:txBody>
          <a:bodyPr wrap="square" lIns="0" tIns="0" rIns="0" bIns="0" rtlCol="0" anchor="t"/>
          <a:lstStyle/>
          <a:p>
            <a:pPr marL="0" indent="0">
              <a:buNone/>
            </a:pPr>
            <a:r>
              <a:rPr lang="en-US" sz="1500" b="1" dirty="0">
                <a:solidFill>
                  <a:srgbClr val="0E9AA7"/>
                </a:solidFill>
                <a:latin typeface="Calibri" pitchFamily="34" charset="0"/>
                <a:ea typeface="Calibri" pitchFamily="34" charset="-122"/>
                <a:cs typeface="Calibri" pitchFamily="34" charset="-120"/>
              </a:rPr>
              <a:t>Fewer missed visits</a:t>
            </a:r>
            <a:endParaRPr lang="en-US" sz="1500" dirty="0"/>
          </a:p>
        </p:txBody>
      </p:sp>
      <p:sp>
        <p:nvSpPr>
          <p:cNvPr id="8" name="Text 5"/>
          <p:cNvSpPr txBox="1"/>
          <p:nvPr/>
        </p:nvSpPr>
        <p:spPr>
          <a:xfrm>
            <a:off x="640080" y="2286000"/>
            <a:ext cx="2286000" cy="1280160"/>
          </a:xfrm>
          <a:prstGeom prst="rect">
            <a:avLst/>
          </a:prstGeom>
          <a:noFill/>
          <a:ln/>
        </p:spPr>
        <p:txBody>
          <a:bodyPr wrap="square" lIns="0" tIns="0" rIns="0" bIns="0" rtlCol="0" anchor="t"/>
          <a:lstStyle/>
          <a:p>
            <a:pPr marL="0" indent="0">
              <a:buNone/>
            </a:pPr>
            <a:r>
              <a:rPr lang="en-US" sz="1150" dirty="0">
                <a:solidFill>
                  <a:srgbClr val="1B2A3A"/>
                </a:solidFill>
                <a:latin typeface="Calibri" pitchFamily="34" charset="0"/>
                <a:ea typeface="Calibri" pitchFamily="34" charset="-122"/>
                <a:cs typeface="Calibri" pitchFamily="34" charset="-120"/>
              </a:rPr>
              <a:t>Automatic reminders and recalls before every appointment. Reminders lift attendance by about 11% in trial evidence; vendors report 20–50% fewer no-shows.</a:t>
            </a:r>
            <a:endParaRPr lang="en-US" sz="1150" dirty="0"/>
          </a:p>
        </p:txBody>
      </p:sp>
      <p:sp>
        <p:nvSpPr>
          <p:cNvPr id="9" name="Shape 6"/>
          <p:cNvSpPr/>
          <p:nvPr/>
        </p:nvSpPr>
        <p:spPr>
          <a:xfrm>
            <a:off x="3246120" y="1691640"/>
            <a:ext cx="2651760" cy="1920240"/>
          </a:xfrm>
          <a:prstGeom prst="roundRect">
            <a:avLst>
              <a:gd name="adj" fmla="val 3810"/>
            </a:avLst>
          </a:prstGeom>
          <a:solidFill>
            <a:srgbClr val="EEF4F7"/>
          </a:solidFill>
          <a:ln w="12700">
            <a:solidFill>
              <a:srgbClr val="EEF4F7"/>
            </a:solidFill>
            <a:prstDash val="solid"/>
          </a:ln>
        </p:spPr>
        <p:txBody>
          <a:bodyPr/>
          <a:lstStyle/>
          <a:p>
            <a:endParaRPr/>
          </a:p>
        </p:txBody>
      </p:sp>
      <p:sp>
        <p:nvSpPr>
          <p:cNvPr id="10" name="Text 7"/>
          <p:cNvSpPr txBox="1"/>
          <p:nvPr/>
        </p:nvSpPr>
        <p:spPr>
          <a:xfrm>
            <a:off x="3429000" y="1828800"/>
            <a:ext cx="2286000" cy="365760"/>
          </a:xfrm>
          <a:prstGeom prst="rect">
            <a:avLst/>
          </a:prstGeom>
          <a:noFill/>
          <a:ln/>
        </p:spPr>
        <p:txBody>
          <a:bodyPr wrap="square" lIns="0" tIns="0" rIns="0" bIns="0" rtlCol="0" anchor="t"/>
          <a:lstStyle/>
          <a:p>
            <a:pPr marL="0" indent="0">
              <a:buNone/>
            </a:pPr>
            <a:r>
              <a:rPr lang="en-US" sz="1500" b="1" dirty="0">
                <a:solidFill>
                  <a:srgbClr val="0E9AA7"/>
                </a:solidFill>
                <a:latin typeface="Calibri" pitchFamily="34" charset="0"/>
                <a:ea typeface="Calibri" pitchFamily="34" charset="-122"/>
                <a:cs typeface="Calibri" pitchFamily="34" charset="-120"/>
              </a:rPr>
              <a:t>Follow-ups that happen</a:t>
            </a:r>
            <a:endParaRPr lang="en-US" sz="1500" dirty="0"/>
          </a:p>
        </p:txBody>
      </p:sp>
      <p:sp>
        <p:nvSpPr>
          <p:cNvPr id="11" name="Text 8"/>
          <p:cNvSpPr txBox="1"/>
          <p:nvPr/>
        </p:nvSpPr>
        <p:spPr>
          <a:xfrm>
            <a:off x="3429000" y="2286000"/>
            <a:ext cx="2286000" cy="1280160"/>
          </a:xfrm>
          <a:prstGeom prst="rect">
            <a:avLst/>
          </a:prstGeom>
          <a:noFill/>
          <a:ln/>
        </p:spPr>
        <p:txBody>
          <a:bodyPr wrap="square" lIns="0" tIns="0" rIns="0" bIns="0" rtlCol="0" anchor="t"/>
          <a:lstStyle/>
          <a:p>
            <a:pPr marL="0" indent="0">
              <a:buNone/>
            </a:pPr>
            <a:r>
              <a:rPr lang="en-US" sz="1150" dirty="0">
                <a:solidFill>
                  <a:srgbClr val="1B2A3A"/>
                </a:solidFill>
                <a:latin typeface="Calibri" pitchFamily="34" charset="0"/>
                <a:ea typeface="Calibri" pitchFamily="34" charset="-122"/>
                <a:cs typeface="Calibri" pitchFamily="34" charset="-120"/>
              </a:rPr>
              <a:t>A lab result or a missed appointment triggers a workflow. An AI voice agent calls the patient and books the next visit.</a:t>
            </a:r>
            <a:endParaRPr lang="en-US" sz="1150" dirty="0"/>
          </a:p>
        </p:txBody>
      </p:sp>
      <p:sp>
        <p:nvSpPr>
          <p:cNvPr id="12" name="Shape 9"/>
          <p:cNvSpPr/>
          <p:nvPr/>
        </p:nvSpPr>
        <p:spPr>
          <a:xfrm>
            <a:off x="6035040" y="1691640"/>
            <a:ext cx="2651760" cy="1920240"/>
          </a:xfrm>
          <a:prstGeom prst="roundRect">
            <a:avLst>
              <a:gd name="adj" fmla="val 3810"/>
            </a:avLst>
          </a:prstGeom>
          <a:solidFill>
            <a:srgbClr val="EEF4F7"/>
          </a:solidFill>
          <a:ln w="12700">
            <a:solidFill>
              <a:srgbClr val="EEF4F7"/>
            </a:solidFill>
            <a:prstDash val="solid"/>
          </a:ln>
        </p:spPr>
        <p:txBody>
          <a:bodyPr/>
          <a:lstStyle/>
          <a:p>
            <a:endParaRPr/>
          </a:p>
        </p:txBody>
      </p:sp>
      <p:sp>
        <p:nvSpPr>
          <p:cNvPr id="13" name="Text 10"/>
          <p:cNvSpPr txBox="1"/>
          <p:nvPr/>
        </p:nvSpPr>
        <p:spPr>
          <a:xfrm>
            <a:off x="6217920" y="1828800"/>
            <a:ext cx="2286000" cy="365760"/>
          </a:xfrm>
          <a:prstGeom prst="rect">
            <a:avLst/>
          </a:prstGeom>
          <a:noFill/>
          <a:ln/>
        </p:spPr>
        <p:txBody>
          <a:bodyPr wrap="square" lIns="0" tIns="0" rIns="0" bIns="0" rtlCol="0" anchor="t"/>
          <a:lstStyle/>
          <a:p>
            <a:pPr marL="0" indent="0">
              <a:buNone/>
            </a:pPr>
            <a:r>
              <a:rPr lang="en-US" sz="1500" b="1" dirty="0">
                <a:solidFill>
                  <a:srgbClr val="0E9AA7"/>
                </a:solidFill>
                <a:latin typeface="Calibri" pitchFamily="34" charset="0"/>
                <a:ea typeface="Calibri" pitchFamily="34" charset="-122"/>
                <a:cs typeface="Calibri" pitchFamily="34" charset="-120"/>
              </a:rPr>
              <a:t>Staff time back</a:t>
            </a:r>
            <a:endParaRPr lang="en-US" sz="1500" dirty="0"/>
          </a:p>
        </p:txBody>
      </p:sp>
      <p:sp>
        <p:nvSpPr>
          <p:cNvPr id="14" name="Text 11"/>
          <p:cNvSpPr txBox="1"/>
          <p:nvPr/>
        </p:nvSpPr>
        <p:spPr>
          <a:xfrm>
            <a:off x="6217920" y="2286000"/>
            <a:ext cx="2286000" cy="1280160"/>
          </a:xfrm>
          <a:prstGeom prst="rect">
            <a:avLst/>
          </a:prstGeom>
          <a:noFill/>
          <a:ln/>
        </p:spPr>
        <p:txBody>
          <a:bodyPr wrap="square" lIns="0" tIns="0" rIns="0" bIns="0" rtlCol="0" anchor="t"/>
          <a:lstStyle/>
          <a:p>
            <a:pPr marL="0" indent="0">
              <a:buNone/>
            </a:pPr>
            <a:r>
              <a:rPr lang="en-US" sz="1150" dirty="0">
                <a:solidFill>
                  <a:srgbClr val="1B2A3A"/>
                </a:solidFill>
                <a:latin typeface="Calibri" pitchFamily="34" charset="0"/>
                <a:ea typeface="Calibri" pitchFamily="34" charset="-122"/>
                <a:cs typeface="Calibri" pitchFamily="34" charset="-120"/>
              </a:rPr>
              <a:t>Clinicians draw the workflow once, with no code. Every run, transcript and outcome is logged against the patient.</a:t>
            </a:r>
            <a:endParaRPr lang="en-US" sz="1150" dirty="0"/>
          </a:p>
        </p:txBody>
      </p:sp>
      <p:sp>
        <p:nvSpPr>
          <p:cNvPr id="15" name="Shape 12"/>
          <p:cNvSpPr/>
          <p:nvPr/>
        </p:nvSpPr>
        <p:spPr>
          <a:xfrm>
            <a:off x="457200" y="3749040"/>
            <a:ext cx="8229600" cy="777240"/>
          </a:xfrm>
          <a:prstGeom prst="roundRect">
            <a:avLst>
              <a:gd name="adj" fmla="val 9412"/>
            </a:avLst>
          </a:prstGeom>
          <a:solidFill>
            <a:srgbClr val="0B2545"/>
          </a:solidFill>
          <a:ln w="12700">
            <a:solidFill>
              <a:srgbClr val="0B2545"/>
            </a:solidFill>
            <a:prstDash val="solid"/>
          </a:ln>
        </p:spPr>
        <p:txBody>
          <a:bodyPr/>
          <a:lstStyle/>
          <a:p>
            <a:endParaRPr/>
          </a:p>
        </p:txBody>
      </p:sp>
      <p:sp>
        <p:nvSpPr>
          <p:cNvPr id="16" name="Text 13"/>
          <p:cNvSpPr txBox="1"/>
          <p:nvPr/>
        </p:nvSpPr>
        <p:spPr>
          <a:xfrm>
            <a:off x="685800" y="3749040"/>
            <a:ext cx="7772400" cy="77724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The result: more patients through the door with the same staff. At 1,617 paying clinics in 2031, Clarus reaches $6.8M in annual recurring revenue.</a:t>
            </a:r>
            <a:endParaRPr lang="en-US" sz="1300" dirty="0"/>
          </a:p>
        </p:txBody>
      </p:sp>
      <p:sp>
        <p:nvSpPr>
          <p:cNvPr id="17" name="Text 14"/>
          <p:cNvSpPr txBox="1"/>
          <p:nvPr/>
        </p:nvSpPr>
        <p:spPr>
          <a:xfrm>
            <a:off x="457200" y="4599432"/>
            <a:ext cx="8229600" cy="182880"/>
          </a:xfrm>
          <a:prstGeom prst="rect">
            <a:avLst/>
          </a:prstGeom>
          <a:noFill/>
          <a:ln/>
        </p:spPr>
        <p:txBody>
          <a:bodyPr wrap="square" lIns="0" tIns="0" rIns="0" bIns="0" rtlCol="0" anchor="t"/>
          <a:lstStyle/>
          <a:p>
            <a:pPr marL="0" indent="0">
              <a:buNone/>
            </a:pPr>
            <a:r>
              <a:rPr lang="en-US" sz="800" dirty="0">
                <a:solidFill>
                  <a:srgbClr val="5B6B7B"/>
                </a:solidFill>
                <a:latin typeface="Calibri" pitchFamily="34" charset="0"/>
                <a:ea typeface="Calibri" pitchFamily="34" charset="-122"/>
                <a:cs typeface="Calibri" pitchFamily="34" charset="-120"/>
              </a:rPr>
              <a:t>Sources: RCT synthesis and vendor reports (see model Sources sheet); Clarus financial model, base case.</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buNone/>
            </a:pPr>
            <a:r>
              <a:rPr lang="en-US" sz="2600" b="1" dirty="0">
                <a:solidFill>
                  <a:srgbClr val="0B2545"/>
                </a:solidFill>
                <a:latin typeface="Calibri" pitchFamily="34" charset="0"/>
                <a:ea typeface="Calibri" pitchFamily="34" charset="-122"/>
                <a:cs typeface="Calibri" pitchFamily="34" charset="-120"/>
              </a:rPr>
              <a:t>Technology: How It Works</a:t>
            </a:r>
            <a:endParaRPr lang="en-US" sz="2600" dirty="0"/>
          </a:p>
        </p:txBody>
      </p:sp>
      <p:sp>
        <p:nvSpPr>
          <p:cNvPr id="3" name="Text 1"/>
          <p:cNvSpPr txBox="1"/>
          <p:nvPr/>
        </p:nvSpPr>
        <p:spPr>
          <a:xfrm>
            <a:off x="457200" y="4818888"/>
            <a:ext cx="4572000" cy="201168"/>
          </a:xfrm>
          <a:prstGeom prst="rect">
            <a:avLst/>
          </a:prstGeom>
          <a:noFill/>
          <a:ln/>
        </p:spPr>
        <p:txBody>
          <a:bodyPr wrap="square" lIns="0" tIns="0" rIns="0" bIns="0" rtlCol="0" anchor="t"/>
          <a:lstStyle/>
          <a:p>
            <a:pPr marL="0" indent="0">
              <a:buNone/>
            </a:pPr>
            <a:r>
              <a:rPr lang="en-US" sz="900" dirty="0">
                <a:solidFill>
                  <a:srgbClr val="5B6B7B"/>
                </a:solidFill>
                <a:latin typeface="Calibri" pitchFamily="34" charset="0"/>
                <a:ea typeface="Calibri" pitchFamily="34" charset="-122"/>
                <a:cs typeface="Calibri" pitchFamily="34" charset="-120"/>
              </a:rPr>
              <a:t>.</a:t>
            </a:r>
            <a:endParaRPr lang="en-US" sz="900" dirty="0"/>
          </a:p>
        </p:txBody>
      </p:sp>
      <p:sp>
        <p:nvSpPr>
          <p:cNvPr id="5" name="Shape 2"/>
          <p:cNvSpPr/>
          <p:nvPr/>
        </p:nvSpPr>
        <p:spPr>
          <a:xfrm>
            <a:off x="457200" y="914400"/>
            <a:ext cx="2651760" cy="2286000"/>
          </a:xfrm>
          <a:prstGeom prst="roundRect">
            <a:avLst>
              <a:gd name="adj" fmla="val 3200"/>
            </a:avLst>
          </a:prstGeom>
          <a:solidFill>
            <a:srgbClr val="EEF4F7"/>
          </a:solidFill>
          <a:ln w="12700">
            <a:solidFill>
              <a:srgbClr val="EEF4F7"/>
            </a:solidFill>
            <a:prstDash val="solid"/>
          </a:ln>
        </p:spPr>
        <p:txBody>
          <a:bodyPr/>
          <a:lstStyle/>
          <a:p>
            <a:endParaRPr/>
          </a:p>
        </p:txBody>
      </p:sp>
      <p:sp>
        <p:nvSpPr>
          <p:cNvPr id="6" name="Text 3"/>
          <p:cNvSpPr txBox="1"/>
          <p:nvPr/>
        </p:nvSpPr>
        <p:spPr>
          <a:xfrm>
            <a:off x="640080" y="1024128"/>
            <a:ext cx="2286000" cy="320040"/>
          </a:xfrm>
          <a:prstGeom prst="rect">
            <a:avLst/>
          </a:prstGeom>
          <a:noFill/>
          <a:ln/>
        </p:spPr>
        <p:txBody>
          <a:bodyPr wrap="square" lIns="0" tIns="0" rIns="0" bIns="0" rtlCol="0" anchor="t"/>
          <a:lstStyle/>
          <a:p>
            <a:pPr marL="0" indent="0">
              <a:buNone/>
            </a:pPr>
            <a:r>
              <a:rPr lang="en-US" sz="1400" b="1" dirty="0">
                <a:solidFill>
                  <a:srgbClr val="0E9AA7"/>
                </a:solidFill>
                <a:latin typeface="Calibri" pitchFamily="34" charset="0"/>
                <a:ea typeface="Calibri" pitchFamily="34" charset="-122"/>
                <a:cs typeface="Calibri" pitchFamily="34" charset="-120"/>
              </a:rPr>
              <a:t>What is different</a:t>
            </a:r>
            <a:endParaRPr lang="en-US" sz="1400" dirty="0"/>
          </a:p>
        </p:txBody>
      </p:sp>
      <p:sp>
        <p:nvSpPr>
          <p:cNvPr id="7" name="Text 4"/>
          <p:cNvSpPr txBox="1"/>
          <p:nvPr/>
        </p:nvSpPr>
        <p:spPr>
          <a:xfrm>
            <a:off x="640080" y="1417320"/>
            <a:ext cx="2286000" cy="1737360"/>
          </a:xfrm>
          <a:prstGeom prst="rect">
            <a:avLst/>
          </a:prstGeom>
          <a:noFill/>
          <a:ln/>
        </p:spPr>
        <p:txBody>
          <a:bodyPr wrap="square" lIns="0" tIns="0" rIns="0" bIns="0" rtlCol="0" anchor="t"/>
          <a:lstStyle/>
          <a:p>
            <a:pPr marL="0" indent="0">
              <a:buNone/>
            </a:pPr>
            <a:r>
              <a:rPr lang="en-US" sz="1150" dirty="0">
                <a:solidFill>
                  <a:srgbClr val="1B2A3A"/>
                </a:solidFill>
                <a:latin typeface="Calibri" pitchFamily="34" charset="0"/>
                <a:ea typeface="Calibri" pitchFamily="34" charset="-122"/>
                <a:cs typeface="Calibri" pitchFamily="34" charset="-120"/>
              </a:rPr>
              <a:t>A visual workflow builder: trigger, conditions, action. The patient record decides who is contacted and why. The action ends in WhatsApp, SMS or an AI voice call. We are a workflow platform, not a carrier or call centre.</a:t>
            </a:r>
            <a:endParaRPr lang="en-US" sz="1150" dirty="0"/>
          </a:p>
        </p:txBody>
      </p:sp>
      <p:sp>
        <p:nvSpPr>
          <p:cNvPr id="8" name="Shape 5"/>
          <p:cNvSpPr/>
          <p:nvPr/>
        </p:nvSpPr>
        <p:spPr>
          <a:xfrm>
            <a:off x="3246120" y="914400"/>
            <a:ext cx="2651760" cy="2286000"/>
          </a:xfrm>
          <a:prstGeom prst="roundRect">
            <a:avLst>
              <a:gd name="adj" fmla="val 3200"/>
            </a:avLst>
          </a:prstGeom>
          <a:solidFill>
            <a:srgbClr val="EEF4F7"/>
          </a:solidFill>
          <a:ln w="12700">
            <a:solidFill>
              <a:srgbClr val="EEF4F7"/>
            </a:solidFill>
            <a:prstDash val="solid"/>
          </a:ln>
        </p:spPr>
        <p:txBody>
          <a:bodyPr/>
          <a:lstStyle/>
          <a:p>
            <a:endParaRPr/>
          </a:p>
        </p:txBody>
      </p:sp>
      <p:sp>
        <p:nvSpPr>
          <p:cNvPr id="9" name="Text 6"/>
          <p:cNvSpPr txBox="1"/>
          <p:nvPr/>
        </p:nvSpPr>
        <p:spPr>
          <a:xfrm>
            <a:off x="3429000" y="1024128"/>
            <a:ext cx="2286000" cy="320040"/>
          </a:xfrm>
          <a:prstGeom prst="rect">
            <a:avLst/>
          </a:prstGeom>
          <a:noFill/>
          <a:ln/>
        </p:spPr>
        <p:txBody>
          <a:bodyPr wrap="square" lIns="0" tIns="0" rIns="0" bIns="0" rtlCol="0" anchor="t"/>
          <a:lstStyle/>
          <a:p>
            <a:pPr marL="0" indent="0">
              <a:buNone/>
            </a:pPr>
            <a:r>
              <a:rPr lang="en-US" sz="1400" b="1" dirty="0">
                <a:solidFill>
                  <a:srgbClr val="0E9AA7"/>
                </a:solidFill>
                <a:latin typeface="Calibri" pitchFamily="34" charset="0"/>
                <a:ea typeface="Calibri" pitchFamily="34" charset="-122"/>
                <a:cs typeface="Calibri" pitchFamily="34" charset="-120"/>
              </a:rPr>
              <a:t>Why customers care</a:t>
            </a:r>
            <a:endParaRPr lang="en-US" sz="1400" dirty="0"/>
          </a:p>
        </p:txBody>
      </p:sp>
      <p:sp>
        <p:nvSpPr>
          <p:cNvPr id="10" name="Text 7"/>
          <p:cNvSpPr txBox="1"/>
          <p:nvPr/>
        </p:nvSpPr>
        <p:spPr>
          <a:xfrm>
            <a:off x="3429000" y="1417320"/>
            <a:ext cx="2286000" cy="1737360"/>
          </a:xfrm>
          <a:prstGeom prst="rect">
            <a:avLst/>
          </a:prstGeom>
          <a:noFill/>
          <a:ln/>
        </p:spPr>
        <p:txBody>
          <a:bodyPr wrap="square" lIns="0" tIns="0" rIns="0" bIns="0" rtlCol="0" anchor="t"/>
          <a:lstStyle/>
          <a:p>
            <a:pPr marL="0" indent="0">
              <a:buNone/>
            </a:pPr>
            <a:r>
              <a:rPr lang="en-US" sz="1150" dirty="0">
                <a:solidFill>
                  <a:srgbClr val="1B2A3A"/>
                </a:solidFill>
                <a:latin typeface="Calibri" pitchFamily="34" charset="0"/>
                <a:ea typeface="Calibri" pitchFamily="34" charset="-122"/>
                <a:cs typeface="Calibri" pitchFamily="34" charset="-120"/>
              </a:rPr>
              <a:t>No code and no extra staff. Eight safety checks run before any call and all fail closed. A full audit trail records every run, transcript and result.</a:t>
            </a:r>
            <a:endParaRPr lang="en-US" sz="1150" dirty="0"/>
          </a:p>
        </p:txBody>
      </p:sp>
      <p:sp>
        <p:nvSpPr>
          <p:cNvPr id="11" name="Shape 8"/>
          <p:cNvSpPr/>
          <p:nvPr/>
        </p:nvSpPr>
        <p:spPr>
          <a:xfrm>
            <a:off x="6035040" y="914400"/>
            <a:ext cx="2651760" cy="2286000"/>
          </a:xfrm>
          <a:prstGeom prst="roundRect">
            <a:avLst>
              <a:gd name="adj" fmla="val 3200"/>
            </a:avLst>
          </a:prstGeom>
          <a:solidFill>
            <a:srgbClr val="EEF4F7"/>
          </a:solidFill>
          <a:ln w="12700">
            <a:solidFill>
              <a:srgbClr val="EEF4F7"/>
            </a:solidFill>
            <a:prstDash val="solid"/>
          </a:ln>
        </p:spPr>
        <p:txBody>
          <a:bodyPr/>
          <a:lstStyle/>
          <a:p>
            <a:endParaRPr/>
          </a:p>
        </p:txBody>
      </p:sp>
      <p:sp>
        <p:nvSpPr>
          <p:cNvPr id="12" name="Text 9"/>
          <p:cNvSpPr txBox="1"/>
          <p:nvPr/>
        </p:nvSpPr>
        <p:spPr>
          <a:xfrm>
            <a:off x="6217920" y="1024128"/>
            <a:ext cx="2286000" cy="320040"/>
          </a:xfrm>
          <a:prstGeom prst="rect">
            <a:avLst/>
          </a:prstGeom>
          <a:noFill/>
          <a:ln/>
        </p:spPr>
        <p:txBody>
          <a:bodyPr wrap="square" lIns="0" tIns="0" rIns="0" bIns="0" rtlCol="0" anchor="t"/>
          <a:lstStyle/>
          <a:p>
            <a:pPr marL="0" indent="0">
              <a:buNone/>
            </a:pPr>
            <a:r>
              <a:rPr lang="en-US" sz="1400" b="1" dirty="0">
                <a:solidFill>
                  <a:srgbClr val="0E9AA7"/>
                </a:solidFill>
                <a:latin typeface="Calibri" pitchFamily="34" charset="0"/>
                <a:ea typeface="Calibri" pitchFamily="34" charset="-122"/>
                <a:cs typeface="Calibri" pitchFamily="34" charset="-120"/>
              </a:rPr>
              <a:t>Why it is hard to copy</a:t>
            </a:r>
            <a:endParaRPr lang="en-US" sz="1400" dirty="0"/>
          </a:p>
        </p:txBody>
      </p:sp>
      <p:sp>
        <p:nvSpPr>
          <p:cNvPr id="13" name="Text 10"/>
          <p:cNvSpPr txBox="1"/>
          <p:nvPr/>
        </p:nvSpPr>
        <p:spPr>
          <a:xfrm>
            <a:off x="6217920" y="1417320"/>
            <a:ext cx="2286000" cy="1737360"/>
          </a:xfrm>
          <a:prstGeom prst="rect">
            <a:avLst/>
          </a:prstGeom>
          <a:noFill/>
          <a:ln/>
        </p:spPr>
        <p:txBody>
          <a:bodyPr wrap="square" lIns="0" tIns="0" rIns="0" bIns="0" rtlCol="0" anchor="t"/>
          <a:lstStyle/>
          <a:p>
            <a:pPr marL="0" indent="0">
              <a:buNone/>
            </a:pPr>
            <a:r>
              <a:rPr lang="en-US" sz="1150" dirty="0">
                <a:solidFill>
                  <a:srgbClr val="1B2A3A"/>
                </a:solidFill>
                <a:latin typeface="Calibri" pitchFamily="34" charset="0"/>
                <a:ea typeface="Calibri" pitchFamily="34" charset="-122"/>
                <a:cs typeface="Calibri" pitchFamily="34" charset="-120"/>
              </a:rPr>
              <a:t>Clinical rules plus safety gates plus audit, built for local languages (Bangla, Arabic, English) and in-region data hosting. HMS/EMR integrations, on our roadmap, will lock in the data advantage.</a:t>
            </a:r>
            <a:endParaRPr lang="en-US" sz="1150" dirty="0"/>
          </a:p>
        </p:txBody>
      </p:sp>
      <p:sp>
        <p:nvSpPr>
          <p:cNvPr id="14" name="Text 11"/>
          <p:cNvSpPr txBox="1"/>
          <p:nvPr/>
        </p:nvSpPr>
        <p:spPr>
          <a:xfrm>
            <a:off x="457200" y="3337560"/>
            <a:ext cx="8229600" cy="228600"/>
          </a:xfrm>
          <a:prstGeom prst="rect">
            <a:avLst/>
          </a:prstGeom>
          <a:noFill/>
          <a:ln/>
        </p:spPr>
        <p:txBody>
          <a:bodyPr wrap="square" lIns="0" tIns="0" rIns="0" bIns="0" rtlCol="0" anchor="t"/>
          <a:lstStyle/>
          <a:p>
            <a:pPr marL="0" indent="0">
              <a:buNone/>
            </a:pPr>
            <a:r>
              <a:rPr lang="en-US" sz="1100" b="1" dirty="0">
                <a:solidFill>
                  <a:srgbClr val="0B2545"/>
                </a:solidFill>
                <a:latin typeface="Calibri" pitchFamily="34" charset="0"/>
                <a:ea typeface="Calibri" pitchFamily="34" charset="-122"/>
                <a:cs typeface="Calibri" pitchFamily="34" charset="-120"/>
              </a:rPr>
              <a:t>From clinical event to booked visit</a:t>
            </a:r>
            <a:endParaRPr lang="en-US" sz="1100" dirty="0"/>
          </a:p>
        </p:txBody>
      </p:sp>
      <p:sp>
        <p:nvSpPr>
          <p:cNvPr id="15" name="Shape 12"/>
          <p:cNvSpPr/>
          <p:nvPr/>
        </p:nvSpPr>
        <p:spPr>
          <a:xfrm>
            <a:off x="457200" y="3611880"/>
            <a:ext cx="1463040" cy="777240"/>
          </a:xfrm>
          <a:prstGeom prst="roundRect">
            <a:avLst>
              <a:gd name="adj" fmla="val 9412"/>
            </a:avLst>
          </a:prstGeom>
          <a:solidFill>
            <a:srgbClr val="0B2545"/>
          </a:solidFill>
          <a:ln w="12700">
            <a:solidFill>
              <a:srgbClr val="0B2545"/>
            </a:solidFill>
            <a:prstDash val="solid"/>
          </a:ln>
        </p:spPr>
        <p:txBody>
          <a:bodyPr/>
          <a:lstStyle/>
          <a:p>
            <a:endParaRPr/>
          </a:p>
        </p:txBody>
      </p:sp>
      <p:sp>
        <p:nvSpPr>
          <p:cNvPr id="16" name="Text 13"/>
          <p:cNvSpPr txBox="1"/>
          <p:nvPr/>
        </p:nvSpPr>
        <p:spPr>
          <a:xfrm>
            <a:off x="530352" y="3611880"/>
            <a:ext cx="1316736" cy="77724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Clinical event</a:t>
            </a:r>
            <a:endParaRPr lang="en-US" sz="1100" dirty="0"/>
          </a:p>
        </p:txBody>
      </p:sp>
      <p:sp>
        <p:nvSpPr>
          <p:cNvPr id="17" name="Text 14"/>
          <p:cNvSpPr txBox="1"/>
          <p:nvPr/>
        </p:nvSpPr>
        <p:spPr>
          <a:xfrm>
            <a:off x="1920240" y="3611880"/>
            <a:ext cx="228600" cy="777240"/>
          </a:xfrm>
          <a:prstGeom prst="rect">
            <a:avLst/>
          </a:prstGeom>
          <a:noFill/>
          <a:ln/>
        </p:spPr>
        <p:txBody>
          <a:bodyPr wrap="square" lIns="0" tIns="0" rIns="0" bIns="0" rtlCol="0" anchor="ctr"/>
          <a:lstStyle/>
          <a:p>
            <a:pPr marL="0" indent="0" algn="ctr">
              <a:buNone/>
            </a:pPr>
            <a:r>
              <a:rPr lang="en-US" sz="2000" b="1" dirty="0">
                <a:solidFill>
                  <a:srgbClr val="0E9AA7"/>
                </a:solidFill>
                <a:latin typeface="Calibri" pitchFamily="34" charset="0"/>
                <a:ea typeface="Calibri" pitchFamily="34" charset="-122"/>
                <a:cs typeface="Calibri" pitchFamily="34" charset="-120"/>
              </a:rPr>
              <a:t>›</a:t>
            </a:r>
            <a:endParaRPr lang="en-US" sz="2000" dirty="0"/>
          </a:p>
        </p:txBody>
      </p:sp>
      <p:sp>
        <p:nvSpPr>
          <p:cNvPr id="18" name="Shape 15"/>
          <p:cNvSpPr/>
          <p:nvPr/>
        </p:nvSpPr>
        <p:spPr>
          <a:xfrm>
            <a:off x="2148840" y="3611880"/>
            <a:ext cx="1463040" cy="777240"/>
          </a:xfrm>
          <a:prstGeom prst="roundRect">
            <a:avLst>
              <a:gd name="adj" fmla="val 9412"/>
            </a:avLst>
          </a:prstGeom>
          <a:solidFill>
            <a:srgbClr val="0B2545"/>
          </a:solidFill>
          <a:ln w="12700">
            <a:solidFill>
              <a:srgbClr val="0B2545"/>
            </a:solidFill>
            <a:prstDash val="solid"/>
          </a:ln>
        </p:spPr>
        <p:txBody>
          <a:bodyPr/>
          <a:lstStyle/>
          <a:p>
            <a:endParaRPr/>
          </a:p>
        </p:txBody>
      </p:sp>
      <p:sp>
        <p:nvSpPr>
          <p:cNvPr id="19" name="Text 16"/>
          <p:cNvSpPr txBox="1"/>
          <p:nvPr/>
        </p:nvSpPr>
        <p:spPr>
          <a:xfrm>
            <a:off x="2221992" y="3611880"/>
            <a:ext cx="1316736" cy="77724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Workflow checks record</a:t>
            </a:r>
            <a:endParaRPr lang="en-US" sz="1100" dirty="0"/>
          </a:p>
        </p:txBody>
      </p:sp>
      <p:sp>
        <p:nvSpPr>
          <p:cNvPr id="20" name="Text 17"/>
          <p:cNvSpPr txBox="1"/>
          <p:nvPr/>
        </p:nvSpPr>
        <p:spPr>
          <a:xfrm>
            <a:off x="3611880" y="3611880"/>
            <a:ext cx="228600" cy="777240"/>
          </a:xfrm>
          <a:prstGeom prst="rect">
            <a:avLst/>
          </a:prstGeom>
          <a:noFill/>
          <a:ln/>
        </p:spPr>
        <p:txBody>
          <a:bodyPr wrap="square" lIns="0" tIns="0" rIns="0" bIns="0" rtlCol="0" anchor="ctr"/>
          <a:lstStyle/>
          <a:p>
            <a:pPr marL="0" indent="0" algn="ctr">
              <a:buNone/>
            </a:pPr>
            <a:r>
              <a:rPr lang="en-US" sz="2000" b="1" dirty="0">
                <a:solidFill>
                  <a:srgbClr val="0E9AA7"/>
                </a:solidFill>
                <a:latin typeface="Calibri" pitchFamily="34" charset="0"/>
                <a:ea typeface="Calibri" pitchFamily="34" charset="-122"/>
                <a:cs typeface="Calibri" pitchFamily="34" charset="-120"/>
              </a:rPr>
              <a:t>›</a:t>
            </a:r>
            <a:endParaRPr lang="en-US" sz="2000" dirty="0"/>
          </a:p>
        </p:txBody>
      </p:sp>
      <p:sp>
        <p:nvSpPr>
          <p:cNvPr id="21" name="Shape 18"/>
          <p:cNvSpPr/>
          <p:nvPr/>
        </p:nvSpPr>
        <p:spPr>
          <a:xfrm>
            <a:off x="3840480" y="3611880"/>
            <a:ext cx="1463040" cy="777240"/>
          </a:xfrm>
          <a:prstGeom prst="roundRect">
            <a:avLst>
              <a:gd name="adj" fmla="val 9412"/>
            </a:avLst>
          </a:prstGeom>
          <a:solidFill>
            <a:srgbClr val="0B2545"/>
          </a:solidFill>
          <a:ln w="12700">
            <a:solidFill>
              <a:srgbClr val="0B2545"/>
            </a:solidFill>
            <a:prstDash val="solid"/>
          </a:ln>
        </p:spPr>
        <p:txBody>
          <a:bodyPr/>
          <a:lstStyle/>
          <a:p>
            <a:endParaRPr/>
          </a:p>
        </p:txBody>
      </p:sp>
      <p:sp>
        <p:nvSpPr>
          <p:cNvPr id="22" name="Text 19"/>
          <p:cNvSpPr txBox="1"/>
          <p:nvPr/>
        </p:nvSpPr>
        <p:spPr>
          <a:xfrm>
            <a:off x="3913632" y="3611880"/>
            <a:ext cx="1316736" cy="77724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8 safety gates</a:t>
            </a:r>
            <a:endParaRPr lang="en-US" sz="1100" dirty="0"/>
          </a:p>
        </p:txBody>
      </p:sp>
      <p:sp>
        <p:nvSpPr>
          <p:cNvPr id="23" name="Text 20"/>
          <p:cNvSpPr txBox="1"/>
          <p:nvPr/>
        </p:nvSpPr>
        <p:spPr>
          <a:xfrm>
            <a:off x="5303520" y="3611880"/>
            <a:ext cx="228600" cy="777240"/>
          </a:xfrm>
          <a:prstGeom prst="rect">
            <a:avLst/>
          </a:prstGeom>
          <a:noFill/>
          <a:ln/>
        </p:spPr>
        <p:txBody>
          <a:bodyPr wrap="square" lIns="0" tIns="0" rIns="0" bIns="0" rtlCol="0" anchor="ctr"/>
          <a:lstStyle/>
          <a:p>
            <a:pPr marL="0" indent="0" algn="ctr">
              <a:buNone/>
            </a:pPr>
            <a:r>
              <a:rPr lang="en-US" sz="2000" b="1" dirty="0">
                <a:solidFill>
                  <a:srgbClr val="0E9AA7"/>
                </a:solidFill>
                <a:latin typeface="Calibri" pitchFamily="34" charset="0"/>
                <a:ea typeface="Calibri" pitchFamily="34" charset="-122"/>
                <a:cs typeface="Calibri" pitchFamily="34" charset="-120"/>
              </a:rPr>
              <a:t>›</a:t>
            </a:r>
            <a:endParaRPr lang="en-US" sz="2000" dirty="0"/>
          </a:p>
        </p:txBody>
      </p:sp>
      <p:sp>
        <p:nvSpPr>
          <p:cNvPr id="24" name="Shape 21"/>
          <p:cNvSpPr/>
          <p:nvPr/>
        </p:nvSpPr>
        <p:spPr>
          <a:xfrm>
            <a:off x="5532120" y="3611880"/>
            <a:ext cx="1463040" cy="777240"/>
          </a:xfrm>
          <a:prstGeom prst="roundRect">
            <a:avLst>
              <a:gd name="adj" fmla="val 9412"/>
            </a:avLst>
          </a:prstGeom>
          <a:solidFill>
            <a:srgbClr val="0B2545"/>
          </a:solidFill>
          <a:ln w="12700">
            <a:solidFill>
              <a:srgbClr val="0B2545"/>
            </a:solidFill>
            <a:prstDash val="solid"/>
          </a:ln>
        </p:spPr>
        <p:txBody>
          <a:bodyPr/>
          <a:lstStyle/>
          <a:p>
            <a:endParaRPr/>
          </a:p>
        </p:txBody>
      </p:sp>
      <p:sp>
        <p:nvSpPr>
          <p:cNvPr id="25" name="Text 22"/>
          <p:cNvSpPr txBox="1"/>
          <p:nvPr/>
        </p:nvSpPr>
        <p:spPr>
          <a:xfrm>
            <a:off x="5605272" y="3611880"/>
            <a:ext cx="1316736" cy="77724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WhatsApp, SMS or AI call</a:t>
            </a:r>
            <a:endParaRPr lang="en-US" sz="1100" dirty="0"/>
          </a:p>
        </p:txBody>
      </p:sp>
      <p:sp>
        <p:nvSpPr>
          <p:cNvPr id="26" name="Text 23"/>
          <p:cNvSpPr txBox="1"/>
          <p:nvPr/>
        </p:nvSpPr>
        <p:spPr>
          <a:xfrm>
            <a:off x="6995160" y="3611880"/>
            <a:ext cx="228600" cy="777240"/>
          </a:xfrm>
          <a:prstGeom prst="rect">
            <a:avLst/>
          </a:prstGeom>
          <a:noFill/>
          <a:ln/>
        </p:spPr>
        <p:txBody>
          <a:bodyPr wrap="square" lIns="0" tIns="0" rIns="0" bIns="0" rtlCol="0" anchor="ctr"/>
          <a:lstStyle/>
          <a:p>
            <a:pPr marL="0" indent="0" algn="ctr">
              <a:buNone/>
            </a:pPr>
            <a:r>
              <a:rPr lang="en-US" sz="2000" b="1" dirty="0">
                <a:solidFill>
                  <a:srgbClr val="0E9AA7"/>
                </a:solidFill>
                <a:latin typeface="Calibri" pitchFamily="34" charset="0"/>
                <a:ea typeface="Calibri" pitchFamily="34" charset="-122"/>
                <a:cs typeface="Calibri" pitchFamily="34" charset="-120"/>
              </a:rPr>
              <a:t>›</a:t>
            </a:r>
            <a:endParaRPr lang="en-US" sz="2000" dirty="0"/>
          </a:p>
        </p:txBody>
      </p:sp>
      <p:sp>
        <p:nvSpPr>
          <p:cNvPr id="27" name="Shape 24"/>
          <p:cNvSpPr/>
          <p:nvPr/>
        </p:nvSpPr>
        <p:spPr>
          <a:xfrm>
            <a:off x="7223760" y="3611880"/>
            <a:ext cx="1463040" cy="777240"/>
          </a:xfrm>
          <a:prstGeom prst="roundRect">
            <a:avLst>
              <a:gd name="adj" fmla="val 9412"/>
            </a:avLst>
          </a:prstGeom>
          <a:solidFill>
            <a:srgbClr val="0B2545"/>
          </a:solidFill>
          <a:ln w="12700">
            <a:solidFill>
              <a:srgbClr val="0B2545"/>
            </a:solidFill>
            <a:prstDash val="solid"/>
          </a:ln>
        </p:spPr>
        <p:txBody>
          <a:bodyPr/>
          <a:lstStyle/>
          <a:p>
            <a:endParaRPr/>
          </a:p>
        </p:txBody>
      </p:sp>
      <p:sp>
        <p:nvSpPr>
          <p:cNvPr id="28" name="Text 25"/>
          <p:cNvSpPr txBox="1"/>
          <p:nvPr/>
        </p:nvSpPr>
        <p:spPr>
          <a:xfrm>
            <a:off x="7296912" y="3611880"/>
            <a:ext cx="1316736" cy="77724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Outcome written back</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buNone/>
            </a:pPr>
            <a:r>
              <a:rPr lang="en-US" sz="2600" b="1" dirty="0">
                <a:solidFill>
                  <a:srgbClr val="0B2545"/>
                </a:solidFill>
                <a:latin typeface="Calibri" pitchFamily="34" charset="0"/>
                <a:ea typeface="Calibri" pitchFamily="34" charset="-122"/>
                <a:cs typeface="Calibri" pitchFamily="34" charset="-120"/>
              </a:rPr>
              <a:t>Market: Big Enough, and Ours to Enter</a:t>
            </a:r>
            <a:endParaRPr lang="en-US" sz="2600" dirty="0"/>
          </a:p>
        </p:txBody>
      </p:sp>
      <p:sp>
        <p:nvSpPr>
          <p:cNvPr id="3" name="Text 1"/>
          <p:cNvSpPr txBox="1"/>
          <p:nvPr/>
        </p:nvSpPr>
        <p:spPr>
          <a:xfrm>
            <a:off x="457200" y="4818888"/>
            <a:ext cx="4572000" cy="201168"/>
          </a:xfrm>
          <a:prstGeom prst="rect">
            <a:avLst/>
          </a:prstGeom>
          <a:noFill/>
          <a:ln/>
        </p:spPr>
        <p:txBody>
          <a:bodyPr wrap="square" lIns="0" tIns="0" rIns="0" bIns="0" rtlCol="0" anchor="t"/>
          <a:lstStyle/>
          <a:p>
            <a:pPr marL="0" indent="0">
              <a:buNone/>
            </a:pPr>
            <a:r>
              <a:rPr lang="en-US" sz="900" dirty="0">
                <a:solidFill>
                  <a:srgbClr val="5B6B7B"/>
                </a:solidFill>
                <a:latin typeface="Calibri" pitchFamily="34" charset="0"/>
                <a:ea typeface="Calibri" pitchFamily="34" charset="-122"/>
                <a:cs typeface="Calibri" pitchFamily="34" charset="-120"/>
              </a:rPr>
              <a:t>.</a:t>
            </a:r>
            <a:endParaRPr lang="en-US" sz="900" dirty="0"/>
          </a:p>
        </p:txBody>
      </p:sp>
      <p:sp>
        <p:nvSpPr>
          <p:cNvPr id="5" name="Shape 2"/>
          <p:cNvSpPr/>
          <p:nvPr/>
        </p:nvSpPr>
        <p:spPr>
          <a:xfrm>
            <a:off x="457200" y="914400"/>
            <a:ext cx="2651760" cy="914400"/>
          </a:xfrm>
          <a:prstGeom prst="roundRect">
            <a:avLst>
              <a:gd name="adj" fmla="val 8000"/>
            </a:avLst>
          </a:prstGeom>
          <a:solidFill>
            <a:srgbClr val="EEF4F7"/>
          </a:solidFill>
          <a:ln w="12700">
            <a:solidFill>
              <a:srgbClr val="EEF4F7"/>
            </a:solidFill>
            <a:prstDash val="solid"/>
          </a:ln>
        </p:spPr>
        <p:txBody>
          <a:bodyPr/>
          <a:lstStyle/>
          <a:p>
            <a:endParaRPr/>
          </a:p>
        </p:txBody>
      </p:sp>
      <p:sp>
        <p:nvSpPr>
          <p:cNvPr id="6" name="Text 3"/>
          <p:cNvSpPr txBox="1"/>
          <p:nvPr/>
        </p:nvSpPr>
        <p:spPr>
          <a:xfrm>
            <a:off x="640080" y="960120"/>
            <a:ext cx="1005840" cy="822960"/>
          </a:xfrm>
          <a:prstGeom prst="rect">
            <a:avLst/>
          </a:prstGeom>
          <a:noFill/>
          <a:ln/>
        </p:spPr>
        <p:txBody>
          <a:bodyPr wrap="square" lIns="0" tIns="0" rIns="0" bIns="0" rtlCol="0" anchor="ctr"/>
          <a:lstStyle/>
          <a:p>
            <a:pPr marL="0" indent="0">
              <a:buNone/>
            </a:pPr>
            <a:r>
              <a:rPr lang="en-US" sz="2800" b="1" dirty="0">
                <a:solidFill>
                  <a:srgbClr val="0E9AA7"/>
                </a:solidFill>
                <a:latin typeface="Calibri" pitchFamily="34" charset="0"/>
                <a:ea typeface="Calibri" pitchFamily="34" charset="-122"/>
                <a:cs typeface="Calibri" pitchFamily="34" charset="-120"/>
              </a:rPr>
              <a:t>163K</a:t>
            </a:r>
            <a:endParaRPr lang="en-US" sz="2800" dirty="0"/>
          </a:p>
        </p:txBody>
      </p:sp>
      <p:sp>
        <p:nvSpPr>
          <p:cNvPr id="7" name="Text 4"/>
          <p:cNvSpPr txBox="1"/>
          <p:nvPr/>
        </p:nvSpPr>
        <p:spPr>
          <a:xfrm>
            <a:off x="1645920" y="960120"/>
            <a:ext cx="1371600" cy="822960"/>
          </a:xfrm>
          <a:prstGeom prst="rect">
            <a:avLst/>
          </a:prstGeom>
          <a:noFill/>
          <a:ln/>
        </p:spPr>
        <p:txBody>
          <a:bodyPr wrap="square" lIns="0" tIns="0" rIns="0" bIns="0" rtlCol="0" anchor="ctr"/>
          <a:lstStyle/>
          <a:p>
            <a:pPr marL="0" indent="0">
              <a:buNone/>
            </a:pPr>
            <a:r>
              <a:rPr lang="en-US" sz="1050" dirty="0">
                <a:solidFill>
                  <a:srgbClr val="1B2A3A"/>
                </a:solidFill>
                <a:latin typeface="Calibri" pitchFamily="34" charset="0"/>
                <a:ea typeface="Calibri" pitchFamily="34" charset="-122"/>
                <a:cs typeface="Calibri" pitchFamily="34" charset="-120"/>
              </a:rPr>
              <a:t>TAM: facilities in 4 markets, ≈ $928M a year</a:t>
            </a:r>
            <a:endParaRPr lang="en-US" sz="1050" dirty="0"/>
          </a:p>
        </p:txBody>
      </p:sp>
      <p:sp>
        <p:nvSpPr>
          <p:cNvPr id="8" name="Shape 5"/>
          <p:cNvSpPr/>
          <p:nvPr/>
        </p:nvSpPr>
        <p:spPr>
          <a:xfrm>
            <a:off x="3246120" y="914400"/>
            <a:ext cx="2651760" cy="914400"/>
          </a:xfrm>
          <a:prstGeom prst="roundRect">
            <a:avLst>
              <a:gd name="adj" fmla="val 8000"/>
            </a:avLst>
          </a:prstGeom>
          <a:solidFill>
            <a:srgbClr val="EEF4F7"/>
          </a:solidFill>
          <a:ln w="12700">
            <a:solidFill>
              <a:srgbClr val="EEF4F7"/>
            </a:solidFill>
            <a:prstDash val="solid"/>
          </a:ln>
        </p:spPr>
        <p:txBody>
          <a:bodyPr/>
          <a:lstStyle/>
          <a:p>
            <a:endParaRPr/>
          </a:p>
        </p:txBody>
      </p:sp>
      <p:sp>
        <p:nvSpPr>
          <p:cNvPr id="9" name="Text 6"/>
          <p:cNvSpPr txBox="1"/>
          <p:nvPr/>
        </p:nvSpPr>
        <p:spPr>
          <a:xfrm>
            <a:off x="3429000" y="960120"/>
            <a:ext cx="1005840" cy="822960"/>
          </a:xfrm>
          <a:prstGeom prst="rect">
            <a:avLst/>
          </a:prstGeom>
          <a:noFill/>
          <a:ln/>
        </p:spPr>
        <p:txBody>
          <a:bodyPr wrap="square" lIns="0" tIns="0" rIns="0" bIns="0" rtlCol="0" anchor="ctr"/>
          <a:lstStyle/>
          <a:p>
            <a:pPr marL="0" indent="0">
              <a:buNone/>
            </a:pPr>
            <a:r>
              <a:rPr lang="en-US" sz="2800" b="1" dirty="0">
                <a:solidFill>
                  <a:srgbClr val="0E9AA7"/>
                </a:solidFill>
                <a:latin typeface="Calibri" pitchFamily="34" charset="0"/>
                <a:ea typeface="Calibri" pitchFamily="34" charset="-122"/>
                <a:cs typeface="Calibri" pitchFamily="34" charset="-120"/>
              </a:rPr>
              <a:t>16.2K</a:t>
            </a:r>
            <a:endParaRPr lang="en-US" sz="2800" dirty="0"/>
          </a:p>
        </p:txBody>
      </p:sp>
      <p:sp>
        <p:nvSpPr>
          <p:cNvPr id="10" name="Text 7"/>
          <p:cNvSpPr txBox="1"/>
          <p:nvPr/>
        </p:nvSpPr>
        <p:spPr>
          <a:xfrm>
            <a:off x="4434840" y="960120"/>
            <a:ext cx="1371600" cy="822960"/>
          </a:xfrm>
          <a:prstGeom prst="rect">
            <a:avLst/>
          </a:prstGeom>
          <a:noFill/>
          <a:ln/>
        </p:spPr>
        <p:txBody>
          <a:bodyPr wrap="square" lIns="0" tIns="0" rIns="0" bIns="0" rtlCol="0" anchor="ctr"/>
          <a:lstStyle/>
          <a:p>
            <a:pPr marL="0" indent="0">
              <a:buNone/>
            </a:pPr>
            <a:r>
              <a:rPr lang="en-US" sz="1050" dirty="0">
                <a:solidFill>
                  <a:srgbClr val="1B2A3A"/>
                </a:solidFill>
                <a:latin typeface="Calibri" pitchFamily="34" charset="0"/>
                <a:ea typeface="Calibri" pitchFamily="34" charset="-122"/>
                <a:cs typeface="Calibri" pitchFamily="34" charset="-120"/>
              </a:rPr>
              <a:t>SAM: first serviceable clinics, ≈ $69M a year</a:t>
            </a:r>
            <a:endParaRPr lang="en-US" sz="1050" dirty="0"/>
          </a:p>
        </p:txBody>
      </p:sp>
      <p:sp>
        <p:nvSpPr>
          <p:cNvPr id="11" name="Shape 8"/>
          <p:cNvSpPr/>
          <p:nvPr/>
        </p:nvSpPr>
        <p:spPr>
          <a:xfrm>
            <a:off x="6035040" y="914400"/>
            <a:ext cx="2651760" cy="914400"/>
          </a:xfrm>
          <a:prstGeom prst="roundRect">
            <a:avLst>
              <a:gd name="adj" fmla="val 8000"/>
            </a:avLst>
          </a:prstGeom>
          <a:solidFill>
            <a:srgbClr val="EEF4F7"/>
          </a:solidFill>
          <a:ln w="12700">
            <a:solidFill>
              <a:srgbClr val="EEF4F7"/>
            </a:solidFill>
            <a:prstDash val="solid"/>
          </a:ln>
        </p:spPr>
        <p:txBody>
          <a:bodyPr/>
          <a:lstStyle/>
          <a:p>
            <a:endParaRPr/>
          </a:p>
        </p:txBody>
      </p:sp>
      <p:sp>
        <p:nvSpPr>
          <p:cNvPr id="12" name="Text 9"/>
          <p:cNvSpPr txBox="1"/>
          <p:nvPr/>
        </p:nvSpPr>
        <p:spPr>
          <a:xfrm>
            <a:off x="6217920" y="960120"/>
            <a:ext cx="1005840" cy="822960"/>
          </a:xfrm>
          <a:prstGeom prst="rect">
            <a:avLst/>
          </a:prstGeom>
          <a:noFill/>
          <a:ln/>
        </p:spPr>
        <p:txBody>
          <a:bodyPr wrap="square" lIns="0" tIns="0" rIns="0" bIns="0" rtlCol="0" anchor="ctr"/>
          <a:lstStyle/>
          <a:p>
            <a:pPr marL="0" indent="0">
              <a:buNone/>
            </a:pPr>
            <a:r>
              <a:rPr lang="en-US" sz="2800" b="1" dirty="0">
                <a:solidFill>
                  <a:srgbClr val="0E9AA7"/>
                </a:solidFill>
                <a:latin typeface="Calibri" pitchFamily="34" charset="0"/>
                <a:ea typeface="Calibri" pitchFamily="34" charset="-122"/>
                <a:cs typeface="Calibri" pitchFamily="34" charset="-120"/>
              </a:rPr>
              <a:t>1,617</a:t>
            </a:r>
            <a:endParaRPr lang="en-US" sz="2800" dirty="0"/>
          </a:p>
        </p:txBody>
      </p:sp>
      <p:sp>
        <p:nvSpPr>
          <p:cNvPr id="13" name="Text 10"/>
          <p:cNvSpPr txBox="1"/>
          <p:nvPr/>
        </p:nvSpPr>
        <p:spPr>
          <a:xfrm>
            <a:off x="7223760" y="960120"/>
            <a:ext cx="1371600" cy="822960"/>
          </a:xfrm>
          <a:prstGeom prst="rect">
            <a:avLst/>
          </a:prstGeom>
          <a:noFill/>
          <a:ln/>
        </p:spPr>
        <p:txBody>
          <a:bodyPr wrap="square" lIns="0" tIns="0" rIns="0" bIns="0" rtlCol="0" anchor="ctr"/>
          <a:lstStyle/>
          <a:p>
            <a:pPr marL="0" indent="0">
              <a:buNone/>
            </a:pPr>
            <a:r>
              <a:rPr lang="en-US" sz="1050" dirty="0">
                <a:solidFill>
                  <a:srgbClr val="1B2A3A"/>
                </a:solidFill>
                <a:latin typeface="Calibri" pitchFamily="34" charset="0"/>
                <a:ea typeface="Calibri" pitchFamily="34" charset="-122"/>
                <a:cs typeface="Calibri" pitchFamily="34" charset="-120"/>
              </a:rPr>
              <a:t>SOM: paying clinics by 2031, built bottom-up ≈ $6.8M ARR</a:t>
            </a:r>
            <a:endParaRPr lang="en-US" sz="10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2011680"/>
          <a:ext cx="8229600" cy="1645920"/>
        </p:xfrm>
        <a:graphic>
          <a:graphicData uri="http://schemas.openxmlformats.org/drawingml/2006/table">
            <a:tbl>
              <a:tblPr/>
              <a:tblGrid>
                <a:gridCol w="173736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gridCol w="1463040">
                  <a:extLst>
                    <a:ext uri="{9D8B030D-6E8A-4147-A177-3AD203B41FA5}">
                      <a16:colId xmlns:a16="http://schemas.microsoft.com/office/drawing/2014/main" val="20005"/>
                    </a:ext>
                  </a:extLst>
                </a:gridCol>
              </a:tblGrid>
              <a:tr h="274320">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Market</a:t>
                      </a:r>
                      <a:endParaRPr lang="en-US" sz="900" dirty="0">
                        <a:latin typeface="Calibri" charset="0"/>
                        <a:ea typeface="Calibri" charset="0"/>
                        <a:cs typeface="Calibri" charset="0"/>
                      </a:endParaRPr>
                    </a:p>
                  </a:txBody>
                  <a:tcPr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B2545"/>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TAM facilities</a:t>
                      </a:r>
                      <a:endParaRPr lang="en-US" sz="900" dirty="0">
                        <a:latin typeface="Calibri" charset="0"/>
                        <a:ea typeface="Calibri" charset="0"/>
                        <a:cs typeface="Calibri" charset="0"/>
                      </a:endParaRPr>
                    </a:p>
                  </a:txBody>
                  <a:tcPr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B2545"/>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SAM clinics</a:t>
                      </a:r>
                      <a:endParaRPr lang="en-US" sz="900" dirty="0">
                        <a:latin typeface="Calibri" charset="0"/>
                        <a:ea typeface="Calibri" charset="0"/>
                        <a:cs typeface="Calibri" charset="0"/>
                      </a:endParaRPr>
                    </a:p>
                  </a:txBody>
                  <a:tcPr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B2545"/>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Blended price / mo</a:t>
                      </a:r>
                      <a:endParaRPr lang="en-US" sz="900" dirty="0">
                        <a:latin typeface="Calibri" charset="0"/>
                        <a:ea typeface="Calibri" charset="0"/>
                        <a:cs typeface="Calibri" charset="0"/>
                      </a:endParaRPr>
                    </a:p>
                  </a:txBody>
                  <a:tcPr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B2545"/>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SAM value today</a:t>
                      </a:r>
                      <a:endParaRPr lang="en-US" sz="900" dirty="0">
                        <a:latin typeface="Calibri" charset="0"/>
                        <a:ea typeface="Calibri" charset="0"/>
                        <a:cs typeface="Calibri" charset="0"/>
                      </a:endParaRPr>
                    </a:p>
                  </a:txBody>
                  <a:tcPr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B2545"/>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SAM value 2031*</a:t>
                      </a:r>
                      <a:endParaRPr lang="en-US" sz="900" dirty="0">
                        <a:latin typeface="Calibri" charset="0"/>
                        <a:ea typeface="Calibri" charset="0"/>
                        <a:cs typeface="Calibri" charset="0"/>
                      </a:endParaRPr>
                    </a:p>
                  </a:txBody>
                  <a:tcPr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B2545"/>
                    </a:solidFill>
                  </a:tcPr>
                </a:tc>
                <a:extLst>
                  <a:ext uri="{0D108BD9-81ED-4DB2-BD59-A6C34878D82A}">
                    <a16:rowId xmlns:a16="http://schemas.microsoft.com/office/drawing/2014/main" val="10000"/>
                  </a:ext>
                </a:extLst>
              </a:tr>
              <a:tr h="274320">
                <a:tc>
                  <a:txBody>
                    <a:bodyPr/>
                    <a:lstStyle/>
                    <a:p>
                      <a:pPr marL="0" indent="0" algn="l">
                        <a:buNone/>
                      </a:pPr>
                      <a:r>
                        <a:rPr lang="en-US" sz="900" b="1" dirty="0">
                          <a:solidFill>
                            <a:srgbClr val="1B2A3A"/>
                          </a:solidFill>
                          <a:latin typeface="Calibri" pitchFamily="34" charset="0"/>
                          <a:ea typeface="Calibri" pitchFamily="34" charset="-122"/>
                          <a:cs typeface="Calibri" pitchFamily="34" charset="-120"/>
                        </a:rPr>
                        <a:t>Bangladesh</a:t>
                      </a:r>
                      <a:endParaRPr lang="en-US" sz="900" dirty="0">
                        <a:latin typeface="Calibri" charset="0"/>
                        <a:ea typeface="Calibri" charset="0"/>
                        <a:cs typeface="Calibri" charset="0"/>
                      </a:endParaRPr>
                    </a:p>
                  </a:txBody>
                  <a:tcPr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tcPr>
                </a:tc>
                <a:tc>
                  <a:txBody>
                    <a:bodyPr/>
                    <a:lstStyle/>
                    <a:p>
                      <a:pPr marL="0" indent="0" algn="ctr">
                        <a:buNone/>
                      </a:pPr>
                      <a:r>
                        <a:rPr lang="en-US" sz="900" dirty="0">
                          <a:solidFill>
                            <a:srgbClr val="1B2A3A"/>
                          </a:solidFill>
                          <a:latin typeface="Calibri" pitchFamily="34" charset="0"/>
                          <a:ea typeface="Calibri" pitchFamily="34" charset="-122"/>
                          <a:cs typeface="Calibri" pitchFamily="34" charset="-120"/>
                        </a:rPr>
                        <a:t>18,178</a:t>
                      </a:r>
                      <a:endParaRPr lang="en-US" sz="900" dirty="0">
                        <a:latin typeface="Calibri" charset="0"/>
                        <a:ea typeface="Calibri" charset="0"/>
                        <a:cs typeface="Calibri" charset="0"/>
                      </a:endParaRPr>
                    </a:p>
                  </a:txBody>
                  <a:tcPr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tcPr>
                </a:tc>
                <a:tc>
                  <a:txBody>
                    <a:bodyPr/>
                    <a:lstStyle/>
                    <a:p>
                      <a:pPr marL="0" indent="0" algn="ctr">
                        <a:buNone/>
                      </a:pPr>
                      <a:r>
                        <a:rPr lang="en-US" sz="900" dirty="0">
                          <a:solidFill>
                            <a:srgbClr val="1B2A3A"/>
                          </a:solidFill>
                          <a:latin typeface="Calibri" pitchFamily="34" charset="0"/>
                          <a:ea typeface="Calibri" pitchFamily="34" charset="-122"/>
                          <a:cs typeface="Calibri" pitchFamily="34" charset="-120"/>
                        </a:rPr>
                        <a:t>6,362</a:t>
                      </a:r>
                      <a:endParaRPr lang="en-US" sz="900" dirty="0">
                        <a:latin typeface="Calibri" charset="0"/>
                        <a:ea typeface="Calibri" charset="0"/>
                        <a:cs typeface="Calibri" charset="0"/>
                      </a:endParaRPr>
                    </a:p>
                  </a:txBody>
                  <a:tcPr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tcPr>
                </a:tc>
                <a:tc>
                  <a:txBody>
                    <a:bodyPr/>
                    <a:lstStyle/>
                    <a:p>
                      <a:pPr marL="0" indent="0" algn="ctr">
                        <a:buNone/>
                      </a:pPr>
                      <a:r>
                        <a:rPr lang="en-US" sz="900" dirty="0">
                          <a:solidFill>
                            <a:srgbClr val="1B2A3A"/>
                          </a:solidFill>
                          <a:latin typeface="Calibri" pitchFamily="34" charset="0"/>
                          <a:ea typeface="Calibri" pitchFamily="34" charset="-122"/>
                          <a:cs typeface="Calibri" pitchFamily="34" charset="-120"/>
                        </a:rPr>
                        <a:t>$110</a:t>
                      </a:r>
                      <a:endParaRPr lang="en-US" sz="900" dirty="0">
                        <a:latin typeface="Calibri" charset="0"/>
                        <a:ea typeface="Calibri" charset="0"/>
                        <a:cs typeface="Calibri" charset="0"/>
                      </a:endParaRPr>
                    </a:p>
                  </a:txBody>
                  <a:tcPr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tcPr>
                </a:tc>
                <a:tc>
                  <a:txBody>
                    <a:bodyPr/>
                    <a:lstStyle/>
                    <a:p>
                      <a:pPr marL="0" indent="0" algn="ctr">
                        <a:buNone/>
                      </a:pPr>
                      <a:r>
                        <a:rPr lang="en-US" sz="900" dirty="0">
                          <a:solidFill>
                            <a:srgbClr val="1B2A3A"/>
                          </a:solidFill>
                          <a:latin typeface="Calibri" pitchFamily="34" charset="0"/>
                          <a:ea typeface="Calibri" pitchFamily="34" charset="-122"/>
                          <a:cs typeface="Calibri" pitchFamily="34" charset="-120"/>
                        </a:rPr>
                        <a:t>$8.4M</a:t>
                      </a:r>
                      <a:endParaRPr lang="en-US" sz="900" dirty="0">
                        <a:latin typeface="Calibri" charset="0"/>
                        <a:ea typeface="Calibri" charset="0"/>
                        <a:cs typeface="Calibri" charset="0"/>
                      </a:endParaRPr>
                    </a:p>
                  </a:txBody>
                  <a:tcPr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tcPr>
                </a:tc>
                <a:tc>
                  <a:txBody>
                    <a:bodyPr/>
                    <a:lstStyle/>
                    <a:p>
                      <a:pPr marL="0" indent="0" algn="ctr">
                        <a:buNone/>
                      </a:pPr>
                      <a:r>
                        <a:rPr lang="en-US" sz="900" dirty="0">
                          <a:solidFill>
                            <a:srgbClr val="1B2A3A"/>
                          </a:solidFill>
                          <a:latin typeface="Calibri" pitchFamily="34" charset="0"/>
                          <a:ea typeface="Calibri" pitchFamily="34" charset="-122"/>
                          <a:cs typeface="Calibri" pitchFamily="34" charset="-120"/>
                        </a:rPr>
                        <a:t>$9.5M</a:t>
                      </a:r>
                      <a:endParaRPr lang="en-US" sz="900" dirty="0">
                        <a:latin typeface="Calibri" charset="0"/>
                        <a:ea typeface="Calibri" charset="0"/>
                        <a:cs typeface="Calibri" charset="0"/>
                      </a:endParaRPr>
                    </a:p>
                  </a:txBody>
                  <a:tcPr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tcPr>
                </a:tc>
                <a:extLst>
                  <a:ext uri="{0D108BD9-81ED-4DB2-BD59-A6C34878D82A}">
                    <a16:rowId xmlns:a16="http://schemas.microsoft.com/office/drawing/2014/main" val="10001"/>
                  </a:ext>
                </a:extLst>
              </a:tr>
              <a:tr h="274320">
                <a:tc>
                  <a:txBody>
                    <a:bodyPr/>
                    <a:lstStyle/>
                    <a:p>
                      <a:pPr marL="0" indent="0" algn="l">
                        <a:buNone/>
                      </a:pPr>
                      <a:r>
                        <a:rPr lang="en-US" sz="900" b="1" dirty="0">
                          <a:solidFill>
                            <a:srgbClr val="1B2A3A"/>
                          </a:solidFill>
                          <a:latin typeface="Calibri" pitchFamily="34" charset="0"/>
                          <a:ea typeface="Calibri" pitchFamily="34" charset="-122"/>
                          <a:cs typeface="Calibri" pitchFamily="34" charset="-120"/>
                        </a:rPr>
                        <a:t>UAE (Dubai first)</a:t>
                      </a:r>
                      <a:endParaRPr lang="en-US" sz="900" dirty="0">
                        <a:latin typeface="Calibri" charset="0"/>
                        <a:ea typeface="Calibri" charset="0"/>
                        <a:cs typeface="Calibri" charset="0"/>
                      </a:endParaRPr>
                    </a:p>
                  </a:txBody>
                  <a:tcPr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tcPr>
                </a:tc>
                <a:tc>
                  <a:txBody>
                    <a:bodyPr/>
                    <a:lstStyle/>
                    <a:p>
                      <a:pPr marL="0" indent="0" algn="ctr">
                        <a:buNone/>
                      </a:pPr>
                      <a:r>
                        <a:rPr lang="en-US" sz="900" dirty="0">
                          <a:solidFill>
                            <a:srgbClr val="1B2A3A"/>
                          </a:solidFill>
                          <a:latin typeface="Calibri" pitchFamily="34" charset="0"/>
                          <a:ea typeface="Calibri" pitchFamily="34" charset="-122"/>
                          <a:cs typeface="Calibri" pitchFamily="34" charset="-120"/>
                        </a:rPr>
                        <a:t>4,000</a:t>
                      </a:r>
                      <a:endParaRPr lang="en-US" sz="900" dirty="0">
                        <a:latin typeface="Calibri" charset="0"/>
                        <a:ea typeface="Calibri" charset="0"/>
                        <a:cs typeface="Calibri" charset="0"/>
                      </a:endParaRPr>
                    </a:p>
                  </a:txBody>
                  <a:tcPr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tcPr>
                </a:tc>
                <a:tc>
                  <a:txBody>
                    <a:bodyPr/>
                    <a:lstStyle/>
                    <a:p>
                      <a:pPr marL="0" indent="0" algn="ctr">
                        <a:buNone/>
                      </a:pPr>
                      <a:r>
                        <a:rPr lang="en-US" sz="900" dirty="0">
                          <a:solidFill>
                            <a:srgbClr val="1B2A3A"/>
                          </a:solidFill>
                          <a:latin typeface="Calibri" pitchFamily="34" charset="0"/>
                          <a:ea typeface="Calibri" pitchFamily="34" charset="-122"/>
                          <a:cs typeface="Calibri" pitchFamily="34" charset="-120"/>
                        </a:rPr>
                        <a:t>2,400</a:t>
                      </a:r>
                      <a:endParaRPr lang="en-US" sz="900" dirty="0">
                        <a:latin typeface="Calibri" charset="0"/>
                        <a:ea typeface="Calibri" charset="0"/>
                        <a:cs typeface="Calibri" charset="0"/>
                      </a:endParaRPr>
                    </a:p>
                  </a:txBody>
                  <a:tcPr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tcPr>
                </a:tc>
                <a:tc>
                  <a:txBody>
                    <a:bodyPr/>
                    <a:lstStyle/>
                    <a:p>
                      <a:pPr marL="0" indent="0" algn="ctr">
                        <a:buNone/>
                      </a:pPr>
                      <a:r>
                        <a:rPr lang="en-US" sz="900" dirty="0">
                          <a:solidFill>
                            <a:srgbClr val="1B2A3A"/>
                          </a:solidFill>
                          <a:latin typeface="Calibri" pitchFamily="34" charset="0"/>
                          <a:ea typeface="Calibri" pitchFamily="34" charset="-122"/>
                          <a:cs typeface="Calibri" pitchFamily="34" charset="-120"/>
                        </a:rPr>
                        <a:t>$500</a:t>
                      </a:r>
                      <a:endParaRPr lang="en-US" sz="900" dirty="0">
                        <a:latin typeface="Calibri" charset="0"/>
                        <a:ea typeface="Calibri" charset="0"/>
                        <a:cs typeface="Calibri" charset="0"/>
                      </a:endParaRPr>
                    </a:p>
                  </a:txBody>
                  <a:tcPr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tcPr>
                </a:tc>
                <a:tc>
                  <a:txBody>
                    <a:bodyPr/>
                    <a:lstStyle/>
                    <a:p>
                      <a:pPr marL="0" indent="0" algn="ctr">
                        <a:buNone/>
                      </a:pPr>
                      <a:r>
                        <a:rPr lang="en-US" sz="900" dirty="0">
                          <a:solidFill>
                            <a:srgbClr val="1B2A3A"/>
                          </a:solidFill>
                          <a:latin typeface="Calibri" pitchFamily="34" charset="0"/>
                          <a:ea typeface="Calibri" pitchFamily="34" charset="-122"/>
                          <a:cs typeface="Calibri" pitchFamily="34" charset="-120"/>
                        </a:rPr>
                        <a:t>$14.4M</a:t>
                      </a:r>
                      <a:endParaRPr lang="en-US" sz="900" dirty="0">
                        <a:latin typeface="Calibri" charset="0"/>
                        <a:ea typeface="Calibri" charset="0"/>
                        <a:cs typeface="Calibri" charset="0"/>
                      </a:endParaRPr>
                    </a:p>
                  </a:txBody>
                  <a:tcPr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tcPr>
                </a:tc>
                <a:tc>
                  <a:txBody>
                    <a:bodyPr/>
                    <a:lstStyle/>
                    <a:p>
                      <a:pPr marL="0" indent="0" algn="ctr">
                        <a:buNone/>
                      </a:pPr>
                      <a:r>
                        <a:rPr lang="en-US" sz="900" dirty="0">
                          <a:solidFill>
                            <a:srgbClr val="1B2A3A"/>
                          </a:solidFill>
                          <a:latin typeface="Calibri" pitchFamily="34" charset="0"/>
                          <a:ea typeface="Calibri" pitchFamily="34" charset="-122"/>
                          <a:cs typeface="Calibri" pitchFamily="34" charset="-120"/>
                        </a:rPr>
                        <a:t>$16.8M</a:t>
                      </a:r>
                      <a:endParaRPr lang="en-US" sz="900" dirty="0">
                        <a:latin typeface="Calibri" charset="0"/>
                        <a:ea typeface="Calibri" charset="0"/>
                        <a:cs typeface="Calibri" charset="0"/>
                      </a:endParaRPr>
                    </a:p>
                  </a:txBody>
                  <a:tcPr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tcPr>
                </a:tc>
                <a:extLst>
                  <a:ext uri="{0D108BD9-81ED-4DB2-BD59-A6C34878D82A}">
                    <a16:rowId xmlns:a16="http://schemas.microsoft.com/office/drawing/2014/main" val="10002"/>
                  </a:ext>
                </a:extLst>
              </a:tr>
              <a:tr h="274320">
                <a:tc>
                  <a:txBody>
                    <a:bodyPr/>
                    <a:lstStyle/>
                    <a:p>
                      <a:pPr marL="0" indent="0" algn="l">
                        <a:buNone/>
                      </a:pPr>
                      <a:r>
                        <a:rPr lang="en-US" sz="900" b="1" dirty="0">
                          <a:solidFill>
                            <a:srgbClr val="1B2A3A"/>
                          </a:solidFill>
                          <a:latin typeface="Calibri" pitchFamily="34" charset="0"/>
                          <a:ea typeface="Calibri" pitchFamily="34" charset="-122"/>
                          <a:cs typeface="Calibri" pitchFamily="34" charset="-120"/>
                        </a:rPr>
                        <a:t>Qatar</a:t>
                      </a:r>
                      <a:endParaRPr lang="en-US" sz="900" dirty="0">
                        <a:latin typeface="Calibri" charset="0"/>
                        <a:ea typeface="Calibri" charset="0"/>
                        <a:cs typeface="Calibri" charset="0"/>
                      </a:endParaRPr>
                    </a:p>
                  </a:txBody>
                  <a:tcPr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tcPr>
                </a:tc>
                <a:tc>
                  <a:txBody>
                    <a:bodyPr/>
                    <a:lstStyle/>
                    <a:p>
                      <a:pPr marL="0" indent="0" algn="ctr">
                        <a:buNone/>
                      </a:pPr>
                      <a:r>
                        <a:rPr lang="en-US" sz="900" dirty="0">
                          <a:solidFill>
                            <a:srgbClr val="1B2A3A"/>
                          </a:solidFill>
                          <a:latin typeface="Calibri" pitchFamily="34" charset="0"/>
                          <a:ea typeface="Calibri" pitchFamily="34" charset="-122"/>
                          <a:cs typeface="Calibri" pitchFamily="34" charset="-120"/>
                        </a:rPr>
                        <a:t>600</a:t>
                      </a:r>
                      <a:endParaRPr lang="en-US" sz="900" dirty="0">
                        <a:latin typeface="Calibri" charset="0"/>
                        <a:ea typeface="Calibri" charset="0"/>
                        <a:cs typeface="Calibri" charset="0"/>
                      </a:endParaRPr>
                    </a:p>
                  </a:txBody>
                  <a:tcPr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tcPr>
                </a:tc>
                <a:tc>
                  <a:txBody>
                    <a:bodyPr/>
                    <a:lstStyle/>
                    <a:p>
                      <a:pPr marL="0" indent="0" algn="ctr">
                        <a:buNone/>
                      </a:pPr>
                      <a:r>
                        <a:rPr lang="en-US" sz="900" dirty="0">
                          <a:solidFill>
                            <a:srgbClr val="1B2A3A"/>
                          </a:solidFill>
                          <a:latin typeface="Calibri" pitchFamily="34" charset="0"/>
                          <a:ea typeface="Calibri" pitchFamily="34" charset="-122"/>
                          <a:cs typeface="Calibri" pitchFamily="34" charset="-120"/>
                        </a:rPr>
                        <a:t>420</a:t>
                      </a:r>
                      <a:endParaRPr lang="en-US" sz="900" dirty="0">
                        <a:latin typeface="Calibri" charset="0"/>
                        <a:ea typeface="Calibri" charset="0"/>
                        <a:cs typeface="Calibri" charset="0"/>
                      </a:endParaRPr>
                    </a:p>
                  </a:txBody>
                  <a:tcPr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tcPr>
                </a:tc>
                <a:tc>
                  <a:txBody>
                    <a:bodyPr/>
                    <a:lstStyle/>
                    <a:p>
                      <a:pPr marL="0" indent="0" algn="ctr">
                        <a:buNone/>
                      </a:pPr>
                      <a:r>
                        <a:rPr lang="en-US" sz="900" dirty="0">
                          <a:solidFill>
                            <a:srgbClr val="1B2A3A"/>
                          </a:solidFill>
                          <a:latin typeface="Calibri" pitchFamily="34" charset="0"/>
                          <a:ea typeface="Calibri" pitchFamily="34" charset="-122"/>
                          <a:cs typeface="Calibri" pitchFamily="34" charset="-120"/>
                        </a:rPr>
                        <a:t>$520</a:t>
                      </a:r>
                      <a:endParaRPr lang="en-US" sz="900" dirty="0">
                        <a:latin typeface="Calibri" charset="0"/>
                        <a:ea typeface="Calibri" charset="0"/>
                        <a:cs typeface="Calibri" charset="0"/>
                      </a:endParaRPr>
                    </a:p>
                  </a:txBody>
                  <a:tcPr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tcPr>
                </a:tc>
                <a:tc>
                  <a:txBody>
                    <a:bodyPr/>
                    <a:lstStyle/>
                    <a:p>
                      <a:pPr marL="0" indent="0" algn="ctr">
                        <a:buNone/>
                      </a:pPr>
                      <a:r>
                        <a:rPr lang="en-US" sz="900" dirty="0">
                          <a:solidFill>
                            <a:srgbClr val="1B2A3A"/>
                          </a:solidFill>
                          <a:latin typeface="Calibri" pitchFamily="34" charset="0"/>
                          <a:ea typeface="Calibri" pitchFamily="34" charset="-122"/>
                          <a:cs typeface="Calibri" pitchFamily="34" charset="-120"/>
                        </a:rPr>
                        <a:t>$2.6M</a:t>
                      </a:r>
                      <a:endParaRPr lang="en-US" sz="900" dirty="0">
                        <a:latin typeface="Calibri" charset="0"/>
                        <a:ea typeface="Calibri" charset="0"/>
                        <a:cs typeface="Calibri" charset="0"/>
                      </a:endParaRPr>
                    </a:p>
                  </a:txBody>
                  <a:tcPr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tcPr>
                </a:tc>
                <a:tc>
                  <a:txBody>
                    <a:bodyPr/>
                    <a:lstStyle/>
                    <a:p>
                      <a:pPr marL="0" indent="0" algn="ctr">
                        <a:buNone/>
                      </a:pPr>
                      <a:r>
                        <a:rPr lang="en-US" sz="900" dirty="0">
                          <a:solidFill>
                            <a:srgbClr val="1B2A3A"/>
                          </a:solidFill>
                          <a:latin typeface="Calibri" pitchFamily="34" charset="0"/>
                          <a:ea typeface="Calibri" pitchFamily="34" charset="-122"/>
                          <a:cs typeface="Calibri" pitchFamily="34" charset="-120"/>
                        </a:rPr>
                        <a:t>$3.1M</a:t>
                      </a:r>
                      <a:endParaRPr lang="en-US" sz="900" dirty="0">
                        <a:latin typeface="Calibri" charset="0"/>
                        <a:ea typeface="Calibri" charset="0"/>
                        <a:cs typeface="Calibri" charset="0"/>
                      </a:endParaRPr>
                    </a:p>
                  </a:txBody>
                  <a:tcPr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tcPr>
                </a:tc>
                <a:extLst>
                  <a:ext uri="{0D108BD9-81ED-4DB2-BD59-A6C34878D82A}">
                    <a16:rowId xmlns:a16="http://schemas.microsoft.com/office/drawing/2014/main" val="10003"/>
                  </a:ext>
                </a:extLst>
              </a:tr>
              <a:tr h="274320">
                <a:tc>
                  <a:txBody>
                    <a:bodyPr/>
                    <a:lstStyle/>
                    <a:p>
                      <a:pPr marL="0" indent="0" algn="l">
                        <a:buNone/>
                      </a:pPr>
                      <a:r>
                        <a:rPr lang="en-US" sz="900" b="1" dirty="0">
                          <a:solidFill>
                            <a:srgbClr val="1B2A3A"/>
                          </a:solidFill>
                          <a:latin typeface="Calibri" pitchFamily="34" charset="0"/>
                          <a:ea typeface="Calibri" pitchFamily="34" charset="-122"/>
                          <a:cs typeface="Calibri" pitchFamily="34" charset="-120"/>
                        </a:rPr>
                        <a:t>Canada</a:t>
                      </a:r>
                      <a:endParaRPr lang="en-US" sz="900" dirty="0">
                        <a:latin typeface="Calibri" charset="0"/>
                        <a:ea typeface="Calibri" charset="0"/>
                        <a:cs typeface="Calibri" charset="0"/>
                      </a:endParaRPr>
                    </a:p>
                  </a:txBody>
                  <a:tcPr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tcPr>
                </a:tc>
                <a:tc>
                  <a:txBody>
                    <a:bodyPr/>
                    <a:lstStyle/>
                    <a:p>
                      <a:pPr marL="0" indent="0" algn="ctr">
                        <a:buNone/>
                      </a:pPr>
                      <a:r>
                        <a:rPr lang="en-US" sz="900" dirty="0">
                          <a:solidFill>
                            <a:srgbClr val="1B2A3A"/>
                          </a:solidFill>
                          <a:latin typeface="Calibri" pitchFamily="34" charset="0"/>
                          <a:ea typeface="Calibri" pitchFamily="34" charset="-122"/>
                          <a:cs typeface="Calibri" pitchFamily="34" charset="-120"/>
                        </a:rPr>
                        <a:t>140,387</a:t>
                      </a:r>
                      <a:endParaRPr lang="en-US" sz="900" dirty="0">
                        <a:latin typeface="Calibri" charset="0"/>
                        <a:ea typeface="Calibri" charset="0"/>
                        <a:cs typeface="Calibri" charset="0"/>
                      </a:endParaRPr>
                    </a:p>
                  </a:txBody>
                  <a:tcPr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tcPr>
                </a:tc>
                <a:tc>
                  <a:txBody>
                    <a:bodyPr/>
                    <a:lstStyle/>
                    <a:p>
                      <a:pPr marL="0" indent="0" algn="ctr">
                        <a:buNone/>
                      </a:pPr>
                      <a:r>
                        <a:rPr lang="en-US" sz="900" dirty="0">
                          <a:solidFill>
                            <a:srgbClr val="1B2A3A"/>
                          </a:solidFill>
                          <a:latin typeface="Calibri" pitchFamily="34" charset="0"/>
                          <a:ea typeface="Calibri" pitchFamily="34" charset="-122"/>
                          <a:cs typeface="Calibri" pitchFamily="34" charset="-120"/>
                        </a:rPr>
                        <a:t>7,019</a:t>
                      </a:r>
                      <a:endParaRPr lang="en-US" sz="900" dirty="0">
                        <a:latin typeface="Calibri" charset="0"/>
                        <a:ea typeface="Calibri" charset="0"/>
                        <a:cs typeface="Calibri" charset="0"/>
                      </a:endParaRPr>
                    </a:p>
                  </a:txBody>
                  <a:tcPr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tcPr>
                </a:tc>
                <a:tc>
                  <a:txBody>
                    <a:bodyPr/>
                    <a:lstStyle/>
                    <a:p>
                      <a:pPr marL="0" indent="0" algn="ctr">
                        <a:buNone/>
                      </a:pPr>
                      <a:r>
                        <a:rPr lang="en-US" sz="900" dirty="0">
                          <a:solidFill>
                            <a:srgbClr val="1B2A3A"/>
                          </a:solidFill>
                          <a:latin typeface="Calibri" pitchFamily="34" charset="0"/>
                          <a:ea typeface="Calibri" pitchFamily="34" charset="-122"/>
                          <a:cs typeface="Calibri" pitchFamily="34" charset="-120"/>
                        </a:rPr>
                        <a:t>$520</a:t>
                      </a:r>
                      <a:endParaRPr lang="en-US" sz="900" dirty="0">
                        <a:latin typeface="Calibri" charset="0"/>
                        <a:ea typeface="Calibri" charset="0"/>
                        <a:cs typeface="Calibri" charset="0"/>
                      </a:endParaRPr>
                    </a:p>
                  </a:txBody>
                  <a:tcPr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tcPr>
                </a:tc>
                <a:tc>
                  <a:txBody>
                    <a:bodyPr/>
                    <a:lstStyle/>
                    <a:p>
                      <a:pPr marL="0" indent="0" algn="ctr">
                        <a:buNone/>
                      </a:pPr>
                      <a:r>
                        <a:rPr lang="en-US" sz="900" dirty="0">
                          <a:solidFill>
                            <a:srgbClr val="1B2A3A"/>
                          </a:solidFill>
                          <a:latin typeface="Calibri" pitchFamily="34" charset="0"/>
                          <a:ea typeface="Calibri" pitchFamily="34" charset="-122"/>
                          <a:cs typeface="Calibri" pitchFamily="34" charset="-120"/>
                        </a:rPr>
                        <a:t>$43.8M</a:t>
                      </a:r>
                      <a:endParaRPr lang="en-US" sz="900" dirty="0">
                        <a:latin typeface="Calibri" charset="0"/>
                        <a:ea typeface="Calibri" charset="0"/>
                        <a:cs typeface="Calibri" charset="0"/>
                      </a:endParaRPr>
                    </a:p>
                  </a:txBody>
                  <a:tcPr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tcPr>
                </a:tc>
                <a:tc>
                  <a:txBody>
                    <a:bodyPr/>
                    <a:lstStyle/>
                    <a:p>
                      <a:pPr marL="0" indent="0" algn="ctr">
                        <a:buNone/>
                      </a:pPr>
                      <a:r>
                        <a:rPr lang="en-US" sz="900" dirty="0">
                          <a:solidFill>
                            <a:srgbClr val="1B2A3A"/>
                          </a:solidFill>
                          <a:latin typeface="Calibri" pitchFamily="34" charset="0"/>
                          <a:ea typeface="Calibri" pitchFamily="34" charset="-122"/>
                          <a:cs typeface="Calibri" pitchFamily="34" charset="-120"/>
                        </a:rPr>
                        <a:t>$49.3M</a:t>
                      </a:r>
                      <a:endParaRPr lang="en-US" sz="900" dirty="0">
                        <a:latin typeface="Calibri" charset="0"/>
                        <a:ea typeface="Calibri" charset="0"/>
                        <a:cs typeface="Calibri" charset="0"/>
                      </a:endParaRPr>
                    </a:p>
                  </a:txBody>
                  <a:tcPr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tcPr>
                </a:tc>
                <a:extLst>
                  <a:ext uri="{0D108BD9-81ED-4DB2-BD59-A6C34878D82A}">
                    <a16:rowId xmlns:a16="http://schemas.microsoft.com/office/drawing/2014/main" val="10004"/>
                  </a:ext>
                </a:extLst>
              </a:tr>
              <a:tr h="274320">
                <a:tc>
                  <a:txBody>
                    <a:bodyPr/>
                    <a:lstStyle/>
                    <a:p>
                      <a:pPr marL="0" indent="0" algn="l">
                        <a:buNone/>
                      </a:pPr>
                      <a:r>
                        <a:rPr lang="en-US" sz="900" b="1" dirty="0">
                          <a:solidFill>
                            <a:srgbClr val="1B2A3A"/>
                          </a:solidFill>
                          <a:latin typeface="Calibri" pitchFamily="34" charset="0"/>
                          <a:ea typeface="Calibri" pitchFamily="34" charset="-122"/>
                          <a:cs typeface="Calibri" pitchFamily="34" charset="-120"/>
                        </a:rPr>
                        <a:t>Total</a:t>
                      </a:r>
                      <a:endParaRPr lang="en-US" sz="900" dirty="0">
                        <a:latin typeface="Calibri" charset="0"/>
                        <a:ea typeface="Calibri" charset="0"/>
                        <a:cs typeface="Calibri" charset="0"/>
                      </a:endParaRPr>
                    </a:p>
                  </a:txBody>
                  <a:tcPr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EEF4F7"/>
                    </a:solidFill>
                  </a:tcPr>
                </a:tc>
                <a:tc>
                  <a:txBody>
                    <a:bodyPr/>
                    <a:lstStyle/>
                    <a:p>
                      <a:pPr marL="0" indent="0" algn="ctr">
                        <a:buNone/>
                      </a:pPr>
                      <a:r>
                        <a:rPr lang="en-US" sz="900" b="1" dirty="0">
                          <a:solidFill>
                            <a:srgbClr val="1B2A3A"/>
                          </a:solidFill>
                          <a:latin typeface="Calibri" pitchFamily="34" charset="0"/>
                          <a:ea typeface="Calibri" pitchFamily="34" charset="-122"/>
                          <a:cs typeface="Calibri" pitchFamily="34" charset="-120"/>
                        </a:rPr>
                        <a:t>163,165</a:t>
                      </a:r>
                      <a:endParaRPr lang="en-US" sz="900" dirty="0">
                        <a:latin typeface="Calibri" charset="0"/>
                        <a:ea typeface="Calibri" charset="0"/>
                        <a:cs typeface="Calibri" charset="0"/>
                      </a:endParaRPr>
                    </a:p>
                  </a:txBody>
                  <a:tcPr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EEF4F7"/>
                    </a:solidFill>
                  </a:tcPr>
                </a:tc>
                <a:tc>
                  <a:txBody>
                    <a:bodyPr/>
                    <a:lstStyle/>
                    <a:p>
                      <a:pPr marL="0" indent="0" algn="ctr">
                        <a:buNone/>
                      </a:pPr>
                      <a:r>
                        <a:rPr lang="en-US" sz="900" b="1" dirty="0">
                          <a:solidFill>
                            <a:srgbClr val="1B2A3A"/>
                          </a:solidFill>
                          <a:latin typeface="Calibri" pitchFamily="34" charset="0"/>
                          <a:ea typeface="Calibri" pitchFamily="34" charset="-122"/>
                          <a:cs typeface="Calibri" pitchFamily="34" charset="-120"/>
                        </a:rPr>
                        <a:t>16,201</a:t>
                      </a:r>
                      <a:endParaRPr lang="en-US" sz="900" dirty="0">
                        <a:latin typeface="Calibri" charset="0"/>
                        <a:ea typeface="Calibri" charset="0"/>
                        <a:cs typeface="Calibri" charset="0"/>
                      </a:endParaRPr>
                    </a:p>
                  </a:txBody>
                  <a:tcPr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EEF4F7"/>
                    </a:solidFill>
                  </a:tcPr>
                </a:tc>
                <a:tc>
                  <a:txBody>
                    <a:bodyPr/>
                    <a:lstStyle/>
                    <a:p>
                      <a:pPr marL="0" indent="0" algn="ctr">
                        <a:buNone/>
                      </a:pPr>
                      <a:endParaRPr lang="en-US" sz="900" dirty="0">
                        <a:latin typeface="Calibri" charset="0"/>
                        <a:ea typeface="Calibri" charset="0"/>
                        <a:cs typeface="Calibri" charset="0"/>
                      </a:endParaRPr>
                    </a:p>
                  </a:txBody>
                  <a:tcPr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EEF4F7"/>
                    </a:solidFill>
                  </a:tcPr>
                </a:tc>
                <a:tc>
                  <a:txBody>
                    <a:bodyPr/>
                    <a:lstStyle/>
                    <a:p>
                      <a:pPr marL="0" indent="0" algn="ctr">
                        <a:buNone/>
                      </a:pPr>
                      <a:r>
                        <a:rPr lang="en-US" sz="900" b="1" dirty="0">
                          <a:solidFill>
                            <a:srgbClr val="1B2A3A"/>
                          </a:solidFill>
                          <a:latin typeface="Calibri" pitchFamily="34" charset="0"/>
                          <a:ea typeface="Calibri" pitchFamily="34" charset="-122"/>
                          <a:cs typeface="Calibri" pitchFamily="34" charset="-120"/>
                        </a:rPr>
                        <a:t>$69.2M</a:t>
                      </a:r>
                      <a:endParaRPr lang="en-US" sz="900" dirty="0">
                        <a:latin typeface="Calibri" charset="0"/>
                        <a:ea typeface="Calibri" charset="0"/>
                        <a:cs typeface="Calibri" charset="0"/>
                      </a:endParaRPr>
                    </a:p>
                  </a:txBody>
                  <a:tcPr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EEF4F7"/>
                    </a:solidFill>
                  </a:tcPr>
                </a:tc>
                <a:tc>
                  <a:txBody>
                    <a:bodyPr/>
                    <a:lstStyle/>
                    <a:p>
                      <a:pPr marL="0" indent="0" algn="ctr">
                        <a:buNone/>
                      </a:pPr>
                      <a:r>
                        <a:rPr lang="en-US" sz="900" b="1" dirty="0">
                          <a:solidFill>
                            <a:srgbClr val="1B2A3A"/>
                          </a:solidFill>
                          <a:latin typeface="Calibri" pitchFamily="34" charset="0"/>
                          <a:ea typeface="Calibri" pitchFamily="34" charset="-122"/>
                          <a:cs typeface="Calibri" pitchFamily="34" charset="-120"/>
                        </a:rPr>
                        <a:t>$78.7M</a:t>
                      </a:r>
                      <a:endParaRPr lang="en-US" sz="900" dirty="0">
                        <a:latin typeface="Calibri" charset="0"/>
                        <a:ea typeface="Calibri" charset="0"/>
                        <a:cs typeface="Calibri" charset="0"/>
                      </a:endParaRPr>
                    </a:p>
                  </a:txBody>
                  <a:tcPr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EEF4F7"/>
                    </a:solidFill>
                  </a:tcPr>
                </a:tc>
                <a:extLst>
                  <a:ext uri="{0D108BD9-81ED-4DB2-BD59-A6C34878D82A}">
                    <a16:rowId xmlns:a16="http://schemas.microsoft.com/office/drawing/2014/main" val="10005"/>
                  </a:ext>
                </a:extLst>
              </a:tr>
            </a:tbl>
          </a:graphicData>
        </a:graphic>
      </p:graphicFrame>
      <p:sp>
        <p:nvSpPr>
          <p:cNvPr id="15" name="Text 11"/>
          <p:cNvSpPr txBox="1"/>
          <p:nvPr/>
        </p:nvSpPr>
        <p:spPr>
          <a:xfrm>
            <a:off x="457200" y="3749040"/>
            <a:ext cx="8229600" cy="777240"/>
          </a:xfrm>
          <a:prstGeom prst="rect">
            <a:avLst/>
          </a:prstGeom>
          <a:noFill/>
          <a:ln/>
        </p:spPr>
        <p:txBody>
          <a:bodyPr wrap="square" lIns="0" tIns="0" rIns="0" bIns="0" rtlCol="0" anchor="t"/>
          <a:lstStyle/>
          <a:p>
            <a:pPr marL="0" indent="0">
              <a:buNone/>
            </a:pPr>
            <a:r>
              <a:rPr lang="en-US" sz="1000" dirty="0">
                <a:solidFill>
                  <a:srgbClr val="1B2A3A"/>
                </a:solidFill>
                <a:latin typeface="Calibri" pitchFamily="34" charset="0"/>
                <a:ea typeface="Calibri" pitchFamily="34" charset="-122"/>
                <a:cs typeface="Calibri" pitchFamily="34" charset="-120"/>
              </a:rPr>
              <a:t>* Price escalation only. Canada's TAM counts every physician and dentist office; our SAM is the 5% that are Ontario multi-provider dental and specialist clinics. We use the conservative Bangladesh count from DGHS; broader registers list over 55,000 facilities.</a:t>
            </a:r>
            <a:endParaRPr lang="en-US" sz="1000" dirty="0"/>
          </a:p>
          <a:p>
            <a:pPr marL="0" indent="0">
              <a:spcBef>
                <a:spcPts val="400"/>
              </a:spcBef>
              <a:buNone/>
            </a:pPr>
            <a:r>
              <a:rPr lang="en-US" sz="1000" dirty="0">
                <a:solidFill>
                  <a:srgbClr val="1B2A3A"/>
                </a:solidFill>
                <a:latin typeface="Calibri" pitchFamily="34" charset="0"/>
                <a:ea typeface="Calibri" pitchFamily="34" charset="-122"/>
                <a:cs typeface="Calibri" pitchFamily="34" charset="-120"/>
              </a:rPr>
              <a:t>SOM, bottom-up: [X] sales reps × [X] clinics signed per rep per month, plus partner and referral sales, gives 79 → 277 → 601 → 1,049 → 1,617 paying clinics (2027–2031); × blended price per clinic ≈ $6.8M ARR in 2031.</a:t>
            </a:r>
            <a:endParaRPr lang="en-US" sz="1000" dirty="0"/>
          </a:p>
        </p:txBody>
      </p:sp>
      <p:sp>
        <p:nvSpPr>
          <p:cNvPr id="16" name="Text 12"/>
          <p:cNvSpPr txBox="1"/>
          <p:nvPr/>
        </p:nvSpPr>
        <p:spPr>
          <a:xfrm>
            <a:off x="457200" y="4599432"/>
            <a:ext cx="8229600" cy="182880"/>
          </a:xfrm>
          <a:prstGeom prst="rect">
            <a:avLst/>
          </a:prstGeom>
          <a:noFill/>
          <a:ln/>
        </p:spPr>
        <p:txBody>
          <a:bodyPr wrap="square" lIns="0" tIns="0" rIns="0" bIns="0" rtlCol="0" anchor="t"/>
          <a:lstStyle/>
          <a:p>
            <a:pPr marL="0" indent="0">
              <a:buNone/>
            </a:pPr>
            <a:r>
              <a:rPr lang="en-US" sz="800" dirty="0">
                <a:solidFill>
                  <a:srgbClr val="5B6B7B"/>
                </a:solidFill>
                <a:latin typeface="Calibri" pitchFamily="34" charset="0"/>
                <a:ea typeface="Calibri" pitchFamily="34" charset="-122"/>
                <a:cs typeface="Calibri" pitchFamily="34" charset="-120"/>
              </a:rPr>
              <a:t>Sources: DGHS via The Business Standard (2025); Dubai Health Authority; Qatar MoPH (2024); ISED Canada (2025); Clarus model.</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buNone/>
            </a:pPr>
            <a:r>
              <a:rPr lang="en-US" sz="2600" b="1" dirty="0">
                <a:solidFill>
                  <a:srgbClr val="0B2545"/>
                </a:solidFill>
                <a:latin typeface="Calibri" pitchFamily="34" charset="0"/>
                <a:ea typeface="Calibri" pitchFamily="34" charset="-122"/>
                <a:cs typeface="Calibri" pitchFamily="34" charset="-120"/>
              </a:rPr>
              <a:t>Product Roadmap</a:t>
            </a:r>
            <a:endParaRPr lang="en-US" sz="2600" dirty="0"/>
          </a:p>
        </p:txBody>
      </p:sp>
      <p:sp>
        <p:nvSpPr>
          <p:cNvPr id="5" name="Shape 2"/>
          <p:cNvSpPr/>
          <p:nvPr/>
        </p:nvSpPr>
        <p:spPr>
          <a:xfrm>
            <a:off x="548640" y="1965960"/>
            <a:ext cx="8046720" cy="0"/>
          </a:xfrm>
          <a:prstGeom prst="line">
            <a:avLst/>
          </a:prstGeom>
          <a:noFill/>
          <a:ln w="25400">
            <a:solidFill>
              <a:srgbClr val="0E9AA7"/>
            </a:solidFill>
            <a:prstDash val="solid"/>
          </a:ln>
        </p:spPr>
        <p:txBody>
          <a:bodyPr/>
          <a:lstStyle/>
          <a:p>
            <a:endParaRPr/>
          </a:p>
        </p:txBody>
      </p:sp>
      <p:sp>
        <p:nvSpPr>
          <p:cNvPr id="6" name="Text 3"/>
          <p:cNvSpPr txBox="1"/>
          <p:nvPr/>
        </p:nvSpPr>
        <p:spPr>
          <a:xfrm>
            <a:off x="457200" y="1371600"/>
            <a:ext cx="1920240" cy="320040"/>
          </a:xfrm>
          <a:prstGeom prst="rect">
            <a:avLst/>
          </a:prstGeom>
          <a:noFill/>
          <a:ln/>
        </p:spPr>
        <p:txBody>
          <a:bodyPr wrap="square" lIns="0" tIns="0" rIns="0" bIns="0" rtlCol="0" anchor="t"/>
          <a:lstStyle/>
          <a:p>
            <a:pPr marL="0" indent="0">
              <a:buNone/>
            </a:pPr>
            <a:r>
              <a:rPr lang="en-US" sz="1500" b="1" dirty="0">
                <a:solidFill>
                  <a:srgbClr val="0B2545"/>
                </a:solidFill>
                <a:latin typeface="Calibri" pitchFamily="34" charset="0"/>
                <a:ea typeface="Calibri" pitchFamily="34" charset="-122"/>
                <a:cs typeface="Calibri" pitchFamily="34" charset="-120"/>
              </a:rPr>
              <a:t>Q4 2026</a:t>
            </a:r>
            <a:endParaRPr lang="en-US" sz="1500" dirty="0"/>
          </a:p>
        </p:txBody>
      </p:sp>
      <p:sp>
        <p:nvSpPr>
          <p:cNvPr id="7" name="Shape 4"/>
          <p:cNvSpPr/>
          <p:nvPr/>
        </p:nvSpPr>
        <p:spPr>
          <a:xfrm>
            <a:off x="457200" y="1828800"/>
            <a:ext cx="274320" cy="274320"/>
          </a:xfrm>
          <a:prstGeom prst="ellipse">
            <a:avLst/>
          </a:prstGeom>
          <a:solidFill>
            <a:srgbClr val="0E9AA7"/>
          </a:solidFill>
          <a:ln w="25400">
            <a:solidFill>
              <a:srgbClr val="FFFFFF"/>
            </a:solidFill>
            <a:prstDash val="solid"/>
          </a:ln>
        </p:spPr>
        <p:txBody>
          <a:bodyPr/>
          <a:lstStyle/>
          <a:p>
            <a:endParaRPr/>
          </a:p>
        </p:txBody>
      </p:sp>
      <p:sp>
        <p:nvSpPr>
          <p:cNvPr id="8" name="Shape 5"/>
          <p:cNvSpPr/>
          <p:nvPr/>
        </p:nvSpPr>
        <p:spPr>
          <a:xfrm>
            <a:off x="457200" y="2331720"/>
            <a:ext cx="1920240" cy="1783080"/>
          </a:xfrm>
          <a:prstGeom prst="roundRect">
            <a:avLst>
              <a:gd name="adj" fmla="val 4103"/>
            </a:avLst>
          </a:prstGeom>
          <a:solidFill>
            <a:srgbClr val="EEF4F7"/>
          </a:solidFill>
          <a:ln w="12700">
            <a:solidFill>
              <a:srgbClr val="EEF4F7"/>
            </a:solidFill>
            <a:prstDash val="solid"/>
          </a:ln>
        </p:spPr>
        <p:txBody>
          <a:bodyPr/>
          <a:lstStyle/>
          <a:p>
            <a:endParaRPr/>
          </a:p>
        </p:txBody>
      </p:sp>
      <p:sp>
        <p:nvSpPr>
          <p:cNvPr id="9" name="Text 6"/>
          <p:cNvSpPr txBox="1"/>
          <p:nvPr/>
        </p:nvSpPr>
        <p:spPr>
          <a:xfrm>
            <a:off x="594360" y="2450592"/>
            <a:ext cx="1645920" cy="320040"/>
          </a:xfrm>
          <a:prstGeom prst="rect">
            <a:avLst/>
          </a:prstGeom>
          <a:noFill/>
          <a:ln/>
        </p:spPr>
        <p:txBody>
          <a:bodyPr wrap="square" lIns="0" tIns="0" rIns="0" bIns="0" rtlCol="0" anchor="t"/>
          <a:lstStyle/>
          <a:p>
            <a:pPr marL="0" indent="0">
              <a:buNone/>
            </a:pPr>
            <a:r>
              <a:rPr lang="en-US" sz="1300" b="1" dirty="0">
                <a:solidFill>
                  <a:srgbClr val="0E9AA7"/>
                </a:solidFill>
                <a:latin typeface="Calibri" pitchFamily="34" charset="0"/>
                <a:ea typeface="Calibri" pitchFamily="34" charset="-122"/>
                <a:cs typeface="Calibri" pitchFamily="34" charset="-120"/>
              </a:rPr>
              <a:t>Harden and pilot</a:t>
            </a:r>
            <a:endParaRPr lang="en-US" sz="1300" dirty="0"/>
          </a:p>
        </p:txBody>
      </p:sp>
      <p:sp>
        <p:nvSpPr>
          <p:cNvPr id="10" name="Text 7"/>
          <p:cNvSpPr txBox="1"/>
          <p:nvPr/>
        </p:nvSpPr>
        <p:spPr>
          <a:xfrm>
            <a:off x="594360" y="2834640"/>
            <a:ext cx="1645920" cy="1554480"/>
          </a:xfrm>
          <a:prstGeom prst="rect">
            <a:avLst/>
          </a:prstGeom>
          <a:noFill/>
          <a:ln/>
        </p:spPr>
        <p:txBody>
          <a:bodyPr wrap="square" lIns="0" tIns="0" rIns="0" bIns="0" rtlCol="0" anchor="t"/>
          <a:lstStyle/>
          <a:p>
            <a:pPr marL="0" indent="0">
              <a:buNone/>
            </a:pPr>
            <a:r>
              <a:rPr lang="en-US" sz="1050" dirty="0">
                <a:solidFill>
                  <a:srgbClr val="1B2A3A"/>
                </a:solidFill>
                <a:latin typeface="Calibri" pitchFamily="34" charset="0"/>
                <a:ea typeface="Calibri" pitchFamily="34" charset="-122"/>
                <a:cs typeface="Calibri" pitchFamily="34" charset="-120"/>
              </a:rPr>
              <a:t>Harden the MVP. Free pilots with Bangladesh clinics: workflow builder and WhatsApp reminders.</a:t>
            </a:r>
            <a:endParaRPr lang="en-US" sz="1050" dirty="0"/>
          </a:p>
        </p:txBody>
      </p:sp>
      <p:sp>
        <p:nvSpPr>
          <p:cNvPr id="11" name="Text 8"/>
          <p:cNvSpPr txBox="1"/>
          <p:nvPr/>
        </p:nvSpPr>
        <p:spPr>
          <a:xfrm>
            <a:off x="2560320" y="1371600"/>
            <a:ext cx="1920240" cy="320040"/>
          </a:xfrm>
          <a:prstGeom prst="rect">
            <a:avLst/>
          </a:prstGeom>
          <a:noFill/>
          <a:ln/>
        </p:spPr>
        <p:txBody>
          <a:bodyPr wrap="square" lIns="0" tIns="0" rIns="0" bIns="0" rtlCol="0" anchor="t"/>
          <a:lstStyle/>
          <a:p>
            <a:pPr marL="0" indent="0">
              <a:buNone/>
            </a:pPr>
            <a:r>
              <a:rPr lang="en-US" sz="1500" b="1" dirty="0">
                <a:solidFill>
                  <a:srgbClr val="0B2545"/>
                </a:solidFill>
                <a:latin typeface="Calibri" pitchFamily="34" charset="0"/>
                <a:ea typeface="Calibri" pitchFamily="34" charset="-122"/>
                <a:cs typeface="Calibri" pitchFamily="34" charset="-120"/>
              </a:rPr>
              <a:t>2027</a:t>
            </a:r>
            <a:endParaRPr lang="en-US" sz="1500" dirty="0"/>
          </a:p>
        </p:txBody>
      </p:sp>
      <p:sp>
        <p:nvSpPr>
          <p:cNvPr id="12" name="Shape 9"/>
          <p:cNvSpPr/>
          <p:nvPr/>
        </p:nvSpPr>
        <p:spPr>
          <a:xfrm>
            <a:off x="2560320" y="1828800"/>
            <a:ext cx="274320" cy="274320"/>
          </a:xfrm>
          <a:prstGeom prst="ellipse">
            <a:avLst/>
          </a:prstGeom>
          <a:solidFill>
            <a:srgbClr val="0E9AA7"/>
          </a:solidFill>
          <a:ln w="25400">
            <a:solidFill>
              <a:srgbClr val="FFFFFF"/>
            </a:solidFill>
            <a:prstDash val="solid"/>
          </a:ln>
        </p:spPr>
        <p:txBody>
          <a:bodyPr/>
          <a:lstStyle/>
          <a:p>
            <a:endParaRPr/>
          </a:p>
        </p:txBody>
      </p:sp>
      <p:sp>
        <p:nvSpPr>
          <p:cNvPr id="13" name="Shape 10"/>
          <p:cNvSpPr/>
          <p:nvPr/>
        </p:nvSpPr>
        <p:spPr>
          <a:xfrm>
            <a:off x="2560320" y="2331719"/>
            <a:ext cx="1920240" cy="1783080"/>
          </a:xfrm>
          <a:prstGeom prst="roundRect">
            <a:avLst>
              <a:gd name="adj" fmla="val 4103"/>
            </a:avLst>
          </a:prstGeom>
          <a:solidFill>
            <a:srgbClr val="EEF4F7"/>
          </a:solidFill>
          <a:ln w="12700">
            <a:solidFill>
              <a:srgbClr val="EEF4F7"/>
            </a:solidFill>
            <a:prstDash val="solid"/>
          </a:ln>
        </p:spPr>
        <p:txBody>
          <a:bodyPr/>
          <a:lstStyle/>
          <a:p>
            <a:endParaRPr/>
          </a:p>
        </p:txBody>
      </p:sp>
      <p:sp>
        <p:nvSpPr>
          <p:cNvPr id="14" name="Text 11"/>
          <p:cNvSpPr txBox="1"/>
          <p:nvPr/>
        </p:nvSpPr>
        <p:spPr>
          <a:xfrm>
            <a:off x="2697480" y="2450592"/>
            <a:ext cx="1645920" cy="320040"/>
          </a:xfrm>
          <a:prstGeom prst="rect">
            <a:avLst/>
          </a:prstGeom>
          <a:noFill/>
          <a:ln/>
        </p:spPr>
        <p:txBody>
          <a:bodyPr wrap="square" lIns="0" tIns="0" rIns="0" bIns="0" rtlCol="0" anchor="t"/>
          <a:lstStyle/>
          <a:p>
            <a:pPr marL="0" indent="0">
              <a:buNone/>
            </a:pPr>
            <a:r>
              <a:rPr lang="en-US" sz="1300" b="1" dirty="0">
                <a:solidFill>
                  <a:srgbClr val="0E9AA7"/>
                </a:solidFill>
                <a:latin typeface="Calibri" pitchFamily="34" charset="0"/>
                <a:ea typeface="Calibri" pitchFamily="34" charset="-122"/>
                <a:cs typeface="Calibri" pitchFamily="34" charset="-120"/>
              </a:rPr>
              <a:t>Launch BD + Canada</a:t>
            </a:r>
            <a:endParaRPr lang="en-US" sz="1300" dirty="0"/>
          </a:p>
        </p:txBody>
      </p:sp>
      <p:sp>
        <p:nvSpPr>
          <p:cNvPr id="15" name="Text 12"/>
          <p:cNvSpPr txBox="1"/>
          <p:nvPr/>
        </p:nvSpPr>
        <p:spPr>
          <a:xfrm>
            <a:off x="2606040" y="2659076"/>
            <a:ext cx="1920240" cy="1399032"/>
          </a:xfrm>
          <a:prstGeom prst="rect">
            <a:avLst/>
          </a:prstGeom>
          <a:noFill/>
          <a:ln/>
        </p:spPr>
        <p:txBody>
          <a:bodyPr wrap="square" lIns="0" tIns="0" rIns="0" bIns="0" rtlCol="0" anchor="t"/>
          <a:lstStyle/>
          <a:p>
            <a:pPr marL="0" indent="0">
              <a:buNone/>
            </a:pPr>
            <a:r>
              <a:rPr lang="en-US" sz="1050" dirty="0">
                <a:solidFill>
                  <a:srgbClr val="1B2A3A"/>
                </a:solidFill>
                <a:latin typeface="Calibri" pitchFamily="34" charset="0"/>
                <a:ea typeface="Calibri" pitchFamily="34" charset="-122"/>
                <a:cs typeface="Calibri" pitchFamily="34" charset="-120"/>
              </a:rPr>
              <a:t>Paying clinics in Bangladesh and Canada. Add the AI voice follow-up tier with an IPTSP partner on +880 numbers.</a:t>
            </a:r>
          </a:p>
          <a:p>
            <a:pPr marL="0" indent="0">
              <a:buNone/>
            </a:pPr>
            <a:endParaRPr lang="en-US" sz="1050" dirty="0">
              <a:solidFill>
                <a:srgbClr val="1B2A3A"/>
              </a:solidFill>
              <a:latin typeface="Calibri" pitchFamily="34" charset="0"/>
              <a:ea typeface="Calibri" pitchFamily="34" charset="-122"/>
              <a:cs typeface="Calibri" pitchFamily="34" charset="-120"/>
            </a:endParaRPr>
          </a:p>
          <a:p>
            <a:r>
              <a:rPr lang="en-US" sz="1050" dirty="0">
                <a:solidFill>
                  <a:srgbClr val="1B2A3A"/>
                </a:solidFill>
                <a:latin typeface="Calibri" pitchFamily="34" charset="0"/>
                <a:ea typeface="Calibri" pitchFamily="34" charset="-122"/>
                <a:cs typeface="Calibri" pitchFamily="34" charset="-120"/>
              </a:rPr>
              <a:t>Launch in Canada with multi-provider dental and specialist clinics once certification is in place.</a:t>
            </a:r>
            <a:endParaRPr lang="en-US" sz="1050" dirty="0"/>
          </a:p>
          <a:p>
            <a:pPr marL="0" indent="0">
              <a:buNone/>
            </a:pPr>
            <a:endParaRPr lang="en-US" sz="1050" dirty="0"/>
          </a:p>
        </p:txBody>
      </p:sp>
      <p:sp>
        <p:nvSpPr>
          <p:cNvPr id="16" name="Text 13"/>
          <p:cNvSpPr txBox="1"/>
          <p:nvPr/>
        </p:nvSpPr>
        <p:spPr>
          <a:xfrm>
            <a:off x="4663440" y="1371600"/>
            <a:ext cx="1920240" cy="320040"/>
          </a:xfrm>
          <a:prstGeom prst="rect">
            <a:avLst/>
          </a:prstGeom>
          <a:noFill/>
          <a:ln/>
        </p:spPr>
        <p:txBody>
          <a:bodyPr wrap="square" lIns="0" tIns="0" rIns="0" bIns="0" rtlCol="0" anchor="t"/>
          <a:lstStyle/>
          <a:p>
            <a:pPr marL="0" indent="0">
              <a:buNone/>
            </a:pPr>
            <a:r>
              <a:rPr lang="en-US" sz="1500" b="1" dirty="0">
                <a:solidFill>
                  <a:srgbClr val="0B2545"/>
                </a:solidFill>
                <a:latin typeface="Calibri" pitchFamily="34" charset="0"/>
                <a:ea typeface="Calibri" pitchFamily="34" charset="-122"/>
                <a:cs typeface="Calibri" pitchFamily="34" charset="-120"/>
              </a:rPr>
              <a:t>2028</a:t>
            </a:r>
            <a:endParaRPr lang="en-US" sz="1500" dirty="0"/>
          </a:p>
        </p:txBody>
      </p:sp>
      <p:sp>
        <p:nvSpPr>
          <p:cNvPr id="17" name="Shape 14"/>
          <p:cNvSpPr/>
          <p:nvPr/>
        </p:nvSpPr>
        <p:spPr>
          <a:xfrm>
            <a:off x="4663440" y="1828800"/>
            <a:ext cx="274320" cy="274320"/>
          </a:xfrm>
          <a:prstGeom prst="ellipse">
            <a:avLst/>
          </a:prstGeom>
          <a:solidFill>
            <a:srgbClr val="0E9AA7"/>
          </a:solidFill>
          <a:ln w="25400">
            <a:solidFill>
              <a:srgbClr val="FFFFFF"/>
            </a:solidFill>
            <a:prstDash val="solid"/>
          </a:ln>
        </p:spPr>
        <p:txBody>
          <a:bodyPr/>
          <a:lstStyle/>
          <a:p>
            <a:endParaRPr/>
          </a:p>
        </p:txBody>
      </p:sp>
      <p:sp>
        <p:nvSpPr>
          <p:cNvPr id="18" name="Shape 15"/>
          <p:cNvSpPr/>
          <p:nvPr/>
        </p:nvSpPr>
        <p:spPr>
          <a:xfrm>
            <a:off x="4686300" y="2321662"/>
            <a:ext cx="1920240" cy="1783080"/>
          </a:xfrm>
          <a:prstGeom prst="roundRect">
            <a:avLst>
              <a:gd name="adj" fmla="val 4103"/>
            </a:avLst>
          </a:prstGeom>
          <a:solidFill>
            <a:srgbClr val="EEF4F7"/>
          </a:solidFill>
          <a:ln w="12700">
            <a:solidFill>
              <a:srgbClr val="EEF4F7"/>
            </a:solidFill>
            <a:prstDash val="solid"/>
          </a:ln>
        </p:spPr>
        <p:txBody>
          <a:bodyPr/>
          <a:lstStyle/>
          <a:p>
            <a:endParaRPr/>
          </a:p>
        </p:txBody>
      </p:sp>
      <p:sp>
        <p:nvSpPr>
          <p:cNvPr id="19" name="Text 16"/>
          <p:cNvSpPr txBox="1"/>
          <p:nvPr/>
        </p:nvSpPr>
        <p:spPr>
          <a:xfrm>
            <a:off x="4800600" y="2450592"/>
            <a:ext cx="1645920" cy="320040"/>
          </a:xfrm>
          <a:prstGeom prst="rect">
            <a:avLst/>
          </a:prstGeom>
          <a:noFill/>
          <a:ln/>
        </p:spPr>
        <p:txBody>
          <a:bodyPr wrap="square" lIns="0" tIns="0" rIns="0" bIns="0" rtlCol="0" anchor="t"/>
          <a:lstStyle/>
          <a:p>
            <a:pPr marL="0" indent="0">
              <a:buNone/>
            </a:pPr>
            <a:r>
              <a:rPr lang="en-US" sz="1300" b="1" dirty="0">
                <a:solidFill>
                  <a:srgbClr val="0E9AA7"/>
                </a:solidFill>
                <a:latin typeface="Calibri" pitchFamily="34" charset="0"/>
                <a:ea typeface="Calibri" pitchFamily="34" charset="-122"/>
                <a:cs typeface="Calibri" pitchFamily="34" charset="-120"/>
              </a:rPr>
              <a:t>Dubai + integrations</a:t>
            </a:r>
            <a:endParaRPr lang="en-US" sz="1300" dirty="0"/>
          </a:p>
        </p:txBody>
      </p:sp>
      <p:sp>
        <p:nvSpPr>
          <p:cNvPr id="20" name="Text 17"/>
          <p:cNvSpPr txBox="1"/>
          <p:nvPr/>
        </p:nvSpPr>
        <p:spPr>
          <a:xfrm>
            <a:off x="4663440" y="2617928"/>
            <a:ext cx="1645920" cy="1554480"/>
          </a:xfrm>
          <a:prstGeom prst="rect">
            <a:avLst/>
          </a:prstGeom>
          <a:noFill/>
          <a:ln/>
        </p:spPr>
        <p:txBody>
          <a:bodyPr wrap="square" lIns="0" tIns="0" rIns="0" bIns="0" rtlCol="0" anchor="t"/>
          <a:lstStyle/>
          <a:p>
            <a:pPr marL="0" indent="0">
              <a:buNone/>
            </a:pPr>
            <a:endParaRPr lang="en-US" sz="1050" dirty="0"/>
          </a:p>
        </p:txBody>
      </p:sp>
      <p:sp>
        <p:nvSpPr>
          <p:cNvPr id="21" name="Text 18"/>
          <p:cNvSpPr txBox="1"/>
          <p:nvPr/>
        </p:nvSpPr>
        <p:spPr>
          <a:xfrm>
            <a:off x="6766560" y="1371600"/>
            <a:ext cx="1920240" cy="320040"/>
          </a:xfrm>
          <a:prstGeom prst="rect">
            <a:avLst/>
          </a:prstGeom>
          <a:noFill/>
          <a:ln/>
        </p:spPr>
        <p:txBody>
          <a:bodyPr wrap="square" lIns="0" tIns="0" rIns="0" bIns="0" rtlCol="0" anchor="t"/>
          <a:lstStyle/>
          <a:p>
            <a:pPr marL="0" indent="0">
              <a:buNone/>
            </a:pPr>
            <a:r>
              <a:rPr lang="en-US" sz="1500" b="1" dirty="0">
                <a:solidFill>
                  <a:srgbClr val="0B2545"/>
                </a:solidFill>
                <a:latin typeface="Calibri" pitchFamily="34" charset="0"/>
                <a:ea typeface="Calibri" pitchFamily="34" charset="-122"/>
                <a:cs typeface="Calibri" pitchFamily="34" charset="-120"/>
              </a:rPr>
              <a:t>2029</a:t>
            </a:r>
            <a:endParaRPr lang="en-US" sz="1500" dirty="0"/>
          </a:p>
        </p:txBody>
      </p:sp>
      <p:sp>
        <p:nvSpPr>
          <p:cNvPr id="22" name="Shape 19"/>
          <p:cNvSpPr/>
          <p:nvPr/>
        </p:nvSpPr>
        <p:spPr>
          <a:xfrm>
            <a:off x="6766560" y="1828800"/>
            <a:ext cx="274320" cy="274320"/>
          </a:xfrm>
          <a:prstGeom prst="ellipse">
            <a:avLst/>
          </a:prstGeom>
          <a:solidFill>
            <a:srgbClr val="0E9AA7"/>
          </a:solidFill>
          <a:ln w="25400">
            <a:solidFill>
              <a:srgbClr val="FFFFFF"/>
            </a:solidFill>
            <a:prstDash val="solid"/>
          </a:ln>
        </p:spPr>
        <p:txBody>
          <a:bodyPr/>
          <a:lstStyle/>
          <a:p>
            <a:endParaRPr/>
          </a:p>
        </p:txBody>
      </p:sp>
      <p:sp>
        <p:nvSpPr>
          <p:cNvPr id="23" name="Shape 20"/>
          <p:cNvSpPr/>
          <p:nvPr/>
        </p:nvSpPr>
        <p:spPr>
          <a:xfrm>
            <a:off x="6766560" y="2331720"/>
            <a:ext cx="1920240" cy="1783080"/>
          </a:xfrm>
          <a:prstGeom prst="roundRect">
            <a:avLst>
              <a:gd name="adj" fmla="val 4103"/>
            </a:avLst>
          </a:prstGeom>
          <a:solidFill>
            <a:srgbClr val="EEF4F7"/>
          </a:solidFill>
          <a:ln w="12700">
            <a:solidFill>
              <a:srgbClr val="EEF4F7"/>
            </a:solidFill>
            <a:prstDash val="solid"/>
          </a:ln>
        </p:spPr>
        <p:txBody>
          <a:bodyPr/>
          <a:lstStyle/>
          <a:p>
            <a:endParaRPr/>
          </a:p>
        </p:txBody>
      </p:sp>
      <p:sp>
        <p:nvSpPr>
          <p:cNvPr id="25" name="Text 22"/>
          <p:cNvSpPr txBox="1"/>
          <p:nvPr/>
        </p:nvSpPr>
        <p:spPr>
          <a:xfrm>
            <a:off x="4777740" y="2678279"/>
            <a:ext cx="1645920" cy="1554480"/>
          </a:xfrm>
          <a:prstGeom prst="rect">
            <a:avLst/>
          </a:prstGeom>
          <a:noFill/>
          <a:ln/>
        </p:spPr>
        <p:txBody>
          <a:bodyPr wrap="square" lIns="0" tIns="0" rIns="0" bIns="0" rtlCol="0" anchor="t"/>
          <a:lstStyle/>
          <a:p>
            <a:pPr marL="0" indent="0">
              <a:buNone/>
            </a:pPr>
            <a:r>
              <a:rPr lang="en-US" sz="1050" dirty="0">
                <a:solidFill>
                  <a:srgbClr val="1B2A3A"/>
                </a:solidFill>
                <a:latin typeface="Calibri" pitchFamily="34" charset="0"/>
                <a:ea typeface="Calibri" pitchFamily="34" charset="-122"/>
                <a:cs typeface="Calibri" pitchFamily="34" charset="-120"/>
              </a:rPr>
              <a:t>Use sales representatives and incubator programs to get into direct sales and traction into the Dubai market.</a:t>
            </a:r>
            <a:endParaRPr lang="en-US" sz="1050" dirty="0"/>
          </a:p>
        </p:txBody>
      </p:sp>
      <p:sp>
        <p:nvSpPr>
          <p:cNvPr id="26" name="Text 16">
            <a:extLst>
              <a:ext uri="{FF2B5EF4-FFF2-40B4-BE49-F238E27FC236}">
                <a16:creationId xmlns:a16="http://schemas.microsoft.com/office/drawing/2014/main" id="{DAB5ABD5-F418-4FCA-BC82-15C13541C4BC}"/>
              </a:ext>
            </a:extLst>
          </p:cNvPr>
          <p:cNvSpPr txBox="1"/>
          <p:nvPr/>
        </p:nvSpPr>
        <p:spPr>
          <a:xfrm>
            <a:off x="6812280" y="2442362"/>
            <a:ext cx="1645920" cy="320040"/>
          </a:xfrm>
          <a:prstGeom prst="rect">
            <a:avLst/>
          </a:prstGeom>
          <a:noFill/>
          <a:ln/>
        </p:spPr>
        <p:txBody>
          <a:bodyPr wrap="square" lIns="0" tIns="0" rIns="0" bIns="0" rtlCol="0" anchor="t"/>
          <a:lstStyle/>
          <a:p>
            <a:pPr marL="0" indent="0">
              <a:buNone/>
            </a:pPr>
            <a:endParaRPr lang="en-US" sz="1300" dirty="0"/>
          </a:p>
        </p:txBody>
      </p:sp>
      <p:sp>
        <p:nvSpPr>
          <p:cNvPr id="27" name="Text 16">
            <a:extLst>
              <a:ext uri="{FF2B5EF4-FFF2-40B4-BE49-F238E27FC236}">
                <a16:creationId xmlns:a16="http://schemas.microsoft.com/office/drawing/2014/main" id="{0A98EE70-A0D9-47B5-ABCB-45D1A9321AE3}"/>
              </a:ext>
            </a:extLst>
          </p:cNvPr>
          <p:cNvSpPr txBox="1"/>
          <p:nvPr/>
        </p:nvSpPr>
        <p:spPr>
          <a:xfrm>
            <a:off x="6903720" y="2400300"/>
            <a:ext cx="1645920" cy="320040"/>
          </a:xfrm>
          <a:prstGeom prst="rect">
            <a:avLst/>
          </a:prstGeom>
          <a:noFill/>
          <a:ln/>
        </p:spPr>
        <p:txBody>
          <a:bodyPr wrap="square" lIns="0" tIns="0" rIns="0" bIns="0" rtlCol="0" anchor="t"/>
          <a:lstStyle/>
          <a:p>
            <a:pPr marL="0" indent="0">
              <a:buNone/>
            </a:pPr>
            <a:r>
              <a:rPr lang="en-US" sz="1300" b="1" dirty="0">
                <a:solidFill>
                  <a:srgbClr val="0E9AA7"/>
                </a:solidFill>
                <a:latin typeface="Calibri" pitchFamily="34" charset="0"/>
                <a:ea typeface="Calibri" pitchFamily="34" charset="-122"/>
                <a:cs typeface="Calibri" pitchFamily="34" charset="-120"/>
              </a:rPr>
              <a:t>Qatar + integrations</a:t>
            </a:r>
            <a:endParaRPr lang="en-US" sz="1300" dirty="0"/>
          </a:p>
        </p:txBody>
      </p:sp>
      <p:sp>
        <p:nvSpPr>
          <p:cNvPr id="28" name="Text 17">
            <a:extLst>
              <a:ext uri="{FF2B5EF4-FFF2-40B4-BE49-F238E27FC236}">
                <a16:creationId xmlns:a16="http://schemas.microsoft.com/office/drawing/2014/main" id="{BA2297A5-B3D8-4E36-99EA-9A88C9854D8D}"/>
              </a:ext>
            </a:extLst>
          </p:cNvPr>
          <p:cNvSpPr txBox="1"/>
          <p:nvPr/>
        </p:nvSpPr>
        <p:spPr>
          <a:xfrm>
            <a:off x="6926580" y="2675229"/>
            <a:ext cx="1645920" cy="1554480"/>
          </a:xfrm>
          <a:prstGeom prst="rect">
            <a:avLst/>
          </a:prstGeom>
          <a:noFill/>
          <a:ln/>
        </p:spPr>
        <p:txBody>
          <a:bodyPr wrap="square" lIns="0" tIns="0" rIns="0" bIns="0" rtlCol="0" anchor="t"/>
          <a:lstStyle/>
          <a:p>
            <a:pPr marL="0" indent="0">
              <a:buNone/>
            </a:pPr>
            <a:r>
              <a:rPr lang="en-US" sz="1050" dirty="0">
                <a:solidFill>
                  <a:srgbClr val="1B2A3A"/>
                </a:solidFill>
                <a:latin typeface="Calibri" pitchFamily="34" charset="0"/>
                <a:ea typeface="Calibri" pitchFamily="34" charset="-122"/>
                <a:cs typeface="Calibri" pitchFamily="34" charset="-120"/>
              </a:rPr>
              <a:t>Enter Qatar from Dubai. Build HMS/EMR integrations. Start ISO 27001 / SOC 2. Raise the seed round.</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buNone/>
            </a:pPr>
            <a:r>
              <a:rPr lang="en-US" sz="2600" b="1" dirty="0">
                <a:solidFill>
                  <a:srgbClr val="0B2545"/>
                </a:solidFill>
                <a:latin typeface="Calibri" pitchFamily="34" charset="0"/>
                <a:ea typeface="Calibri" pitchFamily="34" charset="-122"/>
                <a:cs typeface="Calibri" pitchFamily="34" charset="-120"/>
              </a:rPr>
              <a:t>Competitive Analysis</a:t>
            </a:r>
            <a:endParaRPr lang="en-US" sz="2600" dirty="0"/>
          </a:p>
        </p:txBody>
      </p:sp>
      <p:sp>
        <p:nvSpPr>
          <p:cNvPr id="5" name="Shape 2"/>
          <p:cNvSpPr/>
          <p:nvPr/>
        </p:nvSpPr>
        <p:spPr>
          <a:xfrm>
            <a:off x="457200" y="960120"/>
            <a:ext cx="4206240" cy="3429000"/>
          </a:xfrm>
          <a:prstGeom prst="roundRect">
            <a:avLst>
              <a:gd name="adj" fmla="val 2133"/>
            </a:avLst>
          </a:prstGeom>
          <a:solidFill>
            <a:srgbClr val="F7FAFC"/>
          </a:solidFill>
          <a:ln w="12700">
            <a:solidFill>
              <a:srgbClr val="F7FAFC"/>
            </a:solidFill>
            <a:prstDash val="solid"/>
          </a:ln>
        </p:spPr>
        <p:txBody>
          <a:bodyPr/>
          <a:lstStyle/>
          <a:p>
            <a:endParaRPr/>
          </a:p>
        </p:txBody>
      </p:sp>
      <p:sp>
        <p:nvSpPr>
          <p:cNvPr id="6" name="Shape 3"/>
          <p:cNvSpPr/>
          <p:nvPr/>
        </p:nvSpPr>
        <p:spPr>
          <a:xfrm>
            <a:off x="2560320" y="960120"/>
            <a:ext cx="0" cy="3429000"/>
          </a:xfrm>
          <a:prstGeom prst="line">
            <a:avLst/>
          </a:prstGeom>
          <a:noFill/>
          <a:ln w="12700">
            <a:solidFill>
              <a:srgbClr val="C9D5DE"/>
            </a:solidFill>
            <a:prstDash val="solid"/>
          </a:ln>
        </p:spPr>
        <p:txBody>
          <a:bodyPr/>
          <a:lstStyle/>
          <a:p>
            <a:endParaRPr/>
          </a:p>
        </p:txBody>
      </p:sp>
      <p:sp>
        <p:nvSpPr>
          <p:cNvPr id="7" name="Shape 4"/>
          <p:cNvSpPr/>
          <p:nvPr/>
        </p:nvSpPr>
        <p:spPr>
          <a:xfrm>
            <a:off x="457200" y="2674620"/>
            <a:ext cx="4206240" cy="0"/>
          </a:xfrm>
          <a:prstGeom prst="line">
            <a:avLst/>
          </a:prstGeom>
          <a:noFill/>
          <a:ln w="12700">
            <a:solidFill>
              <a:srgbClr val="C9D5DE"/>
            </a:solidFill>
            <a:prstDash val="solid"/>
          </a:ln>
        </p:spPr>
        <p:txBody>
          <a:bodyPr/>
          <a:lstStyle/>
          <a:p>
            <a:endParaRPr/>
          </a:p>
        </p:txBody>
      </p:sp>
      <p:sp>
        <p:nvSpPr>
          <p:cNvPr id="8" name="Text 5"/>
          <p:cNvSpPr txBox="1"/>
          <p:nvPr/>
        </p:nvSpPr>
        <p:spPr>
          <a:xfrm>
            <a:off x="548640" y="1005840"/>
            <a:ext cx="2743200" cy="182880"/>
          </a:xfrm>
          <a:prstGeom prst="rect">
            <a:avLst/>
          </a:prstGeom>
          <a:noFill/>
          <a:ln/>
        </p:spPr>
        <p:txBody>
          <a:bodyPr wrap="square" lIns="0" tIns="0" rIns="0" bIns="0" rtlCol="0" anchor="t"/>
          <a:lstStyle/>
          <a:p>
            <a:pPr marL="0" indent="0">
              <a:buNone/>
            </a:pPr>
            <a:r>
              <a:rPr lang="en-US" sz="850" dirty="0">
                <a:solidFill>
                  <a:srgbClr val="5B6B7B"/>
                </a:solidFill>
                <a:latin typeface="Calibri" pitchFamily="34" charset="0"/>
                <a:ea typeface="Calibri" pitchFamily="34" charset="-122"/>
                <a:cs typeface="Calibri" pitchFamily="34" charset="-120"/>
              </a:rPr>
              <a:t>More automation (reminders to AI voice workflows)</a:t>
            </a:r>
            <a:endParaRPr lang="en-US" sz="850" dirty="0"/>
          </a:p>
        </p:txBody>
      </p:sp>
      <p:sp>
        <p:nvSpPr>
          <p:cNvPr id="9" name="Text 6"/>
          <p:cNvSpPr txBox="1"/>
          <p:nvPr/>
        </p:nvSpPr>
        <p:spPr>
          <a:xfrm>
            <a:off x="1828800" y="4160520"/>
            <a:ext cx="2743200" cy="182880"/>
          </a:xfrm>
          <a:prstGeom prst="rect">
            <a:avLst/>
          </a:prstGeom>
          <a:noFill/>
          <a:ln/>
        </p:spPr>
        <p:txBody>
          <a:bodyPr wrap="square" lIns="0" tIns="0" rIns="0" bIns="0" rtlCol="0" anchor="t"/>
          <a:lstStyle/>
          <a:p>
            <a:pPr marL="0" indent="0" algn="r">
              <a:buNone/>
            </a:pPr>
            <a:r>
              <a:rPr lang="en-US" sz="850" dirty="0">
                <a:solidFill>
                  <a:srgbClr val="5B6B7B"/>
                </a:solidFill>
                <a:latin typeface="Calibri" pitchFamily="34" charset="0"/>
                <a:ea typeface="Calibri" pitchFamily="34" charset="-122"/>
                <a:cs typeface="Calibri" pitchFamily="34" charset="-120"/>
              </a:rPr>
              <a:t>Wider reach (one market to BD + Gulf + Canada)</a:t>
            </a:r>
            <a:endParaRPr lang="en-US" sz="850" dirty="0"/>
          </a:p>
        </p:txBody>
      </p:sp>
      <p:sp>
        <p:nvSpPr>
          <p:cNvPr id="10" name="Shape 7"/>
          <p:cNvSpPr/>
          <p:nvPr/>
        </p:nvSpPr>
        <p:spPr>
          <a:xfrm>
            <a:off x="3643884" y="1666494"/>
            <a:ext cx="274320" cy="274320"/>
          </a:xfrm>
          <a:prstGeom prst="ellipse">
            <a:avLst/>
          </a:prstGeom>
          <a:solidFill>
            <a:srgbClr val="0E9AA7"/>
          </a:solidFill>
          <a:ln w="12700">
            <a:solidFill>
              <a:srgbClr val="FFFFFF"/>
            </a:solidFill>
            <a:prstDash val="solid"/>
          </a:ln>
        </p:spPr>
        <p:txBody>
          <a:bodyPr/>
          <a:lstStyle/>
          <a:p>
            <a:endParaRPr/>
          </a:p>
        </p:txBody>
      </p:sp>
      <p:sp>
        <p:nvSpPr>
          <p:cNvPr id="11" name="Text 8"/>
          <p:cNvSpPr txBox="1"/>
          <p:nvPr/>
        </p:nvSpPr>
        <p:spPr>
          <a:xfrm>
            <a:off x="3973068" y="1666494"/>
            <a:ext cx="1737360" cy="274320"/>
          </a:xfrm>
          <a:prstGeom prst="rect">
            <a:avLst/>
          </a:prstGeom>
          <a:noFill/>
          <a:ln/>
        </p:spPr>
        <p:txBody>
          <a:bodyPr wrap="square" lIns="0" tIns="0" rIns="0" bIns="0" rtlCol="0" anchor="ctr"/>
          <a:lstStyle/>
          <a:p>
            <a:pPr marL="0" indent="0">
              <a:buNone/>
            </a:pPr>
            <a:r>
              <a:rPr lang="en-US" sz="1300" b="1" dirty="0">
                <a:solidFill>
                  <a:srgbClr val="0E9AA7"/>
                </a:solidFill>
                <a:latin typeface="Calibri" pitchFamily="34" charset="0"/>
                <a:ea typeface="Calibri" pitchFamily="34" charset="-122"/>
                <a:cs typeface="Calibri" pitchFamily="34" charset="-120"/>
              </a:rPr>
              <a:t>Clarus</a:t>
            </a:r>
            <a:endParaRPr lang="en-US" sz="1300" dirty="0"/>
          </a:p>
        </p:txBody>
      </p:sp>
      <p:sp>
        <p:nvSpPr>
          <p:cNvPr id="12" name="Shape 9"/>
          <p:cNvSpPr/>
          <p:nvPr/>
        </p:nvSpPr>
        <p:spPr>
          <a:xfrm>
            <a:off x="1281989" y="2156155"/>
            <a:ext cx="182880" cy="182880"/>
          </a:xfrm>
          <a:prstGeom prst="ellipse">
            <a:avLst/>
          </a:prstGeom>
          <a:solidFill>
            <a:srgbClr val="5B6B7B"/>
          </a:solidFill>
          <a:ln w="12700">
            <a:solidFill>
              <a:srgbClr val="FFFFFF"/>
            </a:solidFill>
            <a:prstDash val="solid"/>
          </a:ln>
        </p:spPr>
        <p:txBody>
          <a:bodyPr/>
          <a:lstStyle/>
          <a:p>
            <a:endParaRPr/>
          </a:p>
        </p:txBody>
      </p:sp>
      <p:sp>
        <p:nvSpPr>
          <p:cNvPr id="13" name="Text 10"/>
          <p:cNvSpPr txBox="1"/>
          <p:nvPr/>
        </p:nvSpPr>
        <p:spPr>
          <a:xfrm>
            <a:off x="1519733" y="2156155"/>
            <a:ext cx="1737360" cy="182880"/>
          </a:xfrm>
          <a:prstGeom prst="rect">
            <a:avLst/>
          </a:prstGeom>
          <a:noFill/>
          <a:ln/>
        </p:spPr>
        <p:txBody>
          <a:bodyPr wrap="square" lIns="0" tIns="0" rIns="0" bIns="0" rtlCol="0" anchor="ctr"/>
          <a:lstStyle/>
          <a:p>
            <a:pPr marL="0" indent="0">
              <a:buNone/>
            </a:pPr>
            <a:r>
              <a:rPr lang="en-US" sz="1000" dirty="0">
                <a:solidFill>
                  <a:srgbClr val="1B2A3A"/>
                </a:solidFill>
                <a:latin typeface="Calibri" pitchFamily="34" charset="0"/>
                <a:ea typeface="Calibri" pitchFamily="34" charset="-122"/>
                <a:cs typeface="Calibri" pitchFamily="34" charset="-120"/>
              </a:rPr>
              <a:t>Weave</a:t>
            </a:r>
            <a:endParaRPr lang="en-US" sz="1000" dirty="0"/>
          </a:p>
        </p:txBody>
      </p:sp>
      <p:sp>
        <p:nvSpPr>
          <p:cNvPr id="14" name="Shape 11"/>
          <p:cNvSpPr/>
          <p:nvPr/>
        </p:nvSpPr>
        <p:spPr>
          <a:xfrm>
            <a:off x="1019556" y="2962656"/>
            <a:ext cx="182880" cy="182880"/>
          </a:xfrm>
          <a:prstGeom prst="ellipse">
            <a:avLst/>
          </a:prstGeom>
          <a:solidFill>
            <a:srgbClr val="5B6B7B"/>
          </a:solidFill>
          <a:ln w="12700">
            <a:solidFill>
              <a:srgbClr val="FFFFFF"/>
            </a:solidFill>
            <a:prstDash val="solid"/>
          </a:ln>
        </p:spPr>
        <p:txBody>
          <a:bodyPr/>
          <a:lstStyle/>
          <a:p>
            <a:endParaRPr/>
          </a:p>
        </p:txBody>
      </p:sp>
      <p:sp>
        <p:nvSpPr>
          <p:cNvPr id="15" name="Text 12"/>
          <p:cNvSpPr txBox="1"/>
          <p:nvPr/>
        </p:nvSpPr>
        <p:spPr>
          <a:xfrm>
            <a:off x="1257300" y="2962656"/>
            <a:ext cx="1737360" cy="182880"/>
          </a:xfrm>
          <a:prstGeom prst="rect">
            <a:avLst/>
          </a:prstGeom>
          <a:noFill/>
          <a:ln/>
        </p:spPr>
        <p:txBody>
          <a:bodyPr wrap="square" lIns="0" tIns="0" rIns="0" bIns="0" rtlCol="0" anchor="ctr"/>
          <a:lstStyle/>
          <a:p>
            <a:pPr marL="0" indent="0">
              <a:buNone/>
            </a:pPr>
            <a:r>
              <a:rPr lang="en-US" sz="1000" dirty="0">
                <a:solidFill>
                  <a:srgbClr val="1B2A3A"/>
                </a:solidFill>
                <a:latin typeface="Calibri" pitchFamily="34" charset="0"/>
                <a:ea typeface="Calibri" pitchFamily="34" charset="-122"/>
                <a:cs typeface="Calibri" pitchFamily="34" charset="-120"/>
              </a:rPr>
              <a:t>Jane</a:t>
            </a:r>
            <a:endParaRPr lang="en-US" sz="1000" dirty="0"/>
          </a:p>
        </p:txBody>
      </p:sp>
      <p:sp>
        <p:nvSpPr>
          <p:cNvPr id="16" name="Shape 13"/>
          <p:cNvSpPr/>
          <p:nvPr/>
        </p:nvSpPr>
        <p:spPr>
          <a:xfrm>
            <a:off x="2144268" y="3308299"/>
            <a:ext cx="182880" cy="182880"/>
          </a:xfrm>
          <a:prstGeom prst="ellipse">
            <a:avLst/>
          </a:prstGeom>
          <a:solidFill>
            <a:srgbClr val="5B6B7B"/>
          </a:solidFill>
          <a:ln w="12700">
            <a:solidFill>
              <a:srgbClr val="FFFFFF"/>
            </a:solidFill>
            <a:prstDash val="solid"/>
          </a:ln>
        </p:spPr>
        <p:txBody>
          <a:bodyPr/>
          <a:lstStyle/>
          <a:p>
            <a:endParaRPr/>
          </a:p>
        </p:txBody>
      </p:sp>
      <p:sp>
        <p:nvSpPr>
          <p:cNvPr id="17" name="Text 14"/>
          <p:cNvSpPr txBox="1"/>
          <p:nvPr/>
        </p:nvSpPr>
        <p:spPr>
          <a:xfrm>
            <a:off x="2382012" y="3308299"/>
            <a:ext cx="1737360" cy="182880"/>
          </a:xfrm>
          <a:prstGeom prst="rect">
            <a:avLst/>
          </a:prstGeom>
          <a:noFill/>
          <a:ln/>
        </p:spPr>
        <p:txBody>
          <a:bodyPr wrap="square" lIns="0" tIns="0" rIns="0" bIns="0" rtlCol="0" anchor="ctr"/>
          <a:lstStyle/>
          <a:p>
            <a:pPr marL="0" indent="0">
              <a:buNone/>
            </a:pPr>
            <a:r>
              <a:rPr lang="en-US" sz="1000" dirty="0">
                <a:solidFill>
                  <a:srgbClr val="1B2A3A"/>
                </a:solidFill>
                <a:latin typeface="Calibri" pitchFamily="34" charset="0"/>
                <a:ea typeface="Calibri" pitchFamily="34" charset="-122"/>
                <a:cs typeface="Calibri" pitchFamily="34" charset="-120"/>
              </a:rPr>
              <a:t>Okadoc / GCC booking apps</a:t>
            </a:r>
            <a:endParaRPr lang="en-US" sz="1000" dirty="0"/>
          </a:p>
        </p:txBody>
      </p:sp>
      <p:sp>
        <p:nvSpPr>
          <p:cNvPr id="18" name="Shape 15"/>
          <p:cNvSpPr/>
          <p:nvPr/>
        </p:nvSpPr>
        <p:spPr>
          <a:xfrm>
            <a:off x="832104" y="3769157"/>
            <a:ext cx="182880" cy="182880"/>
          </a:xfrm>
          <a:prstGeom prst="ellipse">
            <a:avLst/>
          </a:prstGeom>
          <a:solidFill>
            <a:srgbClr val="5B6B7B"/>
          </a:solidFill>
          <a:ln w="12700">
            <a:solidFill>
              <a:srgbClr val="FFFFFF"/>
            </a:solidFill>
            <a:prstDash val="solid"/>
          </a:ln>
        </p:spPr>
        <p:txBody>
          <a:bodyPr/>
          <a:lstStyle/>
          <a:p>
            <a:endParaRPr/>
          </a:p>
        </p:txBody>
      </p:sp>
      <p:sp>
        <p:nvSpPr>
          <p:cNvPr id="19" name="Text 16"/>
          <p:cNvSpPr txBox="1"/>
          <p:nvPr/>
        </p:nvSpPr>
        <p:spPr>
          <a:xfrm>
            <a:off x="1069848" y="3769157"/>
            <a:ext cx="1737360" cy="182880"/>
          </a:xfrm>
          <a:prstGeom prst="rect">
            <a:avLst/>
          </a:prstGeom>
          <a:noFill/>
          <a:ln/>
        </p:spPr>
        <p:txBody>
          <a:bodyPr wrap="square" lIns="0" tIns="0" rIns="0" bIns="0" rtlCol="0" anchor="ctr"/>
          <a:lstStyle/>
          <a:p>
            <a:pPr marL="0" indent="0">
              <a:buNone/>
            </a:pPr>
            <a:r>
              <a:rPr lang="en-US" sz="1000" dirty="0">
                <a:solidFill>
                  <a:srgbClr val="1B2A3A"/>
                </a:solidFill>
                <a:latin typeface="Calibri" pitchFamily="34" charset="0"/>
                <a:ea typeface="Calibri" pitchFamily="34" charset="-122"/>
                <a:cs typeface="Calibri" pitchFamily="34" charset="-120"/>
              </a:rPr>
              <a:t>Local HMS vendors (BD)</a:t>
            </a:r>
            <a:endParaRPr lang="en-US" sz="1000" dirty="0"/>
          </a:p>
        </p:txBody>
      </p:sp>
      <p:sp>
        <p:nvSpPr>
          <p:cNvPr id="20" name="Shape 17"/>
          <p:cNvSpPr/>
          <p:nvPr/>
        </p:nvSpPr>
        <p:spPr>
          <a:xfrm>
            <a:off x="4937760" y="960120"/>
            <a:ext cx="3749040" cy="548640"/>
          </a:xfrm>
          <a:prstGeom prst="roundRect">
            <a:avLst>
              <a:gd name="adj" fmla="val 13333"/>
            </a:avLst>
          </a:prstGeom>
          <a:solidFill>
            <a:srgbClr val="EEF4F7"/>
          </a:solidFill>
          <a:ln w="12700">
            <a:solidFill>
              <a:srgbClr val="EEF4F7"/>
            </a:solidFill>
            <a:prstDash val="solid"/>
          </a:ln>
        </p:spPr>
        <p:txBody>
          <a:bodyPr/>
          <a:lstStyle/>
          <a:p>
            <a:endParaRPr/>
          </a:p>
        </p:txBody>
      </p:sp>
      <p:sp>
        <p:nvSpPr>
          <p:cNvPr id="21" name="Text 18"/>
          <p:cNvSpPr txBox="1"/>
          <p:nvPr/>
        </p:nvSpPr>
        <p:spPr>
          <a:xfrm>
            <a:off x="5074920" y="1005840"/>
            <a:ext cx="3474720" cy="201168"/>
          </a:xfrm>
          <a:prstGeom prst="rect">
            <a:avLst/>
          </a:prstGeom>
          <a:noFill/>
          <a:ln/>
        </p:spPr>
        <p:txBody>
          <a:bodyPr wrap="square" lIns="0" tIns="0" rIns="0" bIns="0" rtlCol="0" anchor="t"/>
          <a:lstStyle/>
          <a:p>
            <a:pPr marL="0" indent="0">
              <a:buNone/>
            </a:pPr>
            <a:r>
              <a:rPr lang="en-US" sz="1100" b="1" dirty="0">
                <a:solidFill>
                  <a:srgbClr val="0B2545"/>
                </a:solidFill>
                <a:latin typeface="Calibri" pitchFamily="34" charset="0"/>
                <a:ea typeface="Calibri" pitchFamily="34" charset="-122"/>
                <a:cs typeface="Calibri" pitchFamily="34" charset="-120"/>
              </a:rPr>
              <a:t>Weave (Canada)</a:t>
            </a:r>
            <a:endParaRPr lang="en-US" sz="1100" dirty="0"/>
          </a:p>
        </p:txBody>
      </p:sp>
      <p:sp>
        <p:nvSpPr>
          <p:cNvPr id="22" name="Text 19"/>
          <p:cNvSpPr txBox="1"/>
          <p:nvPr/>
        </p:nvSpPr>
        <p:spPr>
          <a:xfrm>
            <a:off x="5074920" y="1216152"/>
            <a:ext cx="3474720" cy="274320"/>
          </a:xfrm>
          <a:prstGeom prst="rect">
            <a:avLst/>
          </a:prstGeom>
          <a:noFill/>
          <a:ln/>
        </p:spPr>
        <p:txBody>
          <a:bodyPr wrap="square" lIns="0" tIns="0" rIns="0" bIns="0" rtlCol="0" anchor="t"/>
          <a:lstStyle/>
          <a:p>
            <a:pPr marL="0" indent="0">
              <a:buNone/>
            </a:pPr>
            <a:r>
              <a:rPr lang="en-US" sz="950" dirty="0">
                <a:solidFill>
                  <a:srgbClr val="5B6B7B"/>
                </a:solidFill>
                <a:latin typeface="Calibri" pitchFamily="34" charset="0"/>
                <a:ea typeface="Calibri" pitchFamily="34" charset="-122"/>
                <a:cs typeface="Calibri" pitchFamily="34" charset="-120"/>
              </a:rPr>
              <a:t>$199–599 per location per month plus setup fees</a:t>
            </a:r>
            <a:endParaRPr lang="en-US" sz="950" dirty="0"/>
          </a:p>
        </p:txBody>
      </p:sp>
      <p:sp>
        <p:nvSpPr>
          <p:cNvPr id="23" name="Shape 20"/>
          <p:cNvSpPr/>
          <p:nvPr/>
        </p:nvSpPr>
        <p:spPr>
          <a:xfrm>
            <a:off x="4937760" y="1581912"/>
            <a:ext cx="3749040" cy="548640"/>
          </a:xfrm>
          <a:prstGeom prst="roundRect">
            <a:avLst>
              <a:gd name="adj" fmla="val 13333"/>
            </a:avLst>
          </a:prstGeom>
          <a:solidFill>
            <a:srgbClr val="EEF4F7"/>
          </a:solidFill>
          <a:ln w="12700">
            <a:solidFill>
              <a:srgbClr val="EEF4F7"/>
            </a:solidFill>
            <a:prstDash val="solid"/>
          </a:ln>
        </p:spPr>
        <p:txBody>
          <a:bodyPr/>
          <a:lstStyle/>
          <a:p>
            <a:endParaRPr/>
          </a:p>
        </p:txBody>
      </p:sp>
      <p:sp>
        <p:nvSpPr>
          <p:cNvPr id="24" name="Text 21"/>
          <p:cNvSpPr txBox="1"/>
          <p:nvPr/>
        </p:nvSpPr>
        <p:spPr>
          <a:xfrm>
            <a:off x="5074920" y="1627632"/>
            <a:ext cx="3474720" cy="201168"/>
          </a:xfrm>
          <a:prstGeom prst="rect">
            <a:avLst/>
          </a:prstGeom>
          <a:noFill/>
          <a:ln/>
        </p:spPr>
        <p:txBody>
          <a:bodyPr wrap="square" lIns="0" tIns="0" rIns="0" bIns="0" rtlCol="0" anchor="t"/>
          <a:lstStyle/>
          <a:p>
            <a:pPr marL="0" indent="0">
              <a:buNone/>
            </a:pPr>
            <a:r>
              <a:rPr lang="en-US" sz="1100" b="1" dirty="0">
                <a:solidFill>
                  <a:srgbClr val="0B2545"/>
                </a:solidFill>
                <a:latin typeface="Calibri" pitchFamily="34" charset="0"/>
                <a:ea typeface="Calibri" pitchFamily="34" charset="-122"/>
                <a:cs typeface="Calibri" pitchFamily="34" charset="-120"/>
              </a:rPr>
              <a:t>Jane (Canada)</a:t>
            </a:r>
            <a:endParaRPr lang="en-US" sz="1100" dirty="0"/>
          </a:p>
        </p:txBody>
      </p:sp>
      <p:sp>
        <p:nvSpPr>
          <p:cNvPr id="25" name="Text 22"/>
          <p:cNvSpPr txBox="1"/>
          <p:nvPr/>
        </p:nvSpPr>
        <p:spPr>
          <a:xfrm>
            <a:off x="5074920" y="1837944"/>
            <a:ext cx="3474720" cy="274320"/>
          </a:xfrm>
          <a:prstGeom prst="rect">
            <a:avLst/>
          </a:prstGeom>
          <a:noFill/>
          <a:ln/>
        </p:spPr>
        <p:txBody>
          <a:bodyPr wrap="square" lIns="0" tIns="0" rIns="0" bIns="0" rtlCol="0" anchor="t"/>
          <a:lstStyle/>
          <a:p>
            <a:pPr marL="0" indent="0">
              <a:buNone/>
            </a:pPr>
            <a:r>
              <a:rPr lang="en-US" sz="950" dirty="0">
                <a:solidFill>
                  <a:srgbClr val="5B6B7B"/>
                </a:solidFill>
                <a:latin typeface="Calibri" pitchFamily="34" charset="0"/>
                <a:ea typeface="Calibri" pitchFamily="34" charset="-122"/>
                <a:cs typeface="Calibri" pitchFamily="34" charset="-120"/>
              </a:rPr>
              <a:t>Practice management with built-in reminders</a:t>
            </a:r>
            <a:endParaRPr lang="en-US" sz="950" dirty="0"/>
          </a:p>
        </p:txBody>
      </p:sp>
      <p:sp>
        <p:nvSpPr>
          <p:cNvPr id="26" name="Shape 23"/>
          <p:cNvSpPr/>
          <p:nvPr/>
        </p:nvSpPr>
        <p:spPr>
          <a:xfrm>
            <a:off x="4937760" y="2203704"/>
            <a:ext cx="3749040" cy="548640"/>
          </a:xfrm>
          <a:prstGeom prst="roundRect">
            <a:avLst>
              <a:gd name="adj" fmla="val 13333"/>
            </a:avLst>
          </a:prstGeom>
          <a:solidFill>
            <a:srgbClr val="EEF4F7"/>
          </a:solidFill>
          <a:ln w="12700">
            <a:solidFill>
              <a:srgbClr val="EEF4F7"/>
            </a:solidFill>
            <a:prstDash val="solid"/>
          </a:ln>
        </p:spPr>
        <p:txBody>
          <a:bodyPr/>
          <a:lstStyle/>
          <a:p>
            <a:endParaRPr/>
          </a:p>
        </p:txBody>
      </p:sp>
      <p:sp>
        <p:nvSpPr>
          <p:cNvPr id="27" name="Text 24"/>
          <p:cNvSpPr txBox="1"/>
          <p:nvPr/>
        </p:nvSpPr>
        <p:spPr>
          <a:xfrm>
            <a:off x="5074920" y="2249424"/>
            <a:ext cx="3474720" cy="201168"/>
          </a:xfrm>
          <a:prstGeom prst="rect">
            <a:avLst/>
          </a:prstGeom>
          <a:noFill/>
          <a:ln/>
        </p:spPr>
        <p:txBody>
          <a:bodyPr wrap="square" lIns="0" tIns="0" rIns="0" bIns="0" rtlCol="0" anchor="t"/>
          <a:lstStyle/>
          <a:p>
            <a:pPr marL="0" indent="0">
              <a:buNone/>
            </a:pPr>
            <a:r>
              <a:rPr lang="en-US" sz="1100" b="1" dirty="0">
                <a:solidFill>
                  <a:srgbClr val="0B2545"/>
                </a:solidFill>
                <a:latin typeface="Calibri" pitchFamily="34" charset="0"/>
                <a:ea typeface="Calibri" pitchFamily="34" charset="-122"/>
                <a:cs typeface="Calibri" pitchFamily="34" charset="-120"/>
              </a:rPr>
              <a:t>Okadoc and GCC booking apps</a:t>
            </a:r>
            <a:endParaRPr lang="en-US" sz="1100" dirty="0"/>
          </a:p>
        </p:txBody>
      </p:sp>
      <p:sp>
        <p:nvSpPr>
          <p:cNvPr id="28" name="Text 25"/>
          <p:cNvSpPr txBox="1"/>
          <p:nvPr/>
        </p:nvSpPr>
        <p:spPr>
          <a:xfrm>
            <a:off x="5074920" y="2459736"/>
            <a:ext cx="3474720" cy="274320"/>
          </a:xfrm>
          <a:prstGeom prst="rect">
            <a:avLst/>
          </a:prstGeom>
          <a:noFill/>
          <a:ln/>
        </p:spPr>
        <p:txBody>
          <a:bodyPr wrap="square" lIns="0" tIns="0" rIns="0" bIns="0" rtlCol="0" anchor="t"/>
          <a:lstStyle/>
          <a:p>
            <a:pPr marL="0" indent="0">
              <a:buNone/>
            </a:pPr>
            <a:r>
              <a:rPr lang="en-US" sz="950" dirty="0">
                <a:solidFill>
                  <a:srgbClr val="5B6B7B"/>
                </a:solidFill>
                <a:latin typeface="Calibri" pitchFamily="34" charset="0"/>
                <a:ea typeface="Calibri" pitchFamily="34" charset="-122"/>
                <a:cs typeface="Calibri" pitchFamily="34" charset="-120"/>
              </a:rPr>
              <a:t>Booking first, light follow-up</a:t>
            </a:r>
            <a:endParaRPr lang="en-US" sz="950" dirty="0"/>
          </a:p>
        </p:txBody>
      </p:sp>
      <p:sp>
        <p:nvSpPr>
          <p:cNvPr id="29" name="Shape 26"/>
          <p:cNvSpPr/>
          <p:nvPr/>
        </p:nvSpPr>
        <p:spPr>
          <a:xfrm>
            <a:off x="4937760" y="2825496"/>
            <a:ext cx="3749040" cy="548640"/>
          </a:xfrm>
          <a:prstGeom prst="roundRect">
            <a:avLst>
              <a:gd name="adj" fmla="val 13333"/>
            </a:avLst>
          </a:prstGeom>
          <a:solidFill>
            <a:srgbClr val="EEF4F7"/>
          </a:solidFill>
          <a:ln w="12700">
            <a:solidFill>
              <a:srgbClr val="EEF4F7"/>
            </a:solidFill>
            <a:prstDash val="solid"/>
          </a:ln>
        </p:spPr>
        <p:txBody>
          <a:bodyPr/>
          <a:lstStyle/>
          <a:p>
            <a:endParaRPr/>
          </a:p>
        </p:txBody>
      </p:sp>
      <p:sp>
        <p:nvSpPr>
          <p:cNvPr id="30" name="Text 27"/>
          <p:cNvSpPr txBox="1"/>
          <p:nvPr/>
        </p:nvSpPr>
        <p:spPr>
          <a:xfrm>
            <a:off x="5074920" y="2871216"/>
            <a:ext cx="3474720" cy="201168"/>
          </a:xfrm>
          <a:prstGeom prst="rect">
            <a:avLst/>
          </a:prstGeom>
          <a:noFill/>
          <a:ln/>
        </p:spPr>
        <p:txBody>
          <a:bodyPr wrap="square" lIns="0" tIns="0" rIns="0" bIns="0" rtlCol="0" anchor="t"/>
          <a:lstStyle/>
          <a:p>
            <a:pPr marL="0" indent="0">
              <a:buNone/>
            </a:pPr>
            <a:r>
              <a:rPr lang="en-US" sz="1100" b="1" dirty="0">
                <a:solidFill>
                  <a:srgbClr val="0B2545"/>
                </a:solidFill>
                <a:latin typeface="Calibri" pitchFamily="34" charset="0"/>
                <a:ea typeface="Calibri" pitchFamily="34" charset="-122"/>
                <a:cs typeface="Calibri" pitchFamily="34" charset="-120"/>
              </a:rPr>
              <a:t>Local HMS vendors (BD)</a:t>
            </a:r>
            <a:endParaRPr lang="en-US" sz="1100" dirty="0"/>
          </a:p>
        </p:txBody>
      </p:sp>
      <p:sp>
        <p:nvSpPr>
          <p:cNvPr id="31" name="Text 28"/>
          <p:cNvSpPr txBox="1"/>
          <p:nvPr/>
        </p:nvSpPr>
        <p:spPr>
          <a:xfrm>
            <a:off x="5074920" y="3081528"/>
            <a:ext cx="3474720" cy="274320"/>
          </a:xfrm>
          <a:prstGeom prst="rect">
            <a:avLst/>
          </a:prstGeom>
          <a:noFill/>
          <a:ln/>
        </p:spPr>
        <p:txBody>
          <a:bodyPr wrap="square" lIns="0" tIns="0" rIns="0" bIns="0" rtlCol="0" anchor="t"/>
          <a:lstStyle/>
          <a:p>
            <a:pPr marL="0" indent="0">
              <a:buNone/>
            </a:pPr>
            <a:r>
              <a:rPr lang="en-US" sz="950" dirty="0">
                <a:solidFill>
                  <a:srgbClr val="5B6B7B"/>
                </a:solidFill>
                <a:latin typeface="Calibri" pitchFamily="34" charset="0"/>
                <a:ea typeface="Calibri" pitchFamily="34" charset="-122"/>
                <a:cs typeface="Calibri" pitchFamily="34" charset="-120"/>
              </a:rPr>
              <a:t>BDT 1,000–30,000 per month; software, no outreach</a:t>
            </a:r>
            <a:endParaRPr lang="en-US" sz="950" dirty="0"/>
          </a:p>
        </p:txBody>
      </p:sp>
      <p:sp>
        <p:nvSpPr>
          <p:cNvPr id="32" name="Shape 29"/>
          <p:cNvSpPr/>
          <p:nvPr/>
        </p:nvSpPr>
        <p:spPr>
          <a:xfrm>
            <a:off x="4937760" y="3520440"/>
            <a:ext cx="3749040" cy="868680"/>
          </a:xfrm>
          <a:prstGeom prst="roundRect">
            <a:avLst>
              <a:gd name="adj" fmla="val 8421"/>
            </a:avLst>
          </a:prstGeom>
          <a:solidFill>
            <a:srgbClr val="0B2545"/>
          </a:solidFill>
          <a:ln w="12700">
            <a:solidFill>
              <a:srgbClr val="0B2545"/>
            </a:solidFill>
            <a:prstDash val="solid"/>
          </a:ln>
        </p:spPr>
        <p:txBody>
          <a:bodyPr/>
          <a:lstStyle/>
          <a:p>
            <a:endParaRPr/>
          </a:p>
        </p:txBody>
      </p:sp>
      <p:sp>
        <p:nvSpPr>
          <p:cNvPr id="33" name="Text 30"/>
          <p:cNvSpPr txBox="1"/>
          <p:nvPr/>
        </p:nvSpPr>
        <p:spPr>
          <a:xfrm>
            <a:off x="5074920" y="3520440"/>
            <a:ext cx="3474720" cy="868680"/>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Our edge: event-triggered workflows and AI voice for emerging markets, priced at the level of Weave in the Gulf and Canada, because we recover revenue, not just send reminders.</a:t>
            </a:r>
            <a:endParaRPr lang="en-US" sz="1150" dirty="0"/>
          </a:p>
        </p:txBody>
      </p:sp>
      <p:sp>
        <p:nvSpPr>
          <p:cNvPr id="34" name="Text 31"/>
          <p:cNvSpPr txBox="1"/>
          <p:nvPr/>
        </p:nvSpPr>
        <p:spPr>
          <a:xfrm>
            <a:off x="457200" y="4599432"/>
            <a:ext cx="8229600" cy="182880"/>
          </a:xfrm>
          <a:prstGeom prst="rect">
            <a:avLst/>
          </a:prstGeom>
          <a:noFill/>
          <a:ln/>
        </p:spPr>
        <p:txBody>
          <a:bodyPr wrap="square" lIns="0" tIns="0" rIns="0" bIns="0" rtlCol="0" anchor="t"/>
          <a:lstStyle/>
          <a:p>
            <a:pPr marL="0" indent="0">
              <a:buNone/>
            </a:pPr>
            <a:r>
              <a:rPr lang="en-US" sz="800" dirty="0">
                <a:solidFill>
                  <a:srgbClr val="5B6B7B"/>
                </a:solidFill>
                <a:latin typeface="Calibri" pitchFamily="34" charset="0"/>
                <a:ea typeface="Calibri" pitchFamily="34" charset="-122"/>
                <a:cs typeface="Calibri" pitchFamily="34" charset="-120"/>
              </a:rPr>
              <a:t>Positions are Clarus's own assessment. Pricing: Capterra, G2 and vendor sites, 2026.</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buNone/>
            </a:pPr>
            <a:r>
              <a:rPr lang="en-US" sz="2600" b="1" dirty="0">
                <a:solidFill>
                  <a:srgbClr val="0B2545"/>
                </a:solidFill>
                <a:latin typeface="Calibri" pitchFamily="34" charset="0"/>
                <a:ea typeface="Calibri" pitchFamily="34" charset="-122"/>
                <a:cs typeface="Calibri" pitchFamily="34" charset="-120"/>
              </a:rPr>
              <a:t>Why You Should Invest In Us</a:t>
            </a:r>
            <a:endParaRPr lang="en-US" sz="2600" dirty="0"/>
          </a:p>
        </p:txBody>
      </p:sp>
      <p:sp>
        <p:nvSpPr>
          <p:cNvPr id="3" name="Text 1"/>
          <p:cNvSpPr txBox="1"/>
          <p:nvPr/>
        </p:nvSpPr>
        <p:spPr>
          <a:xfrm>
            <a:off x="457200" y="4818888"/>
            <a:ext cx="4572000" cy="201168"/>
          </a:xfrm>
          <a:prstGeom prst="rect">
            <a:avLst/>
          </a:prstGeom>
          <a:noFill/>
          <a:ln/>
        </p:spPr>
        <p:txBody>
          <a:bodyPr wrap="square" lIns="0" tIns="0" rIns="0" bIns="0" rtlCol="0" anchor="t"/>
          <a:lstStyle/>
          <a:p>
            <a:pPr marL="0" indent="0">
              <a:buNone/>
            </a:pPr>
            <a:r>
              <a:rPr lang="en-US" sz="900" dirty="0">
                <a:solidFill>
                  <a:srgbClr val="5B6B7B"/>
                </a:solidFill>
                <a:latin typeface="Calibri" pitchFamily="34" charset="0"/>
                <a:ea typeface="Calibri" pitchFamily="34" charset="-122"/>
                <a:cs typeface="Calibri" pitchFamily="34" charset="-120"/>
              </a:rPr>
              <a:t>.</a:t>
            </a:r>
            <a:endParaRPr lang="en-US" sz="900" dirty="0"/>
          </a:p>
        </p:txBody>
      </p:sp>
      <p:sp>
        <p:nvSpPr>
          <p:cNvPr id="5" name="Shape 2"/>
          <p:cNvSpPr/>
          <p:nvPr/>
        </p:nvSpPr>
        <p:spPr>
          <a:xfrm>
            <a:off x="457200" y="914400"/>
            <a:ext cx="4023360" cy="868680"/>
          </a:xfrm>
          <a:prstGeom prst="roundRect">
            <a:avLst>
              <a:gd name="adj" fmla="val 8421"/>
            </a:avLst>
          </a:prstGeom>
          <a:solidFill>
            <a:srgbClr val="E3F4F6"/>
          </a:solidFill>
          <a:ln w="12700">
            <a:solidFill>
              <a:srgbClr val="E3F4F6"/>
            </a:solidFill>
            <a:prstDash val="solid"/>
          </a:ln>
        </p:spPr>
        <p:txBody>
          <a:bodyPr/>
          <a:lstStyle/>
          <a:p>
            <a:endParaRPr/>
          </a:p>
        </p:txBody>
      </p:sp>
      <p:sp>
        <p:nvSpPr>
          <p:cNvPr id="6" name="Text 3"/>
          <p:cNvSpPr txBox="1"/>
          <p:nvPr/>
        </p:nvSpPr>
        <p:spPr>
          <a:xfrm>
            <a:off x="640080" y="987552"/>
            <a:ext cx="3657600" cy="256032"/>
          </a:xfrm>
          <a:prstGeom prst="rect">
            <a:avLst/>
          </a:prstGeom>
          <a:noFill/>
          <a:ln/>
        </p:spPr>
        <p:txBody>
          <a:bodyPr wrap="square" lIns="0" tIns="0" rIns="0" bIns="0" rtlCol="0" anchor="t"/>
          <a:lstStyle/>
          <a:p>
            <a:pPr marL="0" indent="0">
              <a:buNone/>
            </a:pPr>
            <a:r>
              <a:rPr lang="en-US" sz="1200" b="1" dirty="0">
                <a:solidFill>
                  <a:srgbClr val="0B2545"/>
                </a:solidFill>
                <a:latin typeface="Calibri" pitchFamily="34" charset="0"/>
                <a:ea typeface="Calibri" pitchFamily="34" charset="-122"/>
                <a:cs typeface="Calibri" pitchFamily="34" charset="-120"/>
              </a:rPr>
              <a:t>No customers yet? The pain is proven.</a:t>
            </a:r>
            <a:endParaRPr lang="en-US" sz="1200" dirty="0"/>
          </a:p>
        </p:txBody>
      </p:sp>
      <p:sp>
        <p:nvSpPr>
          <p:cNvPr id="7" name="Text 4"/>
          <p:cNvSpPr txBox="1"/>
          <p:nvPr/>
        </p:nvSpPr>
        <p:spPr>
          <a:xfrm>
            <a:off x="640080" y="1280160"/>
            <a:ext cx="3657600" cy="457200"/>
          </a:xfrm>
          <a:prstGeom prst="rect">
            <a:avLst/>
          </a:prstGeom>
          <a:noFill/>
          <a:ln/>
        </p:spPr>
        <p:txBody>
          <a:bodyPr wrap="square" lIns="0" tIns="0" rIns="0" bIns="0" rtlCol="0" anchor="t"/>
          <a:lstStyle/>
          <a:p>
            <a:pPr marL="0" indent="0">
              <a:buNone/>
            </a:pPr>
            <a:r>
              <a:rPr lang="en-US" sz="1000" dirty="0">
                <a:solidFill>
                  <a:srgbClr val="1B2A3A"/>
                </a:solidFill>
                <a:latin typeface="Calibri" pitchFamily="34" charset="0"/>
                <a:ea typeface="Calibri" pitchFamily="34" charset="-122"/>
                <a:cs typeface="Calibri" pitchFamily="34" charset="-120"/>
              </a:rPr>
              <a:t>About 23% of visits are missed and each costs around $196. The MVP is built, so pilots start now.</a:t>
            </a:r>
            <a:endParaRPr lang="en-US" sz="1000" dirty="0"/>
          </a:p>
        </p:txBody>
      </p:sp>
      <p:sp>
        <p:nvSpPr>
          <p:cNvPr id="8" name="Shape 5"/>
          <p:cNvSpPr/>
          <p:nvPr/>
        </p:nvSpPr>
        <p:spPr>
          <a:xfrm>
            <a:off x="4663440" y="914400"/>
            <a:ext cx="4023360" cy="868680"/>
          </a:xfrm>
          <a:prstGeom prst="roundRect">
            <a:avLst>
              <a:gd name="adj" fmla="val 8421"/>
            </a:avLst>
          </a:prstGeom>
          <a:solidFill>
            <a:srgbClr val="E3F4F6"/>
          </a:solidFill>
          <a:ln w="12700">
            <a:solidFill>
              <a:srgbClr val="E3F4F6"/>
            </a:solidFill>
            <a:prstDash val="solid"/>
          </a:ln>
        </p:spPr>
        <p:txBody>
          <a:bodyPr/>
          <a:lstStyle/>
          <a:p>
            <a:endParaRPr/>
          </a:p>
        </p:txBody>
      </p:sp>
      <p:sp>
        <p:nvSpPr>
          <p:cNvPr id="9" name="Text 6"/>
          <p:cNvSpPr txBox="1"/>
          <p:nvPr/>
        </p:nvSpPr>
        <p:spPr>
          <a:xfrm>
            <a:off x="4846320" y="987552"/>
            <a:ext cx="3657600" cy="256032"/>
          </a:xfrm>
          <a:prstGeom prst="rect">
            <a:avLst/>
          </a:prstGeom>
          <a:noFill/>
          <a:ln/>
        </p:spPr>
        <p:txBody>
          <a:bodyPr wrap="square" lIns="0" tIns="0" rIns="0" bIns="0" rtlCol="0" anchor="t"/>
          <a:lstStyle/>
          <a:p>
            <a:pPr marL="0" indent="0">
              <a:buNone/>
            </a:pPr>
            <a:r>
              <a:rPr lang="en-US" sz="1200" b="1" dirty="0">
                <a:solidFill>
                  <a:srgbClr val="0B2545"/>
                </a:solidFill>
                <a:latin typeface="Calibri" pitchFamily="34" charset="0"/>
                <a:ea typeface="Calibri" pitchFamily="34" charset="-122"/>
                <a:cs typeface="Calibri" pitchFamily="34" charset="-120"/>
              </a:rPr>
              <a:t>Small home market? We start there on purpose.</a:t>
            </a:r>
            <a:endParaRPr lang="en-US" sz="1200" dirty="0"/>
          </a:p>
        </p:txBody>
      </p:sp>
      <p:sp>
        <p:nvSpPr>
          <p:cNvPr id="10" name="Text 7"/>
          <p:cNvSpPr txBox="1"/>
          <p:nvPr/>
        </p:nvSpPr>
        <p:spPr>
          <a:xfrm>
            <a:off x="4846320" y="1280160"/>
            <a:ext cx="3657600" cy="457200"/>
          </a:xfrm>
          <a:prstGeom prst="rect">
            <a:avLst/>
          </a:prstGeom>
          <a:noFill/>
          <a:ln/>
        </p:spPr>
        <p:txBody>
          <a:bodyPr wrap="square" lIns="0" tIns="0" rIns="0" bIns="0" rtlCol="0" anchor="t"/>
          <a:lstStyle/>
          <a:p>
            <a:pPr marL="0" indent="0">
              <a:buNone/>
            </a:pPr>
            <a:r>
              <a:rPr lang="en-US" sz="1000" dirty="0">
                <a:solidFill>
                  <a:srgbClr val="1B2A3A"/>
                </a:solidFill>
                <a:latin typeface="Calibri" pitchFamily="34" charset="0"/>
                <a:ea typeface="Calibri" pitchFamily="34" charset="-122"/>
                <a:cs typeface="Calibri" pitchFamily="34" charset="-120"/>
              </a:rPr>
              <a:t>Bangladesh is the low-cost base. 82% of 2031 revenue comes from the Gulf and Canada.</a:t>
            </a:r>
            <a:endParaRPr lang="en-US" sz="1000" dirty="0"/>
          </a:p>
        </p:txBody>
      </p:sp>
      <p:sp>
        <p:nvSpPr>
          <p:cNvPr id="11" name="Shape 8"/>
          <p:cNvSpPr/>
          <p:nvPr/>
        </p:nvSpPr>
        <p:spPr>
          <a:xfrm>
            <a:off x="457200" y="1856232"/>
            <a:ext cx="4023360" cy="868680"/>
          </a:xfrm>
          <a:prstGeom prst="roundRect">
            <a:avLst>
              <a:gd name="adj" fmla="val 8421"/>
            </a:avLst>
          </a:prstGeom>
          <a:solidFill>
            <a:srgbClr val="E3F4F6"/>
          </a:solidFill>
          <a:ln w="12700">
            <a:solidFill>
              <a:srgbClr val="E3F4F6"/>
            </a:solidFill>
            <a:prstDash val="solid"/>
          </a:ln>
        </p:spPr>
        <p:txBody>
          <a:bodyPr/>
          <a:lstStyle/>
          <a:p>
            <a:endParaRPr/>
          </a:p>
        </p:txBody>
      </p:sp>
      <p:sp>
        <p:nvSpPr>
          <p:cNvPr id="12" name="Text 9"/>
          <p:cNvSpPr txBox="1"/>
          <p:nvPr/>
        </p:nvSpPr>
        <p:spPr>
          <a:xfrm>
            <a:off x="640080" y="1929384"/>
            <a:ext cx="3657600" cy="256032"/>
          </a:xfrm>
          <a:prstGeom prst="rect">
            <a:avLst/>
          </a:prstGeom>
          <a:noFill/>
          <a:ln/>
        </p:spPr>
        <p:txBody>
          <a:bodyPr wrap="square" lIns="0" tIns="0" rIns="0" bIns="0" rtlCol="0" anchor="t"/>
          <a:lstStyle/>
          <a:p>
            <a:pPr marL="0" indent="0">
              <a:buNone/>
            </a:pPr>
            <a:r>
              <a:rPr lang="en-US" sz="1200" b="1" dirty="0">
                <a:solidFill>
                  <a:srgbClr val="0B2545"/>
                </a:solidFill>
                <a:latin typeface="Calibri" pitchFamily="34" charset="0"/>
                <a:ea typeface="Calibri" pitchFamily="34" charset="-122"/>
                <a:cs typeface="Calibri" pitchFamily="34" charset="-120"/>
              </a:rPr>
              <a:t>Vendors add reminders? We do more.</a:t>
            </a:r>
            <a:endParaRPr lang="en-US" sz="1200" dirty="0"/>
          </a:p>
        </p:txBody>
      </p:sp>
      <p:sp>
        <p:nvSpPr>
          <p:cNvPr id="13" name="Text 10"/>
          <p:cNvSpPr txBox="1"/>
          <p:nvPr/>
        </p:nvSpPr>
        <p:spPr>
          <a:xfrm>
            <a:off x="640080" y="2221992"/>
            <a:ext cx="3657600" cy="457200"/>
          </a:xfrm>
          <a:prstGeom prst="rect">
            <a:avLst/>
          </a:prstGeom>
          <a:noFill/>
          <a:ln/>
        </p:spPr>
        <p:txBody>
          <a:bodyPr wrap="square" lIns="0" tIns="0" rIns="0" bIns="0" rtlCol="0" anchor="t"/>
          <a:lstStyle/>
          <a:p>
            <a:pPr marL="0" indent="0">
              <a:buNone/>
            </a:pPr>
            <a:r>
              <a:rPr lang="en-US" sz="1000" dirty="0">
                <a:solidFill>
                  <a:srgbClr val="1B2A3A"/>
                </a:solidFill>
                <a:latin typeface="Calibri" pitchFamily="34" charset="0"/>
                <a:ea typeface="Calibri" pitchFamily="34" charset="-122"/>
                <a:cs typeface="Calibri" pitchFamily="34" charset="-120"/>
              </a:rPr>
              <a:t>Event-triggered workflows, safety gates, audit trail and AI voice. Rivals are single-market and booking-first.</a:t>
            </a:r>
            <a:endParaRPr lang="en-US" sz="1000" dirty="0"/>
          </a:p>
        </p:txBody>
      </p:sp>
      <p:sp>
        <p:nvSpPr>
          <p:cNvPr id="14" name="Shape 11"/>
          <p:cNvSpPr/>
          <p:nvPr/>
        </p:nvSpPr>
        <p:spPr>
          <a:xfrm>
            <a:off x="4663440" y="1856232"/>
            <a:ext cx="4023360" cy="868680"/>
          </a:xfrm>
          <a:prstGeom prst="roundRect">
            <a:avLst>
              <a:gd name="adj" fmla="val 8421"/>
            </a:avLst>
          </a:prstGeom>
          <a:solidFill>
            <a:srgbClr val="E3F4F6"/>
          </a:solidFill>
          <a:ln w="12700">
            <a:solidFill>
              <a:srgbClr val="E3F4F6"/>
            </a:solidFill>
            <a:prstDash val="solid"/>
          </a:ln>
        </p:spPr>
        <p:txBody>
          <a:bodyPr/>
          <a:lstStyle/>
          <a:p>
            <a:endParaRPr/>
          </a:p>
        </p:txBody>
      </p:sp>
      <p:sp>
        <p:nvSpPr>
          <p:cNvPr id="15" name="Text 12"/>
          <p:cNvSpPr txBox="1"/>
          <p:nvPr/>
        </p:nvSpPr>
        <p:spPr>
          <a:xfrm>
            <a:off x="4846320" y="1929384"/>
            <a:ext cx="3657600" cy="256032"/>
          </a:xfrm>
          <a:prstGeom prst="rect">
            <a:avLst/>
          </a:prstGeom>
          <a:noFill/>
          <a:ln/>
        </p:spPr>
        <p:txBody>
          <a:bodyPr wrap="square" lIns="0" tIns="0" rIns="0" bIns="0" rtlCol="0" anchor="t"/>
          <a:lstStyle/>
          <a:p>
            <a:pPr marL="0" indent="0">
              <a:buNone/>
            </a:pPr>
            <a:r>
              <a:rPr lang="en-US" sz="1200" b="1" dirty="0">
                <a:solidFill>
                  <a:srgbClr val="0B2545"/>
                </a:solidFill>
                <a:latin typeface="Calibri" pitchFamily="34" charset="0"/>
                <a:ea typeface="Calibri" pitchFamily="34" charset="-122"/>
                <a:cs typeface="Calibri" pitchFamily="34" charset="-120"/>
              </a:rPr>
              <a:t>Strict data rules? They are our moat.</a:t>
            </a:r>
            <a:endParaRPr lang="en-US" sz="1200" dirty="0"/>
          </a:p>
        </p:txBody>
      </p:sp>
      <p:sp>
        <p:nvSpPr>
          <p:cNvPr id="16" name="Text 13"/>
          <p:cNvSpPr txBox="1"/>
          <p:nvPr/>
        </p:nvSpPr>
        <p:spPr>
          <a:xfrm>
            <a:off x="4846320" y="2221992"/>
            <a:ext cx="3657600" cy="457200"/>
          </a:xfrm>
          <a:prstGeom prst="rect">
            <a:avLst/>
          </a:prstGeom>
          <a:noFill/>
          <a:ln/>
        </p:spPr>
        <p:txBody>
          <a:bodyPr wrap="square" lIns="0" tIns="0" rIns="0" bIns="0" rtlCol="0" anchor="t"/>
          <a:lstStyle/>
          <a:p>
            <a:pPr marL="0" indent="0">
              <a:buNone/>
            </a:pPr>
            <a:r>
              <a:rPr lang="en-US" sz="1000" dirty="0">
                <a:solidFill>
                  <a:srgbClr val="1B2A3A"/>
                </a:solidFill>
                <a:latin typeface="Calibri" pitchFamily="34" charset="0"/>
                <a:ea typeface="Calibri" pitchFamily="34" charset="-122"/>
                <a:cs typeface="Calibri" pitchFamily="34" charset="-120"/>
              </a:rPr>
              <a:t>In-region hosting and ISO 27001 / SOC 2 are budgeted. Few small rivals will clear that bar.</a:t>
            </a:r>
            <a:endParaRPr lang="en-US" sz="1000" dirty="0"/>
          </a:p>
        </p:txBody>
      </p:sp>
      <p:sp>
        <p:nvSpPr>
          <p:cNvPr id="17" name="Shape 14"/>
          <p:cNvSpPr/>
          <p:nvPr/>
        </p:nvSpPr>
        <p:spPr>
          <a:xfrm>
            <a:off x="457200" y="2798064"/>
            <a:ext cx="4023360" cy="868680"/>
          </a:xfrm>
          <a:prstGeom prst="roundRect">
            <a:avLst>
              <a:gd name="adj" fmla="val 8421"/>
            </a:avLst>
          </a:prstGeom>
          <a:solidFill>
            <a:srgbClr val="E3F4F6"/>
          </a:solidFill>
          <a:ln w="12700">
            <a:solidFill>
              <a:srgbClr val="E3F4F6"/>
            </a:solidFill>
            <a:prstDash val="solid"/>
          </a:ln>
        </p:spPr>
        <p:txBody>
          <a:bodyPr/>
          <a:lstStyle/>
          <a:p>
            <a:endParaRPr/>
          </a:p>
        </p:txBody>
      </p:sp>
      <p:sp>
        <p:nvSpPr>
          <p:cNvPr id="18" name="Text 15"/>
          <p:cNvSpPr txBox="1"/>
          <p:nvPr/>
        </p:nvSpPr>
        <p:spPr>
          <a:xfrm>
            <a:off x="640080" y="2871216"/>
            <a:ext cx="3657600" cy="256032"/>
          </a:xfrm>
          <a:prstGeom prst="rect">
            <a:avLst/>
          </a:prstGeom>
          <a:noFill/>
          <a:ln/>
        </p:spPr>
        <p:txBody>
          <a:bodyPr wrap="square" lIns="0" tIns="0" rIns="0" bIns="0" rtlCol="0" anchor="t"/>
          <a:lstStyle/>
          <a:p>
            <a:pPr marL="0" indent="0">
              <a:buNone/>
            </a:pPr>
            <a:r>
              <a:rPr lang="en-US" sz="1200" b="1" dirty="0">
                <a:solidFill>
                  <a:srgbClr val="0B2545"/>
                </a:solidFill>
                <a:latin typeface="Calibri" pitchFamily="34" charset="0"/>
                <a:ea typeface="Calibri" pitchFamily="34" charset="-122"/>
                <a:cs typeface="Calibri" pitchFamily="34" charset="-120"/>
              </a:rPr>
              <a:t>High prices? They follow the value.</a:t>
            </a:r>
            <a:endParaRPr lang="en-US" sz="1200" dirty="0"/>
          </a:p>
        </p:txBody>
      </p:sp>
      <p:sp>
        <p:nvSpPr>
          <p:cNvPr id="19" name="Text 16"/>
          <p:cNvSpPr txBox="1"/>
          <p:nvPr/>
        </p:nvSpPr>
        <p:spPr>
          <a:xfrm>
            <a:off x="640080" y="3163824"/>
            <a:ext cx="3657600" cy="457200"/>
          </a:xfrm>
          <a:prstGeom prst="rect">
            <a:avLst/>
          </a:prstGeom>
          <a:noFill/>
          <a:ln/>
        </p:spPr>
        <p:txBody>
          <a:bodyPr wrap="square" lIns="0" tIns="0" rIns="0" bIns="0" rtlCol="0" anchor="t"/>
          <a:lstStyle/>
          <a:p>
            <a:pPr marL="0" indent="0">
              <a:buNone/>
            </a:pPr>
            <a:r>
              <a:rPr lang="en-US" sz="1000" dirty="0">
                <a:solidFill>
                  <a:srgbClr val="1B2A3A"/>
                </a:solidFill>
                <a:latin typeface="Calibri" pitchFamily="34" charset="0"/>
                <a:ea typeface="Calibri" pitchFamily="34" charset="-122"/>
                <a:cs typeface="Calibri" pitchFamily="34" charset="-120"/>
              </a:rPr>
              <a:t>A $500 monthly plan is paid back by 4 to 6 recovered visits. Gulf and Canada prices match Weave.</a:t>
            </a:r>
            <a:endParaRPr lang="en-US" sz="1000" dirty="0"/>
          </a:p>
        </p:txBody>
      </p:sp>
      <p:sp>
        <p:nvSpPr>
          <p:cNvPr id="20" name="Shape 17"/>
          <p:cNvSpPr/>
          <p:nvPr/>
        </p:nvSpPr>
        <p:spPr>
          <a:xfrm>
            <a:off x="4663440" y="2798064"/>
            <a:ext cx="4023360" cy="868680"/>
          </a:xfrm>
          <a:prstGeom prst="roundRect">
            <a:avLst>
              <a:gd name="adj" fmla="val 8421"/>
            </a:avLst>
          </a:prstGeom>
          <a:solidFill>
            <a:srgbClr val="E3F4F6"/>
          </a:solidFill>
          <a:ln w="12700">
            <a:solidFill>
              <a:srgbClr val="E3F4F6"/>
            </a:solidFill>
            <a:prstDash val="solid"/>
          </a:ln>
        </p:spPr>
        <p:txBody>
          <a:bodyPr/>
          <a:lstStyle/>
          <a:p>
            <a:endParaRPr/>
          </a:p>
        </p:txBody>
      </p:sp>
      <p:sp>
        <p:nvSpPr>
          <p:cNvPr id="21" name="Text 18"/>
          <p:cNvSpPr txBox="1"/>
          <p:nvPr/>
        </p:nvSpPr>
        <p:spPr>
          <a:xfrm>
            <a:off x="4846320" y="2871216"/>
            <a:ext cx="3657600" cy="256032"/>
          </a:xfrm>
          <a:prstGeom prst="rect">
            <a:avLst/>
          </a:prstGeom>
          <a:noFill/>
          <a:ln/>
        </p:spPr>
        <p:txBody>
          <a:bodyPr wrap="square" lIns="0" tIns="0" rIns="0" bIns="0" rtlCol="0" anchor="t"/>
          <a:lstStyle/>
          <a:p>
            <a:pPr marL="0" indent="0">
              <a:buNone/>
            </a:pPr>
            <a:r>
              <a:rPr lang="en-US" sz="1200" b="1" dirty="0">
                <a:solidFill>
                  <a:srgbClr val="0B2545"/>
                </a:solidFill>
                <a:latin typeface="Calibri" pitchFamily="34" charset="0"/>
                <a:ea typeface="Calibri" pitchFamily="34" charset="-122"/>
                <a:cs typeface="Calibri" pitchFamily="34" charset="-120"/>
              </a:rPr>
              <a:t>Needs a telecom partner? Voice is upside.</a:t>
            </a:r>
            <a:endParaRPr lang="en-US" sz="1200" dirty="0"/>
          </a:p>
        </p:txBody>
      </p:sp>
      <p:sp>
        <p:nvSpPr>
          <p:cNvPr id="22" name="Text 19"/>
          <p:cNvSpPr txBox="1"/>
          <p:nvPr/>
        </p:nvSpPr>
        <p:spPr>
          <a:xfrm>
            <a:off x="4846320" y="3163824"/>
            <a:ext cx="3657600" cy="457200"/>
          </a:xfrm>
          <a:prstGeom prst="rect">
            <a:avLst/>
          </a:prstGeom>
          <a:noFill/>
          <a:ln/>
        </p:spPr>
        <p:txBody>
          <a:bodyPr wrap="square" lIns="0" tIns="0" rIns="0" bIns="0" rtlCol="0" anchor="t"/>
          <a:lstStyle/>
          <a:p>
            <a:pPr marL="0" indent="0">
              <a:buNone/>
            </a:pPr>
            <a:r>
              <a:rPr lang="en-US" sz="1000" dirty="0">
                <a:solidFill>
                  <a:srgbClr val="1B2A3A"/>
                </a:solidFill>
                <a:latin typeface="Calibri" pitchFamily="34" charset="0"/>
                <a:ea typeface="Calibri" pitchFamily="34" charset="-122"/>
                <a:cs typeface="Calibri" pitchFamily="34" charset="-120"/>
              </a:rPr>
              <a:t>WhatsApp and SMS work on day one. AI voice is an upsell once an IPTSP partner is in place.</a:t>
            </a:r>
            <a:endParaRPr lang="en-US" sz="1000" dirty="0"/>
          </a:p>
        </p:txBody>
      </p:sp>
      <p:sp>
        <p:nvSpPr>
          <p:cNvPr id="23" name="Shape 20"/>
          <p:cNvSpPr/>
          <p:nvPr/>
        </p:nvSpPr>
        <p:spPr>
          <a:xfrm>
            <a:off x="457200" y="3794760"/>
            <a:ext cx="8229600" cy="731520"/>
          </a:xfrm>
          <a:prstGeom prst="roundRect">
            <a:avLst>
              <a:gd name="adj" fmla="val 10000"/>
            </a:avLst>
          </a:prstGeom>
          <a:solidFill>
            <a:srgbClr val="0B2545"/>
          </a:solidFill>
          <a:ln w="12700">
            <a:solidFill>
              <a:srgbClr val="0B2545"/>
            </a:solidFill>
            <a:prstDash val="solid"/>
          </a:ln>
        </p:spPr>
        <p:txBody>
          <a:bodyPr/>
          <a:lstStyle/>
          <a:p>
            <a:endParaRPr/>
          </a:p>
        </p:txBody>
      </p:sp>
      <p:sp>
        <p:nvSpPr>
          <p:cNvPr id="24" name="Text 21"/>
          <p:cNvSpPr txBox="1"/>
          <p:nvPr/>
        </p:nvSpPr>
        <p:spPr>
          <a:xfrm>
            <a:off x="685800" y="3794760"/>
            <a:ext cx="7772400" cy="73152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Profitable from 2029, 87% gross margin by 2031 and a 9.5x base-case return at a $3.1M cap. Backing us now means getting in before the growth.</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buNone/>
            </a:pPr>
            <a:r>
              <a:rPr lang="en-US" sz="2600" b="1" dirty="0">
                <a:solidFill>
                  <a:srgbClr val="0B2545"/>
                </a:solidFill>
                <a:latin typeface="Calibri" pitchFamily="34" charset="0"/>
                <a:ea typeface="Calibri" pitchFamily="34" charset="-122"/>
                <a:cs typeface="Calibri" pitchFamily="34" charset="-120"/>
              </a:rPr>
              <a:t>Go-To-Market Strategy</a:t>
            </a:r>
            <a:endParaRPr lang="en-US" sz="2600" dirty="0"/>
          </a:p>
        </p:txBody>
      </p:sp>
      <p:sp>
        <p:nvSpPr>
          <p:cNvPr id="5" name="Shape 2"/>
          <p:cNvSpPr/>
          <p:nvPr/>
        </p:nvSpPr>
        <p:spPr>
          <a:xfrm>
            <a:off x="457200" y="914400"/>
            <a:ext cx="4023360" cy="1965960"/>
          </a:xfrm>
          <a:prstGeom prst="roundRect">
            <a:avLst>
              <a:gd name="adj" fmla="val 3721"/>
            </a:avLst>
          </a:prstGeom>
          <a:solidFill>
            <a:srgbClr val="EEF4F7"/>
          </a:solidFill>
          <a:ln w="12700">
            <a:solidFill>
              <a:srgbClr val="EEF4F7"/>
            </a:solidFill>
            <a:prstDash val="solid"/>
          </a:ln>
        </p:spPr>
        <p:txBody>
          <a:bodyPr/>
          <a:lstStyle/>
          <a:p>
            <a:endParaRPr/>
          </a:p>
        </p:txBody>
      </p:sp>
      <p:sp>
        <p:nvSpPr>
          <p:cNvPr id="6" name="Text 3"/>
          <p:cNvSpPr txBox="1"/>
          <p:nvPr/>
        </p:nvSpPr>
        <p:spPr>
          <a:xfrm>
            <a:off x="640080" y="1024128"/>
            <a:ext cx="3657600" cy="320040"/>
          </a:xfrm>
          <a:prstGeom prst="rect">
            <a:avLst/>
          </a:prstGeom>
          <a:noFill/>
          <a:ln/>
        </p:spPr>
        <p:txBody>
          <a:bodyPr wrap="square" lIns="0" tIns="0" rIns="0" bIns="0" rtlCol="0" anchor="t"/>
          <a:lstStyle/>
          <a:p>
            <a:pPr marL="0" indent="0">
              <a:buNone/>
            </a:pPr>
            <a:r>
              <a:rPr lang="en-US" sz="1400" b="1" dirty="0">
                <a:solidFill>
                  <a:srgbClr val="0E9AA7"/>
                </a:solidFill>
                <a:latin typeface="Calibri" pitchFamily="34" charset="0"/>
                <a:ea typeface="Calibri" pitchFamily="34" charset="-122"/>
                <a:cs typeface="Calibri" pitchFamily="34" charset="-120"/>
              </a:rPr>
              <a:t>1. Founder-led pilots and direct sales</a:t>
            </a:r>
            <a:endParaRPr lang="en-US" sz="1400" dirty="0"/>
          </a:p>
        </p:txBody>
      </p:sp>
      <p:sp>
        <p:nvSpPr>
          <p:cNvPr id="7" name="Text 4"/>
          <p:cNvSpPr txBox="1"/>
          <p:nvPr/>
        </p:nvSpPr>
        <p:spPr>
          <a:xfrm>
            <a:off x="640080" y="1417320"/>
            <a:ext cx="3657600" cy="1417320"/>
          </a:xfrm>
          <a:prstGeom prst="rect">
            <a:avLst/>
          </a:prstGeom>
          <a:noFill/>
          <a:ln/>
        </p:spPr>
        <p:txBody>
          <a:bodyPr wrap="square" lIns="0" tIns="0" rIns="0" bIns="0" rtlCol="0" anchor="t"/>
          <a:lstStyle/>
          <a:p>
            <a:pPr marL="0" indent="0">
              <a:buNone/>
            </a:pPr>
            <a:r>
              <a:rPr lang="en-US" sz="1100" dirty="0">
                <a:solidFill>
                  <a:srgbClr val="1B2A3A"/>
                </a:solidFill>
                <a:latin typeface="Calibri" pitchFamily="34" charset="0"/>
                <a:ea typeface="Calibri" pitchFamily="34" charset="-122"/>
                <a:cs typeface="Calibri" pitchFamily="34" charset="-120"/>
              </a:rPr>
              <a:t>Private, dental and diagnostic clinics with a digital front desk. Founders close the first customers with free pilots. Then one account executive per market: Dhaka and Chattogram field reps, a Dubai country manager.</a:t>
            </a:r>
            <a:endParaRPr lang="en-US" sz="1100" dirty="0"/>
          </a:p>
        </p:txBody>
      </p:sp>
      <p:sp>
        <p:nvSpPr>
          <p:cNvPr id="8" name="Shape 5"/>
          <p:cNvSpPr/>
          <p:nvPr/>
        </p:nvSpPr>
        <p:spPr>
          <a:xfrm>
            <a:off x="4663440" y="914400"/>
            <a:ext cx="4023360" cy="1965960"/>
          </a:xfrm>
          <a:prstGeom prst="roundRect">
            <a:avLst>
              <a:gd name="adj" fmla="val 3721"/>
            </a:avLst>
          </a:prstGeom>
          <a:solidFill>
            <a:srgbClr val="EEF4F7"/>
          </a:solidFill>
          <a:ln w="12700">
            <a:solidFill>
              <a:srgbClr val="EEF4F7"/>
            </a:solidFill>
            <a:prstDash val="solid"/>
          </a:ln>
        </p:spPr>
        <p:txBody>
          <a:bodyPr/>
          <a:lstStyle/>
          <a:p>
            <a:endParaRPr/>
          </a:p>
        </p:txBody>
      </p:sp>
      <p:sp>
        <p:nvSpPr>
          <p:cNvPr id="9" name="Text 6"/>
          <p:cNvSpPr txBox="1"/>
          <p:nvPr/>
        </p:nvSpPr>
        <p:spPr>
          <a:xfrm>
            <a:off x="4846320" y="1024128"/>
            <a:ext cx="3657600" cy="320040"/>
          </a:xfrm>
          <a:prstGeom prst="rect">
            <a:avLst/>
          </a:prstGeom>
          <a:noFill/>
          <a:ln/>
        </p:spPr>
        <p:txBody>
          <a:bodyPr wrap="square" lIns="0" tIns="0" rIns="0" bIns="0" rtlCol="0" anchor="t"/>
          <a:lstStyle/>
          <a:p>
            <a:pPr marL="0" indent="0">
              <a:buNone/>
            </a:pPr>
            <a:r>
              <a:rPr lang="en-US" sz="1400" b="1" dirty="0">
                <a:solidFill>
                  <a:srgbClr val="0E9AA7"/>
                </a:solidFill>
                <a:latin typeface="Calibri" pitchFamily="34" charset="0"/>
                <a:ea typeface="Calibri" pitchFamily="34" charset="-122"/>
                <a:cs typeface="Calibri" pitchFamily="34" charset="-120"/>
              </a:rPr>
              <a:t>2. Partners and events</a:t>
            </a:r>
            <a:endParaRPr lang="en-US" sz="1400" dirty="0"/>
          </a:p>
        </p:txBody>
      </p:sp>
      <p:sp>
        <p:nvSpPr>
          <p:cNvPr id="10" name="Text 7"/>
          <p:cNvSpPr txBox="1"/>
          <p:nvPr/>
        </p:nvSpPr>
        <p:spPr>
          <a:xfrm>
            <a:off x="4846320" y="1417320"/>
            <a:ext cx="3657600" cy="1417320"/>
          </a:xfrm>
          <a:prstGeom prst="rect">
            <a:avLst/>
          </a:prstGeom>
          <a:noFill/>
          <a:ln/>
        </p:spPr>
        <p:txBody>
          <a:bodyPr wrap="square" lIns="0" tIns="0" rIns="0" bIns="0" rtlCol="0" anchor="t"/>
          <a:lstStyle/>
          <a:p>
            <a:pPr marL="0" indent="0">
              <a:buNone/>
            </a:pPr>
            <a:r>
              <a:rPr lang="en-US" sz="1100" dirty="0">
                <a:solidFill>
                  <a:srgbClr val="1B2A3A"/>
                </a:solidFill>
                <a:latin typeface="Calibri" pitchFamily="34" charset="0"/>
                <a:ea typeface="Calibri" pitchFamily="34" charset="-122"/>
                <a:cs typeface="Calibri" pitchFamily="34" charset="-120"/>
              </a:rPr>
              <a:t>Integrate with HMS/EMR vendors and sell through clinic groups and associations. Show up at Arab Health and dental expos. Referral credits for clinics that bring clinics.</a:t>
            </a:r>
            <a:endParaRPr lang="en-US" sz="1100" dirty="0"/>
          </a:p>
        </p:txBody>
      </p:sp>
      <p:sp>
        <p:nvSpPr>
          <p:cNvPr id="11" name="Text 8"/>
          <p:cNvSpPr txBox="1"/>
          <p:nvPr/>
        </p:nvSpPr>
        <p:spPr>
          <a:xfrm>
            <a:off x="457200" y="3017520"/>
            <a:ext cx="8229600" cy="228600"/>
          </a:xfrm>
          <a:prstGeom prst="rect">
            <a:avLst/>
          </a:prstGeom>
          <a:noFill/>
          <a:ln/>
        </p:spPr>
        <p:txBody>
          <a:bodyPr wrap="square" lIns="0" tIns="0" rIns="0" bIns="0" rtlCol="0" anchor="t"/>
          <a:lstStyle/>
          <a:p>
            <a:pPr marL="0" indent="0">
              <a:buNone/>
            </a:pPr>
            <a:r>
              <a:rPr lang="en-US" sz="1100" b="1" dirty="0">
                <a:solidFill>
                  <a:srgbClr val="0B2545"/>
                </a:solidFill>
                <a:latin typeface="Calibri" pitchFamily="34" charset="0"/>
                <a:ea typeface="Calibri" pitchFamily="34" charset="-122"/>
                <a:cs typeface="Calibri" pitchFamily="34" charset="-120"/>
              </a:rPr>
              <a:t>Blended unit economics improve as we scale: what a clinic is worth versus what it costs to win</a:t>
            </a:r>
            <a:endParaRPr lang="en-US" sz="1100" dirty="0"/>
          </a:p>
        </p:txBody>
      </p:sp>
      <p:sp>
        <p:nvSpPr>
          <p:cNvPr id="12" name="Shape 9"/>
          <p:cNvSpPr/>
          <p:nvPr/>
        </p:nvSpPr>
        <p:spPr>
          <a:xfrm>
            <a:off x="457200" y="3337560"/>
            <a:ext cx="1920240" cy="1097280"/>
          </a:xfrm>
          <a:prstGeom prst="roundRect">
            <a:avLst>
              <a:gd name="adj" fmla="val 6667"/>
            </a:avLst>
          </a:prstGeom>
          <a:solidFill>
            <a:srgbClr val="0B2545"/>
          </a:solidFill>
          <a:ln w="12700">
            <a:solidFill>
              <a:srgbClr val="0B2545"/>
            </a:solidFill>
            <a:prstDash val="solid"/>
          </a:ln>
        </p:spPr>
        <p:txBody>
          <a:bodyPr/>
          <a:lstStyle/>
          <a:p>
            <a:endParaRPr/>
          </a:p>
        </p:txBody>
      </p:sp>
      <p:sp>
        <p:nvSpPr>
          <p:cNvPr id="13" name="Text 10"/>
          <p:cNvSpPr txBox="1"/>
          <p:nvPr/>
        </p:nvSpPr>
        <p:spPr>
          <a:xfrm>
            <a:off x="594360" y="3401568"/>
            <a:ext cx="1645920" cy="228600"/>
          </a:xfrm>
          <a:prstGeom prst="rect">
            <a:avLst/>
          </a:prstGeom>
          <a:noFill/>
          <a:ln/>
        </p:spPr>
        <p:txBody>
          <a:bodyPr wrap="square" lIns="0" tIns="0" rIns="0" bIns="0" rtlCol="0" anchor="t"/>
          <a:lstStyle/>
          <a:p>
            <a:pPr marL="0" indent="0">
              <a:buNone/>
            </a:pPr>
            <a:r>
              <a:rPr lang="en-US" sz="1050" dirty="0">
                <a:solidFill>
                  <a:srgbClr val="BFE6EA"/>
                </a:solidFill>
                <a:latin typeface="Calibri" pitchFamily="34" charset="0"/>
                <a:ea typeface="Calibri" pitchFamily="34" charset="-122"/>
                <a:cs typeface="Calibri" pitchFamily="34" charset="-120"/>
              </a:rPr>
              <a:t>2027</a:t>
            </a:r>
            <a:endParaRPr lang="en-US" sz="1050" dirty="0"/>
          </a:p>
        </p:txBody>
      </p:sp>
      <p:sp>
        <p:nvSpPr>
          <p:cNvPr id="14" name="Text 11"/>
          <p:cNvSpPr txBox="1"/>
          <p:nvPr/>
        </p:nvSpPr>
        <p:spPr>
          <a:xfrm>
            <a:off x="594360" y="3639312"/>
            <a:ext cx="1645920" cy="457200"/>
          </a:xfrm>
          <a:prstGeom prst="rect">
            <a:avLst/>
          </a:prstGeom>
          <a:noFill/>
          <a:ln/>
        </p:spPr>
        <p:txBody>
          <a:bodyPr wrap="square" lIns="0" tIns="0" rIns="0" bIns="0" rtlCol="0" anchor="t"/>
          <a:lstStyle/>
          <a:p>
            <a:pPr marL="0" indent="0">
              <a:buNone/>
            </a:pPr>
            <a:r>
              <a:rPr lang="en-US" sz="2600" b="1" dirty="0">
                <a:solidFill>
                  <a:srgbClr val="FFFFFF"/>
                </a:solidFill>
                <a:latin typeface="Calibri" pitchFamily="34" charset="0"/>
                <a:ea typeface="Calibri" pitchFamily="34" charset="-122"/>
                <a:cs typeface="Calibri" pitchFamily="34" charset="-120"/>
              </a:rPr>
              <a:t>4.8x</a:t>
            </a:r>
            <a:endParaRPr lang="en-US" sz="2600" dirty="0"/>
          </a:p>
        </p:txBody>
      </p:sp>
      <p:sp>
        <p:nvSpPr>
          <p:cNvPr id="15" name="Text 12"/>
          <p:cNvSpPr txBox="1"/>
          <p:nvPr/>
        </p:nvSpPr>
        <p:spPr>
          <a:xfrm>
            <a:off x="594360" y="4114800"/>
            <a:ext cx="1737360" cy="274320"/>
          </a:xfrm>
          <a:prstGeom prst="rect">
            <a:avLst/>
          </a:prstGeom>
          <a:noFill/>
          <a:ln/>
        </p:spPr>
        <p:txBody>
          <a:bodyPr wrap="square" lIns="0" tIns="0" rIns="0" bIns="0" rtlCol="0" anchor="t"/>
          <a:lstStyle/>
          <a:p>
            <a:pPr marL="0" indent="0">
              <a:buNone/>
            </a:pPr>
            <a:r>
              <a:rPr lang="en-US" sz="950" dirty="0">
                <a:solidFill>
                  <a:srgbClr val="BFE6EA"/>
                </a:solidFill>
                <a:latin typeface="Calibri" pitchFamily="34" charset="0"/>
                <a:ea typeface="Calibri" pitchFamily="34" charset="-122"/>
                <a:cs typeface="Calibri" pitchFamily="34" charset="-120"/>
              </a:rPr>
              <a:t>LTV/CAC · payback 8 months</a:t>
            </a:r>
            <a:endParaRPr lang="en-US" sz="950" dirty="0"/>
          </a:p>
        </p:txBody>
      </p:sp>
      <p:sp>
        <p:nvSpPr>
          <p:cNvPr id="16" name="Shape 13"/>
          <p:cNvSpPr/>
          <p:nvPr/>
        </p:nvSpPr>
        <p:spPr>
          <a:xfrm>
            <a:off x="2560320" y="3337560"/>
            <a:ext cx="1920240" cy="1097280"/>
          </a:xfrm>
          <a:prstGeom prst="roundRect">
            <a:avLst>
              <a:gd name="adj" fmla="val 6667"/>
            </a:avLst>
          </a:prstGeom>
          <a:solidFill>
            <a:srgbClr val="0B2545"/>
          </a:solidFill>
          <a:ln w="12700">
            <a:solidFill>
              <a:srgbClr val="0B2545"/>
            </a:solidFill>
            <a:prstDash val="solid"/>
          </a:ln>
        </p:spPr>
        <p:txBody>
          <a:bodyPr/>
          <a:lstStyle/>
          <a:p>
            <a:endParaRPr/>
          </a:p>
        </p:txBody>
      </p:sp>
      <p:sp>
        <p:nvSpPr>
          <p:cNvPr id="17" name="Text 14"/>
          <p:cNvSpPr txBox="1"/>
          <p:nvPr/>
        </p:nvSpPr>
        <p:spPr>
          <a:xfrm>
            <a:off x="2697480" y="3401568"/>
            <a:ext cx="1645920" cy="228600"/>
          </a:xfrm>
          <a:prstGeom prst="rect">
            <a:avLst/>
          </a:prstGeom>
          <a:noFill/>
          <a:ln/>
        </p:spPr>
        <p:txBody>
          <a:bodyPr wrap="square" lIns="0" tIns="0" rIns="0" bIns="0" rtlCol="0" anchor="t"/>
          <a:lstStyle/>
          <a:p>
            <a:pPr marL="0" indent="0">
              <a:buNone/>
            </a:pPr>
            <a:r>
              <a:rPr lang="en-US" sz="1050" dirty="0">
                <a:solidFill>
                  <a:srgbClr val="BFE6EA"/>
                </a:solidFill>
                <a:latin typeface="Calibri" pitchFamily="34" charset="0"/>
                <a:ea typeface="Calibri" pitchFamily="34" charset="-122"/>
                <a:cs typeface="Calibri" pitchFamily="34" charset="-120"/>
              </a:rPr>
              <a:t>2028</a:t>
            </a:r>
            <a:endParaRPr lang="en-US" sz="1050" dirty="0"/>
          </a:p>
        </p:txBody>
      </p:sp>
      <p:sp>
        <p:nvSpPr>
          <p:cNvPr id="18" name="Text 15"/>
          <p:cNvSpPr txBox="1"/>
          <p:nvPr/>
        </p:nvSpPr>
        <p:spPr>
          <a:xfrm>
            <a:off x="2697480" y="3639312"/>
            <a:ext cx="1645920" cy="457200"/>
          </a:xfrm>
          <a:prstGeom prst="rect">
            <a:avLst/>
          </a:prstGeom>
          <a:noFill/>
          <a:ln/>
        </p:spPr>
        <p:txBody>
          <a:bodyPr wrap="square" lIns="0" tIns="0" rIns="0" bIns="0" rtlCol="0" anchor="t"/>
          <a:lstStyle/>
          <a:p>
            <a:pPr marL="0" indent="0">
              <a:buNone/>
            </a:pPr>
            <a:r>
              <a:rPr lang="en-US" sz="2600" b="1" dirty="0">
                <a:solidFill>
                  <a:srgbClr val="FFFFFF"/>
                </a:solidFill>
                <a:latin typeface="Calibri" pitchFamily="34" charset="0"/>
                <a:ea typeface="Calibri" pitchFamily="34" charset="-122"/>
                <a:cs typeface="Calibri" pitchFamily="34" charset="-120"/>
              </a:rPr>
              <a:t>8.8x</a:t>
            </a:r>
            <a:endParaRPr lang="en-US" sz="2600" dirty="0"/>
          </a:p>
        </p:txBody>
      </p:sp>
      <p:sp>
        <p:nvSpPr>
          <p:cNvPr id="19" name="Text 16"/>
          <p:cNvSpPr txBox="1"/>
          <p:nvPr/>
        </p:nvSpPr>
        <p:spPr>
          <a:xfrm>
            <a:off x="2697480" y="4114800"/>
            <a:ext cx="1737360" cy="274320"/>
          </a:xfrm>
          <a:prstGeom prst="rect">
            <a:avLst/>
          </a:prstGeom>
          <a:noFill/>
          <a:ln/>
        </p:spPr>
        <p:txBody>
          <a:bodyPr wrap="square" lIns="0" tIns="0" rIns="0" bIns="0" rtlCol="0" anchor="t"/>
          <a:lstStyle/>
          <a:p>
            <a:pPr marL="0" indent="0">
              <a:buNone/>
            </a:pPr>
            <a:r>
              <a:rPr lang="en-US" sz="950" dirty="0">
                <a:solidFill>
                  <a:srgbClr val="BFE6EA"/>
                </a:solidFill>
                <a:latin typeface="Calibri" pitchFamily="34" charset="0"/>
                <a:ea typeface="Calibri" pitchFamily="34" charset="-122"/>
                <a:cs typeface="Calibri" pitchFamily="34" charset="-120"/>
              </a:rPr>
              <a:t>LTV/CAC · payback 4 months</a:t>
            </a:r>
            <a:endParaRPr lang="en-US" sz="950" dirty="0"/>
          </a:p>
        </p:txBody>
      </p:sp>
      <p:sp>
        <p:nvSpPr>
          <p:cNvPr id="20" name="Shape 17"/>
          <p:cNvSpPr/>
          <p:nvPr/>
        </p:nvSpPr>
        <p:spPr>
          <a:xfrm>
            <a:off x="4663440" y="3337560"/>
            <a:ext cx="1920240" cy="1097280"/>
          </a:xfrm>
          <a:prstGeom prst="roundRect">
            <a:avLst>
              <a:gd name="adj" fmla="val 6667"/>
            </a:avLst>
          </a:prstGeom>
          <a:solidFill>
            <a:srgbClr val="0B2545"/>
          </a:solidFill>
          <a:ln w="12700">
            <a:solidFill>
              <a:srgbClr val="0B2545"/>
            </a:solidFill>
            <a:prstDash val="solid"/>
          </a:ln>
        </p:spPr>
        <p:txBody>
          <a:bodyPr/>
          <a:lstStyle/>
          <a:p>
            <a:endParaRPr/>
          </a:p>
        </p:txBody>
      </p:sp>
      <p:sp>
        <p:nvSpPr>
          <p:cNvPr id="21" name="Text 18"/>
          <p:cNvSpPr txBox="1"/>
          <p:nvPr/>
        </p:nvSpPr>
        <p:spPr>
          <a:xfrm>
            <a:off x="4800600" y="3401568"/>
            <a:ext cx="1645920" cy="228600"/>
          </a:xfrm>
          <a:prstGeom prst="rect">
            <a:avLst/>
          </a:prstGeom>
          <a:noFill/>
          <a:ln/>
        </p:spPr>
        <p:txBody>
          <a:bodyPr wrap="square" lIns="0" tIns="0" rIns="0" bIns="0" rtlCol="0" anchor="t"/>
          <a:lstStyle/>
          <a:p>
            <a:pPr marL="0" indent="0">
              <a:buNone/>
            </a:pPr>
            <a:r>
              <a:rPr lang="en-US" sz="1050" dirty="0">
                <a:solidFill>
                  <a:srgbClr val="BFE6EA"/>
                </a:solidFill>
                <a:latin typeface="Calibri" pitchFamily="34" charset="0"/>
                <a:ea typeface="Calibri" pitchFamily="34" charset="-122"/>
                <a:cs typeface="Calibri" pitchFamily="34" charset="-120"/>
              </a:rPr>
              <a:t>2029</a:t>
            </a:r>
            <a:endParaRPr lang="en-US" sz="1050" dirty="0"/>
          </a:p>
        </p:txBody>
      </p:sp>
      <p:sp>
        <p:nvSpPr>
          <p:cNvPr id="22" name="Text 19"/>
          <p:cNvSpPr txBox="1"/>
          <p:nvPr/>
        </p:nvSpPr>
        <p:spPr>
          <a:xfrm>
            <a:off x="4800600" y="3639312"/>
            <a:ext cx="1645920" cy="457200"/>
          </a:xfrm>
          <a:prstGeom prst="rect">
            <a:avLst/>
          </a:prstGeom>
          <a:noFill/>
          <a:ln/>
        </p:spPr>
        <p:txBody>
          <a:bodyPr wrap="square" lIns="0" tIns="0" rIns="0" bIns="0" rtlCol="0" anchor="t"/>
          <a:lstStyle/>
          <a:p>
            <a:pPr marL="0" indent="0">
              <a:buNone/>
            </a:pPr>
            <a:r>
              <a:rPr lang="en-US" sz="2600" b="1" dirty="0">
                <a:solidFill>
                  <a:srgbClr val="FFFFFF"/>
                </a:solidFill>
                <a:latin typeface="Calibri" pitchFamily="34" charset="0"/>
                <a:ea typeface="Calibri" pitchFamily="34" charset="-122"/>
                <a:cs typeface="Calibri" pitchFamily="34" charset="-120"/>
              </a:rPr>
              <a:t>8.1x</a:t>
            </a:r>
            <a:endParaRPr lang="en-US" sz="2600" dirty="0"/>
          </a:p>
        </p:txBody>
      </p:sp>
      <p:sp>
        <p:nvSpPr>
          <p:cNvPr id="23" name="Text 20"/>
          <p:cNvSpPr txBox="1"/>
          <p:nvPr/>
        </p:nvSpPr>
        <p:spPr>
          <a:xfrm>
            <a:off x="4800600" y="4114800"/>
            <a:ext cx="1737360" cy="274320"/>
          </a:xfrm>
          <a:prstGeom prst="rect">
            <a:avLst/>
          </a:prstGeom>
          <a:noFill/>
          <a:ln/>
        </p:spPr>
        <p:txBody>
          <a:bodyPr wrap="square" lIns="0" tIns="0" rIns="0" bIns="0" rtlCol="0" anchor="t"/>
          <a:lstStyle/>
          <a:p>
            <a:pPr marL="0" indent="0">
              <a:buNone/>
            </a:pPr>
            <a:r>
              <a:rPr lang="en-US" sz="950" dirty="0">
                <a:solidFill>
                  <a:srgbClr val="BFE6EA"/>
                </a:solidFill>
                <a:latin typeface="Calibri" pitchFamily="34" charset="0"/>
                <a:ea typeface="Calibri" pitchFamily="34" charset="-122"/>
                <a:cs typeface="Calibri" pitchFamily="34" charset="-120"/>
              </a:rPr>
              <a:t>LTV/CAC · payback 5 months</a:t>
            </a:r>
            <a:endParaRPr lang="en-US" sz="950" dirty="0"/>
          </a:p>
        </p:txBody>
      </p:sp>
      <p:sp>
        <p:nvSpPr>
          <p:cNvPr id="24" name="Shape 21"/>
          <p:cNvSpPr/>
          <p:nvPr/>
        </p:nvSpPr>
        <p:spPr>
          <a:xfrm>
            <a:off x="6766560" y="3337560"/>
            <a:ext cx="1920240" cy="1097280"/>
          </a:xfrm>
          <a:prstGeom prst="roundRect">
            <a:avLst>
              <a:gd name="adj" fmla="val 6667"/>
            </a:avLst>
          </a:prstGeom>
          <a:solidFill>
            <a:srgbClr val="0B2545"/>
          </a:solidFill>
          <a:ln w="12700">
            <a:solidFill>
              <a:srgbClr val="0B2545"/>
            </a:solidFill>
            <a:prstDash val="solid"/>
          </a:ln>
        </p:spPr>
        <p:txBody>
          <a:bodyPr/>
          <a:lstStyle/>
          <a:p>
            <a:endParaRPr/>
          </a:p>
        </p:txBody>
      </p:sp>
      <p:sp>
        <p:nvSpPr>
          <p:cNvPr id="25" name="Text 22"/>
          <p:cNvSpPr txBox="1"/>
          <p:nvPr/>
        </p:nvSpPr>
        <p:spPr>
          <a:xfrm>
            <a:off x="6903720" y="3401568"/>
            <a:ext cx="1645920" cy="228600"/>
          </a:xfrm>
          <a:prstGeom prst="rect">
            <a:avLst/>
          </a:prstGeom>
          <a:noFill/>
          <a:ln/>
        </p:spPr>
        <p:txBody>
          <a:bodyPr wrap="square" lIns="0" tIns="0" rIns="0" bIns="0" rtlCol="0" anchor="t"/>
          <a:lstStyle/>
          <a:p>
            <a:pPr marL="0" indent="0">
              <a:buNone/>
            </a:pPr>
            <a:r>
              <a:rPr lang="en-US" sz="1050" dirty="0">
                <a:solidFill>
                  <a:srgbClr val="BFE6EA"/>
                </a:solidFill>
                <a:latin typeface="Calibri" pitchFamily="34" charset="0"/>
                <a:ea typeface="Calibri" pitchFamily="34" charset="-122"/>
                <a:cs typeface="Calibri" pitchFamily="34" charset="-120"/>
              </a:rPr>
              <a:t>2031</a:t>
            </a:r>
            <a:endParaRPr lang="en-US" sz="1050" dirty="0"/>
          </a:p>
        </p:txBody>
      </p:sp>
      <p:sp>
        <p:nvSpPr>
          <p:cNvPr id="26" name="Text 23"/>
          <p:cNvSpPr txBox="1"/>
          <p:nvPr/>
        </p:nvSpPr>
        <p:spPr>
          <a:xfrm>
            <a:off x="6903720" y="3639312"/>
            <a:ext cx="1645920" cy="457200"/>
          </a:xfrm>
          <a:prstGeom prst="rect">
            <a:avLst/>
          </a:prstGeom>
          <a:noFill/>
          <a:ln/>
        </p:spPr>
        <p:txBody>
          <a:bodyPr wrap="square" lIns="0" tIns="0" rIns="0" bIns="0" rtlCol="0" anchor="t"/>
          <a:lstStyle/>
          <a:p>
            <a:pPr marL="0" indent="0">
              <a:buNone/>
            </a:pPr>
            <a:r>
              <a:rPr lang="en-US" sz="2600" b="1" dirty="0">
                <a:solidFill>
                  <a:srgbClr val="FFFFFF"/>
                </a:solidFill>
                <a:latin typeface="Calibri" pitchFamily="34" charset="0"/>
                <a:ea typeface="Calibri" pitchFamily="34" charset="-122"/>
                <a:cs typeface="Calibri" pitchFamily="34" charset="-120"/>
              </a:rPr>
              <a:t>13.5x</a:t>
            </a:r>
            <a:endParaRPr lang="en-US" sz="2600" dirty="0"/>
          </a:p>
        </p:txBody>
      </p:sp>
      <p:sp>
        <p:nvSpPr>
          <p:cNvPr id="27" name="Text 24"/>
          <p:cNvSpPr txBox="1"/>
          <p:nvPr/>
        </p:nvSpPr>
        <p:spPr>
          <a:xfrm>
            <a:off x="6903720" y="4114800"/>
            <a:ext cx="1737360" cy="274320"/>
          </a:xfrm>
          <a:prstGeom prst="rect">
            <a:avLst/>
          </a:prstGeom>
          <a:noFill/>
          <a:ln/>
        </p:spPr>
        <p:txBody>
          <a:bodyPr wrap="square" lIns="0" tIns="0" rIns="0" bIns="0" rtlCol="0" anchor="t"/>
          <a:lstStyle/>
          <a:p>
            <a:pPr marL="0" indent="0">
              <a:buNone/>
            </a:pPr>
            <a:r>
              <a:rPr lang="en-US" sz="950" dirty="0">
                <a:solidFill>
                  <a:srgbClr val="BFE6EA"/>
                </a:solidFill>
                <a:latin typeface="Calibri" pitchFamily="34" charset="0"/>
                <a:ea typeface="Calibri" pitchFamily="34" charset="-122"/>
                <a:cs typeface="Calibri" pitchFamily="34" charset="-120"/>
              </a:rPr>
              <a:t>LTV/CAC · payback 3 months</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buNone/>
            </a:pPr>
            <a:r>
              <a:rPr lang="en-US" sz="2600" b="1" dirty="0">
                <a:solidFill>
                  <a:srgbClr val="0B2545"/>
                </a:solidFill>
                <a:latin typeface="Calibri" pitchFamily="34" charset="0"/>
                <a:ea typeface="Calibri" pitchFamily="34" charset="-122"/>
                <a:cs typeface="Calibri" pitchFamily="34" charset="-120"/>
              </a:rPr>
              <a:t>Business Model</a:t>
            </a:r>
            <a:endParaRPr lang="en-US" sz="2600" dirty="0"/>
          </a:p>
        </p:txBody>
      </p:sp>
      <p:sp>
        <p:nvSpPr>
          <p:cNvPr id="5" name="Shape 2"/>
          <p:cNvSpPr/>
          <p:nvPr/>
        </p:nvSpPr>
        <p:spPr>
          <a:xfrm>
            <a:off x="457200" y="960120"/>
            <a:ext cx="1920240" cy="1874520"/>
          </a:xfrm>
          <a:prstGeom prst="roundRect">
            <a:avLst>
              <a:gd name="adj" fmla="val 3902"/>
            </a:avLst>
          </a:prstGeom>
          <a:solidFill>
            <a:srgbClr val="EEF4F7"/>
          </a:solidFill>
          <a:ln w="12700">
            <a:solidFill>
              <a:srgbClr val="EEF4F7"/>
            </a:solidFill>
            <a:prstDash val="solid"/>
          </a:ln>
        </p:spPr>
        <p:txBody>
          <a:bodyPr/>
          <a:lstStyle/>
          <a:p>
            <a:endParaRPr/>
          </a:p>
        </p:txBody>
      </p:sp>
      <p:sp>
        <p:nvSpPr>
          <p:cNvPr id="6" name="Text 3"/>
          <p:cNvSpPr txBox="1"/>
          <p:nvPr/>
        </p:nvSpPr>
        <p:spPr>
          <a:xfrm>
            <a:off x="594360" y="1051560"/>
            <a:ext cx="1645920" cy="274320"/>
          </a:xfrm>
          <a:prstGeom prst="rect">
            <a:avLst/>
          </a:prstGeom>
          <a:noFill/>
          <a:ln/>
        </p:spPr>
        <p:txBody>
          <a:bodyPr wrap="square" lIns="0" tIns="0" rIns="0" bIns="0" rtlCol="0" anchor="t"/>
          <a:lstStyle/>
          <a:p>
            <a:pPr marL="0" indent="0">
              <a:buNone/>
            </a:pPr>
            <a:r>
              <a:rPr lang="en-US" sz="1250" b="1" dirty="0">
                <a:solidFill>
                  <a:srgbClr val="0B2545"/>
                </a:solidFill>
                <a:latin typeface="Calibri" pitchFamily="34" charset="0"/>
                <a:ea typeface="Calibri" pitchFamily="34" charset="-122"/>
                <a:cs typeface="Calibri" pitchFamily="34" charset="-120"/>
              </a:rPr>
              <a:t>Bangladesh</a:t>
            </a:r>
            <a:endParaRPr lang="en-US" sz="1250" dirty="0"/>
          </a:p>
        </p:txBody>
      </p:sp>
      <p:sp>
        <p:nvSpPr>
          <p:cNvPr id="7" name="Text 4"/>
          <p:cNvSpPr txBox="1"/>
          <p:nvPr/>
        </p:nvSpPr>
        <p:spPr>
          <a:xfrm>
            <a:off x="594360" y="1371600"/>
            <a:ext cx="1645920" cy="548640"/>
          </a:xfrm>
          <a:prstGeom prst="rect">
            <a:avLst/>
          </a:prstGeom>
          <a:noFill/>
          <a:ln/>
        </p:spPr>
        <p:txBody>
          <a:bodyPr wrap="square" lIns="0" tIns="0" rIns="0" bIns="0" rtlCol="0" anchor="t"/>
          <a:lstStyle/>
          <a:p>
            <a:pPr marL="0" indent="0">
              <a:buNone/>
            </a:pPr>
            <a:r>
              <a:rPr lang="en-US" sz="3200" b="1" dirty="0">
                <a:solidFill>
                  <a:srgbClr val="0E9AA7"/>
                </a:solidFill>
                <a:latin typeface="Calibri" pitchFamily="34" charset="0"/>
                <a:ea typeface="Calibri" pitchFamily="34" charset="-122"/>
                <a:cs typeface="Calibri" pitchFamily="34" charset="-120"/>
              </a:rPr>
              <a:t>$110</a:t>
            </a:r>
            <a:endParaRPr lang="en-US" sz="3200" dirty="0"/>
          </a:p>
        </p:txBody>
      </p:sp>
      <p:sp>
        <p:nvSpPr>
          <p:cNvPr id="8" name="Text 5"/>
          <p:cNvSpPr txBox="1"/>
          <p:nvPr/>
        </p:nvSpPr>
        <p:spPr>
          <a:xfrm>
            <a:off x="594360" y="1920240"/>
            <a:ext cx="1645920" cy="201168"/>
          </a:xfrm>
          <a:prstGeom prst="rect">
            <a:avLst/>
          </a:prstGeom>
          <a:noFill/>
          <a:ln/>
        </p:spPr>
        <p:txBody>
          <a:bodyPr wrap="square" lIns="0" tIns="0" rIns="0" bIns="0" rtlCol="0" anchor="t"/>
          <a:lstStyle/>
          <a:p>
            <a:pPr marL="0" indent="0">
              <a:buNone/>
            </a:pPr>
            <a:r>
              <a:rPr lang="en-US" sz="950" dirty="0">
                <a:solidFill>
                  <a:srgbClr val="5B6B7B"/>
                </a:solidFill>
                <a:latin typeface="Calibri" pitchFamily="34" charset="0"/>
                <a:ea typeface="Calibri" pitchFamily="34" charset="-122"/>
                <a:cs typeface="Calibri" pitchFamily="34" charset="-120"/>
              </a:rPr>
              <a:t>blended per clinic per month</a:t>
            </a:r>
            <a:endParaRPr lang="en-US" sz="950" dirty="0"/>
          </a:p>
        </p:txBody>
      </p:sp>
      <p:sp>
        <p:nvSpPr>
          <p:cNvPr id="9" name="Text 6"/>
          <p:cNvSpPr txBox="1"/>
          <p:nvPr/>
        </p:nvSpPr>
        <p:spPr>
          <a:xfrm>
            <a:off x="594360" y="2240280"/>
            <a:ext cx="1691640" cy="548640"/>
          </a:xfrm>
          <a:prstGeom prst="rect">
            <a:avLst/>
          </a:prstGeom>
          <a:noFill/>
          <a:ln/>
        </p:spPr>
        <p:txBody>
          <a:bodyPr wrap="square" lIns="0" tIns="0" rIns="0" bIns="0" rtlCol="0" anchor="t"/>
          <a:lstStyle/>
          <a:p>
            <a:pPr marL="0" indent="0">
              <a:buNone/>
            </a:pPr>
            <a:r>
              <a:rPr lang="en-US" sz="1000" dirty="0">
                <a:solidFill>
                  <a:srgbClr val="1B2A3A"/>
                </a:solidFill>
                <a:latin typeface="Calibri" pitchFamily="34" charset="0"/>
                <a:ea typeface="Calibri" pitchFamily="34" charset="-122"/>
                <a:cs typeface="Calibri" pitchFamily="34" charset="-120"/>
              </a:rPr>
              <a:t>৳6K · ৳25K · ৳50K+ plans</a:t>
            </a:r>
            <a:endParaRPr lang="en-US" sz="1000" dirty="0"/>
          </a:p>
          <a:p>
            <a:pPr marL="0" indent="0">
              <a:buNone/>
            </a:pPr>
            <a:r>
              <a:rPr lang="en-US" sz="1000" dirty="0">
                <a:solidFill>
                  <a:srgbClr val="1B2A3A"/>
                </a:solidFill>
                <a:latin typeface="Calibri" pitchFamily="34" charset="0"/>
                <a:ea typeface="Calibri" pitchFamily="34" charset="-122"/>
                <a:cs typeface="Calibri" pitchFamily="34" charset="-120"/>
              </a:rPr>
              <a:t>setup fee waived</a:t>
            </a:r>
            <a:endParaRPr lang="en-US" sz="1000" dirty="0"/>
          </a:p>
        </p:txBody>
      </p:sp>
      <p:sp>
        <p:nvSpPr>
          <p:cNvPr id="10" name="Shape 7"/>
          <p:cNvSpPr/>
          <p:nvPr/>
        </p:nvSpPr>
        <p:spPr>
          <a:xfrm>
            <a:off x="2560320" y="960120"/>
            <a:ext cx="1920240" cy="1874520"/>
          </a:xfrm>
          <a:prstGeom prst="roundRect">
            <a:avLst>
              <a:gd name="adj" fmla="val 3902"/>
            </a:avLst>
          </a:prstGeom>
          <a:solidFill>
            <a:srgbClr val="EEF4F7"/>
          </a:solidFill>
          <a:ln w="12700">
            <a:solidFill>
              <a:srgbClr val="EEF4F7"/>
            </a:solidFill>
            <a:prstDash val="solid"/>
          </a:ln>
        </p:spPr>
        <p:txBody>
          <a:bodyPr/>
          <a:lstStyle/>
          <a:p>
            <a:endParaRPr/>
          </a:p>
        </p:txBody>
      </p:sp>
      <p:sp>
        <p:nvSpPr>
          <p:cNvPr id="11" name="Text 8"/>
          <p:cNvSpPr txBox="1"/>
          <p:nvPr/>
        </p:nvSpPr>
        <p:spPr>
          <a:xfrm>
            <a:off x="2697480" y="1051560"/>
            <a:ext cx="1645920" cy="274320"/>
          </a:xfrm>
          <a:prstGeom prst="rect">
            <a:avLst/>
          </a:prstGeom>
          <a:noFill/>
          <a:ln/>
        </p:spPr>
        <p:txBody>
          <a:bodyPr wrap="square" lIns="0" tIns="0" rIns="0" bIns="0" rtlCol="0" anchor="t"/>
          <a:lstStyle/>
          <a:p>
            <a:pPr marL="0" indent="0">
              <a:buNone/>
            </a:pPr>
            <a:r>
              <a:rPr lang="en-US" sz="1250" b="1" dirty="0">
                <a:solidFill>
                  <a:srgbClr val="0B2545"/>
                </a:solidFill>
                <a:latin typeface="Calibri" pitchFamily="34" charset="0"/>
                <a:ea typeface="Calibri" pitchFamily="34" charset="-122"/>
                <a:cs typeface="Calibri" pitchFamily="34" charset="-120"/>
              </a:rPr>
              <a:t>UAE (Dubai)</a:t>
            </a:r>
            <a:endParaRPr lang="en-US" sz="1250" dirty="0"/>
          </a:p>
        </p:txBody>
      </p:sp>
      <p:sp>
        <p:nvSpPr>
          <p:cNvPr id="12" name="Text 9"/>
          <p:cNvSpPr txBox="1"/>
          <p:nvPr/>
        </p:nvSpPr>
        <p:spPr>
          <a:xfrm>
            <a:off x="2697480" y="1371600"/>
            <a:ext cx="1645920" cy="548640"/>
          </a:xfrm>
          <a:prstGeom prst="rect">
            <a:avLst/>
          </a:prstGeom>
          <a:noFill/>
          <a:ln/>
        </p:spPr>
        <p:txBody>
          <a:bodyPr wrap="square" lIns="0" tIns="0" rIns="0" bIns="0" rtlCol="0" anchor="t"/>
          <a:lstStyle/>
          <a:p>
            <a:pPr marL="0" indent="0">
              <a:buNone/>
            </a:pPr>
            <a:r>
              <a:rPr lang="en-US" sz="3200" b="1" dirty="0">
                <a:solidFill>
                  <a:srgbClr val="0E9AA7"/>
                </a:solidFill>
                <a:latin typeface="Calibri" pitchFamily="34" charset="0"/>
                <a:ea typeface="Calibri" pitchFamily="34" charset="-122"/>
                <a:cs typeface="Calibri" pitchFamily="34" charset="-120"/>
              </a:rPr>
              <a:t>$500</a:t>
            </a:r>
            <a:endParaRPr lang="en-US" sz="3200" dirty="0"/>
          </a:p>
        </p:txBody>
      </p:sp>
      <p:sp>
        <p:nvSpPr>
          <p:cNvPr id="13" name="Text 10"/>
          <p:cNvSpPr txBox="1"/>
          <p:nvPr/>
        </p:nvSpPr>
        <p:spPr>
          <a:xfrm>
            <a:off x="2697480" y="1920240"/>
            <a:ext cx="1645920" cy="201168"/>
          </a:xfrm>
          <a:prstGeom prst="rect">
            <a:avLst/>
          </a:prstGeom>
          <a:noFill/>
          <a:ln/>
        </p:spPr>
        <p:txBody>
          <a:bodyPr wrap="square" lIns="0" tIns="0" rIns="0" bIns="0" rtlCol="0" anchor="t"/>
          <a:lstStyle/>
          <a:p>
            <a:pPr marL="0" indent="0">
              <a:buNone/>
            </a:pPr>
            <a:r>
              <a:rPr lang="en-US" sz="950" dirty="0">
                <a:solidFill>
                  <a:srgbClr val="5B6B7B"/>
                </a:solidFill>
                <a:latin typeface="Calibri" pitchFamily="34" charset="0"/>
                <a:ea typeface="Calibri" pitchFamily="34" charset="-122"/>
                <a:cs typeface="Calibri" pitchFamily="34" charset="-120"/>
              </a:rPr>
              <a:t>blended per clinic per month</a:t>
            </a:r>
            <a:endParaRPr lang="en-US" sz="950" dirty="0"/>
          </a:p>
        </p:txBody>
      </p:sp>
      <p:sp>
        <p:nvSpPr>
          <p:cNvPr id="14" name="Text 11"/>
          <p:cNvSpPr txBox="1"/>
          <p:nvPr/>
        </p:nvSpPr>
        <p:spPr>
          <a:xfrm>
            <a:off x="2697480" y="2240280"/>
            <a:ext cx="1691640" cy="548640"/>
          </a:xfrm>
          <a:prstGeom prst="rect">
            <a:avLst/>
          </a:prstGeom>
          <a:noFill/>
          <a:ln/>
        </p:spPr>
        <p:txBody>
          <a:bodyPr wrap="square" lIns="0" tIns="0" rIns="0" bIns="0" rtlCol="0" anchor="t"/>
          <a:lstStyle/>
          <a:p>
            <a:pPr marL="0" indent="0">
              <a:buNone/>
            </a:pPr>
            <a:r>
              <a:rPr lang="en-US" sz="1000" dirty="0">
                <a:solidFill>
                  <a:srgbClr val="1B2A3A"/>
                </a:solidFill>
                <a:latin typeface="Calibri" pitchFamily="34" charset="0"/>
                <a:ea typeface="Calibri" pitchFamily="34" charset="-122"/>
                <a:cs typeface="Calibri" pitchFamily="34" charset="-120"/>
              </a:rPr>
              <a:t>$249 · $599 · $1,199 plans</a:t>
            </a:r>
            <a:endParaRPr lang="en-US" sz="1000" dirty="0"/>
          </a:p>
          <a:p>
            <a:pPr marL="0" indent="0">
              <a:buNone/>
            </a:pPr>
            <a:r>
              <a:rPr lang="en-US" sz="1000" dirty="0">
                <a:solidFill>
                  <a:srgbClr val="1B2A3A"/>
                </a:solidFill>
                <a:latin typeface="Calibri" pitchFamily="34" charset="0"/>
                <a:ea typeface="Calibri" pitchFamily="34" charset="-122"/>
                <a:cs typeface="Calibri" pitchFamily="34" charset="-120"/>
              </a:rPr>
              <a:t>$500 setup</a:t>
            </a:r>
            <a:endParaRPr lang="en-US" sz="1000" dirty="0"/>
          </a:p>
        </p:txBody>
      </p:sp>
      <p:sp>
        <p:nvSpPr>
          <p:cNvPr id="15" name="Shape 12"/>
          <p:cNvSpPr/>
          <p:nvPr/>
        </p:nvSpPr>
        <p:spPr>
          <a:xfrm>
            <a:off x="4663440" y="960120"/>
            <a:ext cx="1920240" cy="1874520"/>
          </a:xfrm>
          <a:prstGeom prst="roundRect">
            <a:avLst>
              <a:gd name="adj" fmla="val 3902"/>
            </a:avLst>
          </a:prstGeom>
          <a:solidFill>
            <a:srgbClr val="EEF4F7"/>
          </a:solidFill>
          <a:ln w="12700">
            <a:solidFill>
              <a:srgbClr val="EEF4F7"/>
            </a:solidFill>
            <a:prstDash val="solid"/>
          </a:ln>
        </p:spPr>
        <p:txBody>
          <a:bodyPr/>
          <a:lstStyle/>
          <a:p>
            <a:endParaRPr/>
          </a:p>
        </p:txBody>
      </p:sp>
      <p:sp>
        <p:nvSpPr>
          <p:cNvPr id="16" name="Text 13"/>
          <p:cNvSpPr txBox="1"/>
          <p:nvPr/>
        </p:nvSpPr>
        <p:spPr>
          <a:xfrm>
            <a:off x="4800600" y="1051560"/>
            <a:ext cx="1645920" cy="274320"/>
          </a:xfrm>
          <a:prstGeom prst="rect">
            <a:avLst/>
          </a:prstGeom>
          <a:noFill/>
          <a:ln/>
        </p:spPr>
        <p:txBody>
          <a:bodyPr wrap="square" lIns="0" tIns="0" rIns="0" bIns="0" rtlCol="0" anchor="t"/>
          <a:lstStyle/>
          <a:p>
            <a:pPr marL="0" indent="0">
              <a:buNone/>
            </a:pPr>
            <a:r>
              <a:rPr lang="en-US" sz="1250" b="1" dirty="0">
                <a:solidFill>
                  <a:srgbClr val="0B2545"/>
                </a:solidFill>
                <a:latin typeface="Calibri" pitchFamily="34" charset="0"/>
                <a:ea typeface="Calibri" pitchFamily="34" charset="-122"/>
                <a:cs typeface="Calibri" pitchFamily="34" charset="-120"/>
              </a:rPr>
              <a:t>Qatar</a:t>
            </a:r>
            <a:endParaRPr lang="en-US" sz="1250" dirty="0"/>
          </a:p>
        </p:txBody>
      </p:sp>
      <p:sp>
        <p:nvSpPr>
          <p:cNvPr id="17" name="Text 14"/>
          <p:cNvSpPr txBox="1"/>
          <p:nvPr/>
        </p:nvSpPr>
        <p:spPr>
          <a:xfrm>
            <a:off x="4800600" y="1371600"/>
            <a:ext cx="1645920" cy="548640"/>
          </a:xfrm>
          <a:prstGeom prst="rect">
            <a:avLst/>
          </a:prstGeom>
          <a:noFill/>
          <a:ln/>
        </p:spPr>
        <p:txBody>
          <a:bodyPr wrap="square" lIns="0" tIns="0" rIns="0" bIns="0" rtlCol="0" anchor="t"/>
          <a:lstStyle/>
          <a:p>
            <a:pPr marL="0" indent="0">
              <a:buNone/>
            </a:pPr>
            <a:r>
              <a:rPr lang="en-US" sz="3200" b="1" dirty="0">
                <a:solidFill>
                  <a:srgbClr val="0E9AA7"/>
                </a:solidFill>
                <a:latin typeface="Calibri" pitchFamily="34" charset="0"/>
                <a:ea typeface="Calibri" pitchFamily="34" charset="-122"/>
                <a:cs typeface="Calibri" pitchFamily="34" charset="-120"/>
              </a:rPr>
              <a:t>$520</a:t>
            </a:r>
            <a:endParaRPr lang="en-US" sz="3200" dirty="0"/>
          </a:p>
        </p:txBody>
      </p:sp>
      <p:sp>
        <p:nvSpPr>
          <p:cNvPr id="18" name="Text 15"/>
          <p:cNvSpPr txBox="1"/>
          <p:nvPr/>
        </p:nvSpPr>
        <p:spPr>
          <a:xfrm>
            <a:off x="4800600" y="1920240"/>
            <a:ext cx="1645920" cy="201168"/>
          </a:xfrm>
          <a:prstGeom prst="rect">
            <a:avLst/>
          </a:prstGeom>
          <a:noFill/>
          <a:ln/>
        </p:spPr>
        <p:txBody>
          <a:bodyPr wrap="square" lIns="0" tIns="0" rIns="0" bIns="0" rtlCol="0" anchor="t"/>
          <a:lstStyle/>
          <a:p>
            <a:pPr marL="0" indent="0">
              <a:buNone/>
            </a:pPr>
            <a:r>
              <a:rPr lang="en-US" sz="950" dirty="0">
                <a:solidFill>
                  <a:srgbClr val="5B6B7B"/>
                </a:solidFill>
                <a:latin typeface="Calibri" pitchFamily="34" charset="0"/>
                <a:ea typeface="Calibri" pitchFamily="34" charset="-122"/>
                <a:cs typeface="Calibri" pitchFamily="34" charset="-120"/>
              </a:rPr>
              <a:t>blended per clinic per month</a:t>
            </a:r>
            <a:endParaRPr lang="en-US" sz="950" dirty="0"/>
          </a:p>
        </p:txBody>
      </p:sp>
      <p:sp>
        <p:nvSpPr>
          <p:cNvPr id="19" name="Text 16"/>
          <p:cNvSpPr txBox="1"/>
          <p:nvPr/>
        </p:nvSpPr>
        <p:spPr>
          <a:xfrm>
            <a:off x="4800600" y="2240280"/>
            <a:ext cx="1691640" cy="548640"/>
          </a:xfrm>
          <a:prstGeom prst="rect">
            <a:avLst/>
          </a:prstGeom>
          <a:noFill/>
          <a:ln/>
        </p:spPr>
        <p:txBody>
          <a:bodyPr wrap="square" lIns="0" tIns="0" rIns="0" bIns="0" rtlCol="0" anchor="t"/>
          <a:lstStyle/>
          <a:p>
            <a:pPr marL="0" indent="0">
              <a:buNone/>
            </a:pPr>
            <a:r>
              <a:rPr lang="en-US" sz="1000" dirty="0">
                <a:solidFill>
                  <a:srgbClr val="1B2A3A"/>
                </a:solidFill>
                <a:latin typeface="Calibri" pitchFamily="34" charset="0"/>
                <a:ea typeface="Calibri" pitchFamily="34" charset="-122"/>
                <a:cs typeface="Calibri" pitchFamily="34" charset="-120"/>
              </a:rPr>
              <a:t>$249 · $599 · $1,249 plans</a:t>
            </a:r>
            <a:endParaRPr lang="en-US" sz="1000" dirty="0"/>
          </a:p>
          <a:p>
            <a:pPr marL="0" indent="0">
              <a:buNone/>
            </a:pPr>
            <a:r>
              <a:rPr lang="en-US" sz="1000" dirty="0">
                <a:solidFill>
                  <a:srgbClr val="1B2A3A"/>
                </a:solidFill>
                <a:latin typeface="Calibri" pitchFamily="34" charset="0"/>
                <a:ea typeface="Calibri" pitchFamily="34" charset="-122"/>
                <a:cs typeface="Calibri" pitchFamily="34" charset="-120"/>
              </a:rPr>
              <a:t>$500 setup</a:t>
            </a:r>
            <a:endParaRPr lang="en-US" sz="1000" dirty="0"/>
          </a:p>
        </p:txBody>
      </p:sp>
      <p:sp>
        <p:nvSpPr>
          <p:cNvPr id="20" name="Shape 17"/>
          <p:cNvSpPr/>
          <p:nvPr/>
        </p:nvSpPr>
        <p:spPr>
          <a:xfrm>
            <a:off x="6766560" y="960120"/>
            <a:ext cx="1920240" cy="1874520"/>
          </a:xfrm>
          <a:prstGeom prst="roundRect">
            <a:avLst>
              <a:gd name="adj" fmla="val 3902"/>
            </a:avLst>
          </a:prstGeom>
          <a:solidFill>
            <a:srgbClr val="EEF4F7"/>
          </a:solidFill>
          <a:ln w="12700">
            <a:solidFill>
              <a:srgbClr val="EEF4F7"/>
            </a:solidFill>
            <a:prstDash val="solid"/>
          </a:ln>
        </p:spPr>
        <p:txBody>
          <a:bodyPr/>
          <a:lstStyle/>
          <a:p>
            <a:endParaRPr/>
          </a:p>
        </p:txBody>
      </p:sp>
      <p:sp>
        <p:nvSpPr>
          <p:cNvPr id="21" name="Text 18"/>
          <p:cNvSpPr txBox="1"/>
          <p:nvPr/>
        </p:nvSpPr>
        <p:spPr>
          <a:xfrm>
            <a:off x="6903720" y="1051560"/>
            <a:ext cx="1645920" cy="274320"/>
          </a:xfrm>
          <a:prstGeom prst="rect">
            <a:avLst/>
          </a:prstGeom>
          <a:noFill/>
          <a:ln/>
        </p:spPr>
        <p:txBody>
          <a:bodyPr wrap="square" lIns="0" tIns="0" rIns="0" bIns="0" rtlCol="0" anchor="t"/>
          <a:lstStyle/>
          <a:p>
            <a:pPr marL="0" indent="0">
              <a:buNone/>
            </a:pPr>
            <a:r>
              <a:rPr lang="en-US" sz="1250" b="1" dirty="0">
                <a:solidFill>
                  <a:srgbClr val="0B2545"/>
                </a:solidFill>
                <a:latin typeface="Calibri" pitchFamily="34" charset="0"/>
                <a:ea typeface="Calibri" pitchFamily="34" charset="-122"/>
                <a:cs typeface="Calibri" pitchFamily="34" charset="-120"/>
              </a:rPr>
              <a:t>Canada</a:t>
            </a:r>
            <a:endParaRPr lang="en-US" sz="1250" dirty="0"/>
          </a:p>
        </p:txBody>
      </p:sp>
      <p:sp>
        <p:nvSpPr>
          <p:cNvPr id="22" name="Text 19"/>
          <p:cNvSpPr txBox="1"/>
          <p:nvPr/>
        </p:nvSpPr>
        <p:spPr>
          <a:xfrm>
            <a:off x="6903720" y="1371600"/>
            <a:ext cx="1645920" cy="548640"/>
          </a:xfrm>
          <a:prstGeom prst="rect">
            <a:avLst/>
          </a:prstGeom>
          <a:noFill/>
          <a:ln/>
        </p:spPr>
        <p:txBody>
          <a:bodyPr wrap="square" lIns="0" tIns="0" rIns="0" bIns="0" rtlCol="0" anchor="t"/>
          <a:lstStyle/>
          <a:p>
            <a:pPr marL="0" indent="0">
              <a:buNone/>
            </a:pPr>
            <a:r>
              <a:rPr lang="en-US" sz="3200" b="1" dirty="0">
                <a:solidFill>
                  <a:srgbClr val="0E9AA7"/>
                </a:solidFill>
                <a:latin typeface="Calibri" pitchFamily="34" charset="0"/>
                <a:ea typeface="Calibri" pitchFamily="34" charset="-122"/>
                <a:cs typeface="Calibri" pitchFamily="34" charset="-120"/>
              </a:rPr>
              <a:t>$520</a:t>
            </a:r>
            <a:endParaRPr lang="en-US" sz="3200" dirty="0"/>
          </a:p>
        </p:txBody>
      </p:sp>
      <p:sp>
        <p:nvSpPr>
          <p:cNvPr id="23" name="Text 20"/>
          <p:cNvSpPr txBox="1"/>
          <p:nvPr/>
        </p:nvSpPr>
        <p:spPr>
          <a:xfrm>
            <a:off x="6903720" y="1920240"/>
            <a:ext cx="1645920" cy="201168"/>
          </a:xfrm>
          <a:prstGeom prst="rect">
            <a:avLst/>
          </a:prstGeom>
          <a:noFill/>
          <a:ln/>
        </p:spPr>
        <p:txBody>
          <a:bodyPr wrap="square" lIns="0" tIns="0" rIns="0" bIns="0" rtlCol="0" anchor="t"/>
          <a:lstStyle/>
          <a:p>
            <a:pPr marL="0" indent="0">
              <a:buNone/>
            </a:pPr>
            <a:r>
              <a:rPr lang="en-US" sz="950" dirty="0">
                <a:solidFill>
                  <a:srgbClr val="5B6B7B"/>
                </a:solidFill>
                <a:latin typeface="Calibri" pitchFamily="34" charset="0"/>
                <a:ea typeface="Calibri" pitchFamily="34" charset="-122"/>
                <a:cs typeface="Calibri" pitchFamily="34" charset="-120"/>
              </a:rPr>
              <a:t>blended per clinic per month</a:t>
            </a:r>
            <a:endParaRPr lang="en-US" sz="950" dirty="0"/>
          </a:p>
        </p:txBody>
      </p:sp>
      <p:sp>
        <p:nvSpPr>
          <p:cNvPr id="24" name="Text 21"/>
          <p:cNvSpPr txBox="1"/>
          <p:nvPr/>
        </p:nvSpPr>
        <p:spPr>
          <a:xfrm>
            <a:off x="6903720" y="2240280"/>
            <a:ext cx="1691640" cy="548640"/>
          </a:xfrm>
          <a:prstGeom prst="rect">
            <a:avLst/>
          </a:prstGeom>
          <a:noFill/>
          <a:ln/>
        </p:spPr>
        <p:txBody>
          <a:bodyPr wrap="square" lIns="0" tIns="0" rIns="0" bIns="0" rtlCol="0" anchor="t"/>
          <a:lstStyle/>
          <a:p>
            <a:pPr marL="0" indent="0">
              <a:buNone/>
            </a:pPr>
            <a:r>
              <a:rPr lang="en-US" sz="1000" dirty="0">
                <a:solidFill>
                  <a:srgbClr val="1B2A3A"/>
                </a:solidFill>
                <a:latin typeface="Calibri" pitchFamily="34" charset="0"/>
                <a:ea typeface="Calibri" pitchFamily="34" charset="-122"/>
                <a:cs typeface="Calibri" pitchFamily="34" charset="-120"/>
              </a:rPr>
              <a:t>$249 · $599 · $1,249 plans</a:t>
            </a:r>
            <a:endParaRPr lang="en-US" sz="1000" dirty="0"/>
          </a:p>
          <a:p>
            <a:pPr marL="0" indent="0">
              <a:buNone/>
            </a:pPr>
            <a:r>
              <a:rPr lang="en-US" sz="1000" dirty="0">
                <a:solidFill>
                  <a:srgbClr val="1B2A3A"/>
                </a:solidFill>
                <a:latin typeface="Calibri" pitchFamily="34" charset="0"/>
                <a:ea typeface="Calibri" pitchFamily="34" charset="-122"/>
                <a:cs typeface="Calibri" pitchFamily="34" charset="-120"/>
              </a:rPr>
              <a:t>$600 setup</a:t>
            </a:r>
            <a:endParaRPr lang="en-US" sz="1000" dirty="0"/>
          </a:p>
        </p:txBody>
      </p:sp>
      <p:sp>
        <p:nvSpPr>
          <p:cNvPr id="25" name="Text 22"/>
          <p:cNvSpPr txBox="1"/>
          <p:nvPr/>
        </p:nvSpPr>
        <p:spPr>
          <a:xfrm>
            <a:off x="457200" y="2971800"/>
            <a:ext cx="8229600" cy="155448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1B2A3A"/>
                </a:solidFill>
                <a:latin typeface="Calibri" pitchFamily="34" charset="0"/>
                <a:ea typeface="Calibri" pitchFamily="34" charset="-122"/>
                <a:cs typeface="Calibri" pitchFamily="34" charset="-120"/>
              </a:rPr>
              <a:t>Starter: WhatsApp and SMS reminders and recalls. Growth: workflows, slot filling and revenue reports. Top plan: AI voice follow-up, multi-doctor and multi-branch, priority support.</a:t>
            </a:r>
            <a:endParaRPr lang="en-US" sz="1100" dirty="0"/>
          </a:p>
          <a:p>
            <a:pPr marL="342900" indent="-342900">
              <a:spcAft>
                <a:spcPts val="400"/>
              </a:spcAft>
              <a:buSzPct val="100000"/>
              <a:buChar char="•"/>
            </a:pPr>
            <a:r>
              <a:rPr lang="en-US" sz="1100" dirty="0">
                <a:solidFill>
                  <a:srgbClr val="1B2A3A"/>
                </a:solidFill>
                <a:latin typeface="Calibri" pitchFamily="34" charset="0"/>
                <a:ea typeface="Calibri" pitchFamily="34" charset="-122"/>
                <a:cs typeface="Calibri" pitchFamily="34" charset="-120"/>
              </a:rPr>
              <a:t>AI voice minutes above each plan's allowance are billed per minute.</a:t>
            </a:r>
            <a:endParaRPr lang="en-US" sz="1100" dirty="0"/>
          </a:p>
          <a:p>
            <a:pPr marL="342900" indent="-342900">
              <a:spcAft>
                <a:spcPts val="400"/>
              </a:spcAft>
              <a:buSzPct val="100000"/>
              <a:buChar char="•"/>
            </a:pPr>
            <a:r>
              <a:rPr lang="en-US" sz="1100" dirty="0">
                <a:solidFill>
                  <a:srgbClr val="1B2A3A"/>
                </a:solidFill>
                <a:latin typeface="Calibri" pitchFamily="34" charset="0"/>
                <a:ea typeface="Calibri" pitchFamily="34" charset="-122"/>
                <a:cs typeface="Calibri" pitchFamily="34" charset="-120"/>
              </a:rPr>
              <a:t>Gulf and Canada prices match Weave ($199–599 per location) and go above it for groups. Bangladesh top plans stay within local software range (up to ৳30,000+), and hospital groups get custom quotes.</a:t>
            </a:r>
            <a:endParaRPr lang="en-US" sz="1100" dirty="0"/>
          </a:p>
          <a:p>
            <a:pPr marL="342900" indent="-342900">
              <a:spcAft>
                <a:spcPts val="400"/>
              </a:spcAft>
              <a:buSzPct val="100000"/>
              <a:buChar char="•"/>
            </a:pPr>
            <a:r>
              <a:rPr lang="en-US" sz="1100" dirty="0">
                <a:solidFill>
                  <a:srgbClr val="1B2A3A"/>
                </a:solidFill>
                <a:latin typeface="Calibri" pitchFamily="34" charset="0"/>
                <a:ea typeface="Calibri" pitchFamily="34" charset="-122"/>
                <a:cs typeface="Calibri" pitchFamily="34" charset="-120"/>
              </a:rPr>
              <a:t>Blended monthly revenue per clinic grows from $194 in 2027 to $342 in 2031. Gross margin rises from 79% to 87%.</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buNone/>
            </a:pPr>
            <a:r>
              <a:rPr lang="en-US" sz="2600" b="1" dirty="0">
                <a:solidFill>
                  <a:srgbClr val="0B2545"/>
                </a:solidFill>
                <a:latin typeface="Calibri" pitchFamily="34" charset="0"/>
                <a:ea typeface="Calibri" pitchFamily="34" charset="-122"/>
                <a:cs typeface="Calibri" pitchFamily="34" charset="-120"/>
              </a:rPr>
              <a:t>Financials (Premium-Price Case)</a:t>
            </a:r>
            <a:endParaRPr lang="en-US" sz="2600" dirty="0"/>
          </a:p>
        </p:txBody>
      </p:sp>
      <p:graphicFrame>
        <p:nvGraphicFramePr>
          <p:cNvPr id="5" name="Chart 0"/>
          <p:cNvGraphicFramePr/>
          <p:nvPr/>
        </p:nvGraphicFramePr>
        <p:xfrm>
          <a:off x="365760" y="841248"/>
          <a:ext cx="4937760" cy="192024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2"/>
          <p:cNvSpPr/>
          <p:nvPr/>
        </p:nvSpPr>
        <p:spPr>
          <a:xfrm>
            <a:off x="5486400" y="868680"/>
            <a:ext cx="3200400" cy="548640"/>
          </a:xfrm>
          <a:prstGeom prst="roundRect">
            <a:avLst>
              <a:gd name="adj" fmla="val 13333"/>
            </a:avLst>
          </a:prstGeom>
          <a:solidFill>
            <a:srgbClr val="EEF4F7"/>
          </a:solidFill>
          <a:ln w="12700">
            <a:solidFill>
              <a:srgbClr val="EEF4F7"/>
            </a:solidFill>
            <a:prstDash val="solid"/>
          </a:ln>
        </p:spPr>
        <p:txBody>
          <a:bodyPr/>
          <a:lstStyle/>
          <a:p>
            <a:endParaRPr/>
          </a:p>
        </p:txBody>
      </p:sp>
      <p:sp>
        <p:nvSpPr>
          <p:cNvPr id="7" name="Text 3"/>
          <p:cNvSpPr txBox="1"/>
          <p:nvPr/>
        </p:nvSpPr>
        <p:spPr>
          <a:xfrm>
            <a:off x="5623560" y="868680"/>
            <a:ext cx="1280160" cy="548640"/>
          </a:xfrm>
          <a:prstGeom prst="rect">
            <a:avLst/>
          </a:prstGeom>
          <a:noFill/>
          <a:ln/>
        </p:spPr>
        <p:txBody>
          <a:bodyPr wrap="square" lIns="0" tIns="0" rIns="0" bIns="0" rtlCol="0" anchor="ctr"/>
          <a:lstStyle/>
          <a:p>
            <a:pPr marL="0" indent="0">
              <a:buNone/>
            </a:pPr>
            <a:r>
              <a:rPr lang="en-US" sz="2000" b="1" dirty="0">
                <a:solidFill>
                  <a:srgbClr val="0E9AA7"/>
                </a:solidFill>
                <a:latin typeface="Calibri" pitchFamily="34" charset="0"/>
                <a:ea typeface="Calibri" pitchFamily="34" charset="-122"/>
                <a:cs typeface="Calibri" pitchFamily="34" charset="-120"/>
              </a:rPr>
              <a:t>$6.8M</a:t>
            </a:r>
            <a:endParaRPr lang="en-US" sz="2000" dirty="0"/>
          </a:p>
        </p:txBody>
      </p:sp>
      <p:sp>
        <p:nvSpPr>
          <p:cNvPr id="8" name="Text 4"/>
          <p:cNvSpPr txBox="1"/>
          <p:nvPr/>
        </p:nvSpPr>
        <p:spPr>
          <a:xfrm>
            <a:off x="6903720" y="868680"/>
            <a:ext cx="1737360" cy="548640"/>
          </a:xfrm>
          <a:prstGeom prst="rect">
            <a:avLst/>
          </a:prstGeom>
          <a:noFill/>
          <a:ln/>
        </p:spPr>
        <p:txBody>
          <a:bodyPr wrap="square" lIns="0" tIns="0" rIns="0" bIns="0" rtlCol="0" anchor="ctr"/>
          <a:lstStyle/>
          <a:p>
            <a:pPr marL="0" indent="0">
              <a:buNone/>
            </a:pPr>
            <a:r>
              <a:rPr lang="en-US" sz="1050" dirty="0">
                <a:solidFill>
                  <a:srgbClr val="1B2A3A"/>
                </a:solidFill>
                <a:latin typeface="Calibri" pitchFamily="34" charset="0"/>
                <a:ea typeface="Calibri" pitchFamily="34" charset="-122"/>
                <a:cs typeface="Calibri" pitchFamily="34" charset="-120"/>
              </a:rPr>
              <a:t>ARR in 2031</a:t>
            </a:r>
            <a:endParaRPr lang="en-US" sz="1050" dirty="0"/>
          </a:p>
        </p:txBody>
      </p:sp>
      <p:sp>
        <p:nvSpPr>
          <p:cNvPr id="9" name="Shape 5"/>
          <p:cNvSpPr/>
          <p:nvPr/>
        </p:nvSpPr>
        <p:spPr>
          <a:xfrm>
            <a:off x="5486400" y="1508760"/>
            <a:ext cx="3200400" cy="548640"/>
          </a:xfrm>
          <a:prstGeom prst="roundRect">
            <a:avLst>
              <a:gd name="adj" fmla="val 13333"/>
            </a:avLst>
          </a:prstGeom>
          <a:solidFill>
            <a:srgbClr val="EEF4F7"/>
          </a:solidFill>
          <a:ln w="12700">
            <a:solidFill>
              <a:srgbClr val="EEF4F7"/>
            </a:solidFill>
            <a:prstDash val="solid"/>
          </a:ln>
        </p:spPr>
        <p:txBody>
          <a:bodyPr/>
          <a:lstStyle/>
          <a:p>
            <a:endParaRPr/>
          </a:p>
        </p:txBody>
      </p:sp>
      <p:sp>
        <p:nvSpPr>
          <p:cNvPr id="10" name="Text 6"/>
          <p:cNvSpPr txBox="1"/>
          <p:nvPr/>
        </p:nvSpPr>
        <p:spPr>
          <a:xfrm>
            <a:off x="5623560" y="1508760"/>
            <a:ext cx="1280160" cy="548640"/>
          </a:xfrm>
          <a:prstGeom prst="rect">
            <a:avLst/>
          </a:prstGeom>
          <a:noFill/>
          <a:ln/>
        </p:spPr>
        <p:txBody>
          <a:bodyPr wrap="square" lIns="0" tIns="0" rIns="0" bIns="0" rtlCol="0" anchor="ctr"/>
          <a:lstStyle/>
          <a:p>
            <a:pPr marL="0" indent="0">
              <a:buNone/>
            </a:pPr>
            <a:r>
              <a:rPr lang="en-US" sz="2000" b="1" dirty="0">
                <a:solidFill>
                  <a:srgbClr val="0E9AA7"/>
                </a:solidFill>
                <a:latin typeface="Calibri" pitchFamily="34" charset="0"/>
                <a:ea typeface="Calibri" pitchFamily="34" charset="-122"/>
                <a:cs typeface="Calibri" pitchFamily="34" charset="-120"/>
              </a:rPr>
              <a:t>$0.77M</a:t>
            </a:r>
            <a:endParaRPr lang="en-US" sz="2000" dirty="0"/>
          </a:p>
        </p:txBody>
      </p:sp>
      <p:sp>
        <p:nvSpPr>
          <p:cNvPr id="11" name="Text 7"/>
          <p:cNvSpPr txBox="1"/>
          <p:nvPr/>
        </p:nvSpPr>
        <p:spPr>
          <a:xfrm>
            <a:off x="6903720" y="1508760"/>
            <a:ext cx="1737360" cy="548640"/>
          </a:xfrm>
          <a:prstGeom prst="rect">
            <a:avLst/>
          </a:prstGeom>
          <a:noFill/>
          <a:ln/>
        </p:spPr>
        <p:txBody>
          <a:bodyPr wrap="square" lIns="0" tIns="0" rIns="0" bIns="0" rtlCol="0" anchor="ctr"/>
          <a:lstStyle/>
          <a:p>
            <a:pPr marL="0" indent="0">
              <a:buNone/>
            </a:pPr>
            <a:r>
              <a:rPr lang="en-US" sz="1050" dirty="0">
                <a:solidFill>
                  <a:srgbClr val="1B2A3A"/>
                </a:solidFill>
                <a:latin typeface="Calibri" pitchFamily="34" charset="0"/>
                <a:ea typeface="Calibri" pitchFamily="34" charset="-122"/>
                <a:cs typeface="Calibri" pitchFamily="34" charset="-120"/>
              </a:rPr>
              <a:t>ARR at seed (2028)</a:t>
            </a:r>
            <a:endParaRPr lang="en-US" sz="1050" dirty="0"/>
          </a:p>
        </p:txBody>
      </p:sp>
      <p:sp>
        <p:nvSpPr>
          <p:cNvPr id="12" name="Shape 8"/>
          <p:cNvSpPr/>
          <p:nvPr/>
        </p:nvSpPr>
        <p:spPr>
          <a:xfrm>
            <a:off x="5486400" y="2148840"/>
            <a:ext cx="3200400" cy="548640"/>
          </a:xfrm>
          <a:prstGeom prst="roundRect">
            <a:avLst>
              <a:gd name="adj" fmla="val 13333"/>
            </a:avLst>
          </a:prstGeom>
          <a:solidFill>
            <a:srgbClr val="EEF4F7"/>
          </a:solidFill>
          <a:ln w="12700">
            <a:solidFill>
              <a:srgbClr val="EEF4F7"/>
            </a:solidFill>
            <a:prstDash val="solid"/>
          </a:ln>
        </p:spPr>
        <p:txBody>
          <a:bodyPr/>
          <a:lstStyle/>
          <a:p>
            <a:endParaRPr/>
          </a:p>
        </p:txBody>
      </p:sp>
      <p:sp>
        <p:nvSpPr>
          <p:cNvPr id="13" name="Text 9"/>
          <p:cNvSpPr txBox="1"/>
          <p:nvPr/>
        </p:nvSpPr>
        <p:spPr>
          <a:xfrm>
            <a:off x="5623560" y="2148840"/>
            <a:ext cx="1280160" cy="548640"/>
          </a:xfrm>
          <a:prstGeom prst="rect">
            <a:avLst/>
          </a:prstGeom>
          <a:noFill/>
          <a:ln/>
        </p:spPr>
        <p:txBody>
          <a:bodyPr wrap="square" lIns="0" tIns="0" rIns="0" bIns="0" rtlCol="0" anchor="ctr"/>
          <a:lstStyle/>
          <a:p>
            <a:pPr marL="0" indent="0">
              <a:buNone/>
            </a:pPr>
            <a:r>
              <a:rPr lang="en-US" sz="2000" b="1" dirty="0">
                <a:solidFill>
                  <a:srgbClr val="0E9AA7"/>
                </a:solidFill>
                <a:latin typeface="Calibri" pitchFamily="34" charset="0"/>
                <a:ea typeface="Calibri" pitchFamily="34" charset="-122"/>
                <a:cs typeface="Calibri" pitchFamily="34" charset="-120"/>
              </a:rPr>
              <a:t>2029</a:t>
            </a:r>
            <a:endParaRPr lang="en-US" sz="2000" dirty="0"/>
          </a:p>
        </p:txBody>
      </p:sp>
      <p:sp>
        <p:nvSpPr>
          <p:cNvPr id="14" name="Text 10"/>
          <p:cNvSpPr txBox="1"/>
          <p:nvPr/>
        </p:nvSpPr>
        <p:spPr>
          <a:xfrm>
            <a:off x="6903720" y="2148840"/>
            <a:ext cx="1737360" cy="548640"/>
          </a:xfrm>
          <a:prstGeom prst="rect">
            <a:avLst/>
          </a:prstGeom>
          <a:noFill/>
          <a:ln/>
        </p:spPr>
        <p:txBody>
          <a:bodyPr wrap="square" lIns="0" tIns="0" rIns="0" bIns="0" rtlCol="0" anchor="ctr"/>
          <a:lstStyle/>
          <a:p>
            <a:pPr marL="0" indent="0">
              <a:buNone/>
            </a:pPr>
            <a:r>
              <a:rPr lang="en-US" sz="1050" dirty="0">
                <a:solidFill>
                  <a:srgbClr val="1B2A3A"/>
                </a:solidFill>
                <a:latin typeface="Calibri" pitchFamily="34" charset="0"/>
                <a:ea typeface="Calibri" pitchFamily="34" charset="-122"/>
                <a:cs typeface="Calibri" pitchFamily="34" charset="-120"/>
              </a:rPr>
              <a:t>first EBITDA-positive year</a:t>
            </a:r>
            <a:endParaRPr lang="en-US" sz="10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2852928"/>
          <a:ext cx="8229600" cy="1600200"/>
        </p:xfrm>
        <a:graphic>
          <a:graphicData uri="http://schemas.openxmlformats.org/drawingml/2006/table">
            <a:tbl>
              <a:tblPr/>
              <a:tblGrid>
                <a:gridCol w="2194560">
                  <a:extLst>
                    <a:ext uri="{9D8B030D-6E8A-4147-A177-3AD203B41FA5}">
                      <a16:colId xmlns:a16="http://schemas.microsoft.com/office/drawing/2014/main" val="20000"/>
                    </a:ext>
                  </a:extLst>
                </a:gridCol>
                <a:gridCol w="1207008">
                  <a:extLst>
                    <a:ext uri="{9D8B030D-6E8A-4147-A177-3AD203B41FA5}">
                      <a16:colId xmlns:a16="http://schemas.microsoft.com/office/drawing/2014/main" val="20001"/>
                    </a:ext>
                  </a:extLst>
                </a:gridCol>
                <a:gridCol w="1207008">
                  <a:extLst>
                    <a:ext uri="{9D8B030D-6E8A-4147-A177-3AD203B41FA5}">
                      <a16:colId xmlns:a16="http://schemas.microsoft.com/office/drawing/2014/main" val="20002"/>
                    </a:ext>
                  </a:extLst>
                </a:gridCol>
                <a:gridCol w="1207008">
                  <a:extLst>
                    <a:ext uri="{9D8B030D-6E8A-4147-A177-3AD203B41FA5}">
                      <a16:colId xmlns:a16="http://schemas.microsoft.com/office/drawing/2014/main" val="20003"/>
                    </a:ext>
                  </a:extLst>
                </a:gridCol>
                <a:gridCol w="1207008">
                  <a:extLst>
                    <a:ext uri="{9D8B030D-6E8A-4147-A177-3AD203B41FA5}">
                      <a16:colId xmlns:a16="http://schemas.microsoft.com/office/drawing/2014/main" val="20004"/>
                    </a:ext>
                  </a:extLst>
                </a:gridCol>
                <a:gridCol w="1207008">
                  <a:extLst>
                    <a:ext uri="{9D8B030D-6E8A-4147-A177-3AD203B41FA5}">
                      <a16:colId xmlns:a16="http://schemas.microsoft.com/office/drawing/2014/main" val="20005"/>
                    </a:ext>
                  </a:extLst>
                </a:gridCol>
              </a:tblGrid>
              <a:tr h="214884">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$K unless noted</a:t>
                      </a:r>
                      <a:endParaRPr lang="en-US" sz="900" dirty="0">
                        <a:latin typeface="Calibri" charset="0"/>
                        <a:ea typeface="Calibri" charset="0"/>
                        <a:cs typeface="Calibri" charset="0"/>
                      </a:endParaRPr>
                    </a:p>
                  </a:txBody>
                  <a:tcPr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B2545"/>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2027</a:t>
                      </a:r>
                      <a:endParaRPr lang="en-US" sz="900" dirty="0">
                        <a:latin typeface="Calibri" charset="0"/>
                        <a:ea typeface="Calibri" charset="0"/>
                        <a:cs typeface="Calibri" charset="0"/>
                      </a:endParaRPr>
                    </a:p>
                  </a:txBody>
                  <a:tcPr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B2545"/>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2028</a:t>
                      </a:r>
                      <a:endParaRPr lang="en-US" sz="900" dirty="0">
                        <a:latin typeface="Calibri" charset="0"/>
                        <a:ea typeface="Calibri" charset="0"/>
                        <a:cs typeface="Calibri" charset="0"/>
                      </a:endParaRPr>
                    </a:p>
                  </a:txBody>
                  <a:tcPr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B2545"/>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2029</a:t>
                      </a:r>
                      <a:endParaRPr lang="en-US" sz="900" dirty="0">
                        <a:latin typeface="Calibri" charset="0"/>
                        <a:ea typeface="Calibri" charset="0"/>
                        <a:cs typeface="Calibri" charset="0"/>
                      </a:endParaRPr>
                    </a:p>
                  </a:txBody>
                  <a:tcPr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B2545"/>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2030</a:t>
                      </a:r>
                      <a:endParaRPr lang="en-US" sz="900" dirty="0">
                        <a:latin typeface="Calibri" charset="0"/>
                        <a:ea typeface="Calibri" charset="0"/>
                        <a:cs typeface="Calibri" charset="0"/>
                      </a:endParaRPr>
                    </a:p>
                  </a:txBody>
                  <a:tcPr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B2545"/>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2031</a:t>
                      </a:r>
                      <a:endParaRPr lang="en-US" sz="900" dirty="0">
                        <a:latin typeface="Calibri" charset="0"/>
                        <a:ea typeface="Calibri" charset="0"/>
                        <a:cs typeface="Calibri" charset="0"/>
                      </a:endParaRPr>
                    </a:p>
                  </a:txBody>
                  <a:tcPr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B2545"/>
                    </a:solidFill>
                  </a:tcPr>
                </a:tc>
                <a:extLst>
                  <a:ext uri="{0D108BD9-81ED-4DB2-BD59-A6C34878D82A}">
                    <a16:rowId xmlns:a16="http://schemas.microsoft.com/office/drawing/2014/main" val="10000"/>
                  </a:ext>
                </a:extLst>
              </a:tr>
              <a:tr h="214884">
                <a:tc>
                  <a:txBody>
                    <a:bodyPr/>
                    <a:lstStyle/>
                    <a:p>
                      <a:pPr marL="0" indent="0" algn="l">
                        <a:buNone/>
                      </a:pPr>
                      <a:r>
                        <a:rPr lang="en-US" sz="900" b="1" dirty="0">
                          <a:solidFill>
                            <a:srgbClr val="1B2A3A"/>
                          </a:solidFill>
                          <a:latin typeface="Calibri" pitchFamily="34" charset="0"/>
                          <a:ea typeface="Calibri" pitchFamily="34" charset="-122"/>
                          <a:cs typeface="Calibri" pitchFamily="34" charset="-120"/>
                        </a:rPr>
                        <a:t>Paying clinics</a:t>
                      </a:r>
                      <a:endParaRPr lang="en-US" sz="900" dirty="0">
                        <a:latin typeface="Calibri" charset="0"/>
                        <a:ea typeface="Calibri" charset="0"/>
                        <a:cs typeface="Calibri" charset="0"/>
                      </a:endParaRPr>
                    </a:p>
                  </a:txBody>
                  <a:tcPr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tcPr>
                </a:tc>
                <a:tc>
                  <a:txBody>
                    <a:bodyPr/>
                    <a:lstStyle/>
                    <a:p>
                      <a:pPr marL="0" indent="0" algn="ctr">
                        <a:buNone/>
                      </a:pPr>
                      <a:r>
                        <a:rPr lang="en-US" sz="900" dirty="0">
                          <a:solidFill>
                            <a:srgbClr val="1B2A3A"/>
                          </a:solidFill>
                          <a:latin typeface="Calibri" pitchFamily="34" charset="0"/>
                          <a:ea typeface="Calibri" pitchFamily="34" charset="-122"/>
                          <a:cs typeface="Calibri" pitchFamily="34" charset="-120"/>
                        </a:rPr>
                        <a:t>79</a:t>
                      </a:r>
                      <a:endParaRPr lang="en-US" sz="900" dirty="0">
                        <a:latin typeface="Calibri" charset="0"/>
                        <a:ea typeface="Calibri" charset="0"/>
                        <a:cs typeface="Calibri" charset="0"/>
                      </a:endParaRPr>
                    </a:p>
                  </a:txBody>
                  <a:tcPr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tcPr>
                </a:tc>
                <a:tc>
                  <a:txBody>
                    <a:bodyPr/>
                    <a:lstStyle/>
                    <a:p>
                      <a:pPr marL="0" indent="0" algn="ctr">
                        <a:buNone/>
                      </a:pPr>
                      <a:r>
                        <a:rPr lang="en-US" sz="900" dirty="0">
                          <a:solidFill>
                            <a:srgbClr val="1B2A3A"/>
                          </a:solidFill>
                          <a:latin typeface="Calibri" pitchFamily="34" charset="0"/>
                          <a:ea typeface="Calibri" pitchFamily="34" charset="-122"/>
                          <a:cs typeface="Calibri" pitchFamily="34" charset="-120"/>
                        </a:rPr>
                        <a:t>277</a:t>
                      </a:r>
                      <a:endParaRPr lang="en-US" sz="900" dirty="0">
                        <a:latin typeface="Calibri" charset="0"/>
                        <a:ea typeface="Calibri" charset="0"/>
                        <a:cs typeface="Calibri" charset="0"/>
                      </a:endParaRPr>
                    </a:p>
                  </a:txBody>
                  <a:tcPr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tcPr>
                </a:tc>
                <a:tc>
                  <a:txBody>
                    <a:bodyPr/>
                    <a:lstStyle/>
                    <a:p>
                      <a:pPr marL="0" indent="0" algn="ctr">
                        <a:buNone/>
                      </a:pPr>
                      <a:r>
                        <a:rPr lang="en-US" sz="900" dirty="0">
                          <a:solidFill>
                            <a:srgbClr val="1B2A3A"/>
                          </a:solidFill>
                          <a:latin typeface="Calibri" pitchFamily="34" charset="0"/>
                          <a:ea typeface="Calibri" pitchFamily="34" charset="-122"/>
                          <a:cs typeface="Calibri" pitchFamily="34" charset="-120"/>
                        </a:rPr>
                        <a:t>601</a:t>
                      </a:r>
                      <a:endParaRPr lang="en-US" sz="900" dirty="0">
                        <a:latin typeface="Calibri" charset="0"/>
                        <a:ea typeface="Calibri" charset="0"/>
                        <a:cs typeface="Calibri" charset="0"/>
                      </a:endParaRPr>
                    </a:p>
                  </a:txBody>
                  <a:tcPr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tcPr>
                </a:tc>
                <a:tc>
                  <a:txBody>
                    <a:bodyPr/>
                    <a:lstStyle/>
                    <a:p>
                      <a:pPr marL="0" indent="0" algn="ctr">
                        <a:buNone/>
                      </a:pPr>
                      <a:r>
                        <a:rPr lang="en-US" sz="900" dirty="0">
                          <a:solidFill>
                            <a:srgbClr val="1B2A3A"/>
                          </a:solidFill>
                          <a:latin typeface="Calibri" pitchFamily="34" charset="0"/>
                          <a:ea typeface="Calibri" pitchFamily="34" charset="-122"/>
                          <a:cs typeface="Calibri" pitchFamily="34" charset="-120"/>
                        </a:rPr>
                        <a:t>1,049</a:t>
                      </a:r>
                      <a:endParaRPr lang="en-US" sz="900" dirty="0">
                        <a:latin typeface="Calibri" charset="0"/>
                        <a:ea typeface="Calibri" charset="0"/>
                        <a:cs typeface="Calibri" charset="0"/>
                      </a:endParaRPr>
                    </a:p>
                  </a:txBody>
                  <a:tcPr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tcPr>
                </a:tc>
                <a:tc>
                  <a:txBody>
                    <a:bodyPr/>
                    <a:lstStyle/>
                    <a:p>
                      <a:pPr marL="0" indent="0" algn="ctr">
                        <a:buNone/>
                      </a:pPr>
                      <a:r>
                        <a:rPr lang="en-US" sz="900" dirty="0">
                          <a:solidFill>
                            <a:srgbClr val="1B2A3A"/>
                          </a:solidFill>
                          <a:latin typeface="Calibri" pitchFamily="34" charset="0"/>
                          <a:ea typeface="Calibri" pitchFamily="34" charset="-122"/>
                          <a:cs typeface="Calibri" pitchFamily="34" charset="-120"/>
                        </a:rPr>
                        <a:t>1,617</a:t>
                      </a:r>
                      <a:endParaRPr lang="en-US" sz="900" dirty="0">
                        <a:latin typeface="Calibri" charset="0"/>
                        <a:ea typeface="Calibri" charset="0"/>
                        <a:cs typeface="Calibri" charset="0"/>
                      </a:endParaRPr>
                    </a:p>
                  </a:txBody>
                  <a:tcPr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tcPr>
                </a:tc>
                <a:extLst>
                  <a:ext uri="{0D108BD9-81ED-4DB2-BD59-A6C34878D82A}">
                    <a16:rowId xmlns:a16="http://schemas.microsoft.com/office/drawing/2014/main" val="10001"/>
                  </a:ext>
                </a:extLst>
              </a:tr>
              <a:tr h="214884">
                <a:tc>
                  <a:txBody>
                    <a:bodyPr/>
                    <a:lstStyle/>
                    <a:p>
                      <a:pPr marL="0" indent="0" algn="l">
                        <a:buNone/>
                      </a:pPr>
                      <a:r>
                        <a:rPr lang="en-US" sz="900" b="1" dirty="0">
                          <a:solidFill>
                            <a:srgbClr val="1B2A3A"/>
                          </a:solidFill>
                          <a:latin typeface="Calibri" pitchFamily="34" charset="0"/>
                          <a:ea typeface="Calibri" pitchFamily="34" charset="-122"/>
                          <a:cs typeface="Calibri" pitchFamily="34" charset="-120"/>
                        </a:rPr>
                        <a:t>Revenue</a:t>
                      </a:r>
                      <a:endParaRPr lang="en-US" sz="900" dirty="0">
                        <a:latin typeface="Calibri" charset="0"/>
                        <a:ea typeface="Calibri" charset="0"/>
                        <a:cs typeface="Calibri" charset="0"/>
                      </a:endParaRPr>
                    </a:p>
                  </a:txBody>
                  <a:tcPr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tcPr>
                </a:tc>
                <a:tc>
                  <a:txBody>
                    <a:bodyPr/>
                    <a:lstStyle/>
                    <a:p>
                      <a:pPr marL="0" indent="0" algn="ctr">
                        <a:buNone/>
                      </a:pPr>
                      <a:r>
                        <a:rPr lang="en-US" sz="900" dirty="0">
                          <a:solidFill>
                            <a:srgbClr val="1B2A3A"/>
                          </a:solidFill>
                          <a:latin typeface="Calibri" pitchFamily="34" charset="0"/>
                          <a:ea typeface="Calibri" pitchFamily="34" charset="-122"/>
                          <a:cs typeface="Calibri" pitchFamily="34" charset="-120"/>
                        </a:rPr>
                        <a:t>101</a:t>
                      </a:r>
                      <a:endParaRPr lang="en-US" sz="900" dirty="0">
                        <a:latin typeface="Calibri" charset="0"/>
                        <a:ea typeface="Calibri" charset="0"/>
                        <a:cs typeface="Calibri" charset="0"/>
                      </a:endParaRPr>
                    </a:p>
                  </a:txBody>
                  <a:tcPr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tcPr>
                </a:tc>
                <a:tc>
                  <a:txBody>
                    <a:bodyPr/>
                    <a:lstStyle/>
                    <a:p>
                      <a:pPr marL="0" indent="0" algn="ctr">
                        <a:buNone/>
                      </a:pPr>
                      <a:r>
                        <a:rPr lang="en-US" sz="900" dirty="0">
                          <a:solidFill>
                            <a:srgbClr val="1B2A3A"/>
                          </a:solidFill>
                          <a:latin typeface="Calibri" pitchFamily="34" charset="0"/>
                          <a:ea typeface="Calibri" pitchFamily="34" charset="-122"/>
                          <a:cs typeface="Calibri" pitchFamily="34" charset="-120"/>
                        </a:rPr>
                        <a:t>521</a:t>
                      </a:r>
                      <a:endParaRPr lang="en-US" sz="900" dirty="0">
                        <a:latin typeface="Calibri" charset="0"/>
                        <a:ea typeface="Calibri" charset="0"/>
                        <a:cs typeface="Calibri" charset="0"/>
                      </a:endParaRPr>
                    </a:p>
                  </a:txBody>
                  <a:tcPr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tcPr>
                </a:tc>
                <a:tc>
                  <a:txBody>
                    <a:bodyPr/>
                    <a:lstStyle/>
                    <a:p>
                      <a:pPr marL="0" indent="0" algn="ctr">
                        <a:buNone/>
                      </a:pPr>
                      <a:r>
                        <a:rPr lang="en-US" sz="900" dirty="0">
                          <a:solidFill>
                            <a:srgbClr val="1B2A3A"/>
                          </a:solidFill>
                          <a:latin typeface="Calibri" pitchFamily="34" charset="0"/>
                          <a:ea typeface="Calibri" pitchFamily="34" charset="-122"/>
                          <a:cs typeface="Calibri" pitchFamily="34" charset="-120"/>
                        </a:rPr>
                        <a:t>1,491</a:t>
                      </a:r>
                      <a:endParaRPr lang="en-US" sz="900" dirty="0">
                        <a:latin typeface="Calibri" charset="0"/>
                        <a:ea typeface="Calibri" charset="0"/>
                        <a:cs typeface="Calibri" charset="0"/>
                      </a:endParaRPr>
                    </a:p>
                  </a:txBody>
                  <a:tcPr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tcPr>
                </a:tc>
                <a:tc>
                  <a:txBody>
                    <a:bodyPr/>
                    <a:lstStyle/>
                    <a:p>
                      <a:pPr marL="0" indent="0" algn="ctr">
                        <a:buNone/>
                      </a:pPr>
                      <a:r>
                        <a:rPr lang="en-US" sz="900" dirty="0">
                          <a:solidFill>
                            <a:srgbClr val="1B2A3A"/>
                          </a:solidFill>
                          <a:latin typeface="Calibri" pitchFamily="34" charset="0"/>
                          <a:ea typeface="Calibri" pitchFamily="34" charset="-122"/>
                          <a:cs typeface="Calibri" pitchFamily="34" charset="-120"/>
                        </a:rPr>
                        <a:t>3,190</a:t>
                      </a:r>
                      <a:endParaRPr lang="en-US" sz="900" dirty="0">
                        <a:latin typeface="Calibri" charset="0"/>
                        <a:ea typeface="Calibri" charset="0"/>
                        <a:cs typeface="Calibri" charset="0"/>
                      </a:endParaRPr>
                    </a:p>
                  </a:txBody>
                  <a:tcPr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tcPr>
                </a:tc>
                <a:tc>
                  <a:txBody>
                    <a:bodyPr/>
                    <a:lstStyle/>
                    <a:p>
                      <a:pPr marL="0" indent="0" algn="ctr">
                        <a:buNone/>
                      </a:pPr>
                      <a:r>
                        <a:rPr lang="en-US" sz="900" dirty="0">
                          <a:solidFill>
                            <a:srgbClr val="1B2A3A"/>
                          </a:solidFill>
                          <a:latin typeface="Calibri" pitchFamily="34" charset="0"/>
                          <a:ea typeface="Calibri" pitchFamily="34" charset="-122"/>
                          <a:cs typeface="Calibri" pitchFamily="34" charset="-120"/>
                        </a:rPr>
                        <a:t>5,735</a:t>
                      </a:r>
                      <a:endParaRPr lang="en-US" sz="900" dirty="0">
                        <a:latin typeface="Calibri" charset="0"/>
                        <a:ea typeface="Calibri" charset="0"/>
                        <a:cs typeface="Calibri" charset="0"/>
                      </a:endParaRPr>
                    </a:p>
                  </a:txBody>
                  <a:tcPr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tcPr>
                </a:tc>
                <a:extLst>
                  <a:ext uri="{0D108BD9-81ED-4DB2-BD59-A6C34878D82A}">
                    <a16:rowId xmlns:a16="http://schemas.microsoft.com/office/drawing/2014/main" val="10002"/>
                  </a:ext>
                </a:extLst>
              </a:tr>
              <a:tr h="214884">
                <a:tc>
                  <a:txBody>
                    <a:bodyPr/>
                    <a:lstStyle/>
                    <a:p>
                      <a:pPr marL="0" indent="0" algn="l">
                        <a:buNone/>
                      </a:pPr>
                      <a:r>
                        <a:rPr lang="en-US" sz="900" b="1" dirty="0">
                          <a:solidFill>
                            <a:srgbClr val="1B2A3A"/>
                          </a:solidFill>
                          <a:latin typeface="Calibri" pitchFamily="34" charset="0"/>
                          <a:ea typeface="Calibri" pitchFamily="34" charset="-122"/>
                          <a:cs typeface="Calibri" pitchFamily="34" charset="-120"/>
                        </a:rPr>
                        <a:t>Gross margin</a:t>
                      </a:r>
                      <a:endParaRPr lang="en-US" sz="900" dirty="0">
                        <a:latin typeface="Calibri" charset="0"/>
                        <a:ea typeface="Calibri" charset="0"/>
                        <a:cs typeface="Calibri" charset="0"/>
                      </a:endParaRPr>
                    </a:p>
                  </a:txBody>
                  <a:tcPr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tcPr>
                </a:tc>
                <a:tc>
                  <a:txBody>
                    <a:bodyPr/>
                    <a:lstStyle/>
                    <a:p>
                      <a:pPr marL="0" indent="0" algn="ctr">
                        <a:buNone/>
                      </a:pPr>
                      <a:r>
                        <a:rPr lang="en-US" sz="900" dirty="0">
                          <a:solidFill>
                            <a:srgbClr val="1B2A3A"/>
                          </a:solidFill>
                          <a:latin typeface="Calibri" pitchFamily="34" charset="0"/>
                          <a:ea typeface="Calibri" pitchFamily="34" charset="-122"/>
                          <a:cs typeface="Calibri" pitchFamily="34" charset="-120"/>
                        </a:rPr>
                        <a:t>79%</a:t>
                      </a:r>
                      <a:endParaRPr lang="en-US" sz="900" dirty="0">
                        <a:latin typeface="Calibri" charset="0"/>
                        <a:ea typeface="Calibri" charset="0"/>
                        <a:cs typeface="Calibri" charset="0"/>
                      </a:endParaRPr>
                    </a:p>
                  </a:txBody>
                  <a:tcPr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tcPr>
                </a:tc>
                <a:tc>
                  <a:txBody>
                    <a:bodyPr/>
                    <a:lstStyle/>
                    <a:p>
                      <a:pPr marL="0" indent="0" algn="ctr">
                        <a:buNone/>
                      </a:pPr>
                      <a:r>
                        <a:rPr lang="en-US" sz="900" dirty="0">
                          <a:solidFill>
                            <a:srgbClr val="1B2A3A"/>
                          </a:solidFill>
                          <a:latin typeface="Calibri" pitchFamily="34" charset="0"/>
                          <a:ea typeface="Calibri" pitchFamily="34" charset="-122"/>
                          <a:cs typeface="Calibri" pitchFamily="34" charset="-120"/>
                        </a:rPr>
                        <a:t>84%</a:t>
                      </a:r>
                      <a:endParaRPr lang="en-US" sz="900" dirty="0">
                        <a:latin typeface="Calibri" charset="0"/>
                        <a:ea typeface="Calibri" charset="0"/>
                        <a:cs typeface="Calibri" charset="0"/>
                      </a:endParaRPr>
                    </a:p>
                  </a:txBody>
                  <a:tcPr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tcPr>
                </a:tc>
                <a:tc>
                  <a:txBody>
                    <a:bodyPr/>
                    <a:lstStyle/>
                    <a:p>
                      <a:pPr marL="0" indent="0" algn="ctr">
                        <a:buNone/>
                      </a:pPr>
                      <a:r>
                        <a:rPr lang="en-US" sz="900" dirty="0">
                          <a:solidFill>
                            <a:srgbClr val="1B2A3A"/>
                          </a:solidFill>
                          <a:latin typeface="Calibri" pitchFamily="34" charset="0"/>
                          <a:ea typeface="Calibri" pitchFamily="34" charset="-122"/>
                          <a:cs typeface="Calibri" pitchFamily="34" charset="-120"/>
                        </a:rPr>
                        <a:t>86%</a:t>
                      </a:r>
                      <a:endParaRPr lang="en-US" sz="900" dirty="0">
                        <a:latin typeface="Calibri" charset="0"/>
                        <a:ea typeface="Calibri" charset="0"/>
                        <a:cs typeface="Calibri" charset="0"/>
                      </a:endParaRPr>
                    </a:p>
                  </a:txBody>
                  <a:tcPr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tcPr>
                </a:tc>
                <a:tc>
                  <a:txBody>
                    <a:bodyPr/>
                    <a:lstStyle/>
                    <a:p>
                      <a:pPr marL="0" indent="0" algn="ctr">
                        <a:buNone/>
                      </a:pPr>
                      <a:r>
                        <a:rPr lang="en-US" sz="900" dirty="0">
                          <a:solidFill>
                            <a:srgbClr val="1B2A3A"/>
                          </a:solidFill>
                          <a:latin typeface="Calibri" pitchFamily="34" charset="0"/>
                          <a:ea typeface="Calibri" pitchFamily="34" charset="-122"/>
                          <a:cs typeface="Calibri" pitchFamily="34" charset="-120"/>
                        </a:rPr>
                        <a:t>87%</a:t>
                      </a:r>
                      <a:endParaRPr lang="en-US" sz="900" dirty="0">
                        <a:latin typeface="Calibri" charset="0"/>
                        <a:ea typeface="Calibri" charset="0"/>
                        <a:cs typeface="Calibri" charset="0"/>
                      </a:endParaRPr>
                    </a:p>
                  </a:txBody>
                  <a:tcPr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tcPr>
                </a:tc>
                <a:tc>
                  <a:txBody>
                    <a:bodyPr/>
                    <a:lstStyle/>
                    <a:p>
                      <a:pPr marL="0" indent="0" algn="ctr">
                        <a:buNone/>
                      </a:pPr>
                      <a:r>
                        <a:rPr lang="en-US" sz="900" dirty="0">
                          <a:solidFill>
                            <a:srgbClr val="1B2A3A"/>
                          </a:solidFill>
                          <a:latin typeface="Calibri" pitchFamily="34" charset="0"/>
                          <a:ea typeface="Calibri" pitchFamily="34" charset="-122"/>
                          <a:cs typeface="Calibri" pitchFamily="34" charset="-120"/>
                        </a:rPr>
                        <a:t>87%</a:t>
                      </a:r>
                      <a:endParaRPr lang="en-US" sz="900" dirty="0">
                        <a:latin typeface="Calibri" charset="0"/>
                        <a:ea typeface="Calibri" charset="0"/>
                        <a:cs typeface="Calibri" charset="0"/>
                      </a:endParaRPr>
                    </a:p>
                  </a:txBody>
                  <a:tcPr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tcPr>
                </a:tc>
                <a:extLst>
                  <a:ext uri="{0D108BD9-81ED-4DB2-BD59-A6C34878D82A}">
                    <a16:rowId xmlns:a16="http://schemas.microsoft.com/office/drawing/2014/main" val="10003"/>
                  </a:ext>
                </a:extLst>
              </a:tr>
              <a:tr h="214884">
                <a:tc>
                  <a:txBody>
                    <a:bodyPr/>
                    <a:lstStyle/>
                    <a:p>
                      <a:pPr marL="0" indent="0" algn="l">
                        <a:buNone/>
                      </a:pPr>
                      <a:r>
                        <a:rPr lang="en-US" sz="900" b="1" dirty="0">
                          <a:solidFill>
                            <a:srgbClr val="1B2A3A"/>
                          </a:solidFill>
                          <a:latin typeface="Calibri" pitchFamily="34" charset="0"/>
                          <a:ea typeface="Calibri" pitchFamily="34" charset="-122"/>
                          <a:cs typeface="Calibri" pitchFamily="34" charset="-120"/>
                        </a:rPr>
                        <a:t>EBITDA</a:t>
                      </a:r>
                      <a:endParaRPr lang="en-US" sz="900" dirty="0">
                        <a:latin typeface="Calibri" charset="0"/>
                        <a:ea typeface="Calibri" charset="0"/>
                        <a:cs typeface="Calibri" charset="0"/>
                      </a:endParaRPr>
                    </a:p>
                  </a:txBody>
                  <a:tcPr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tcPr>
                </a:tc>
                <a:tc>
                  <a:txBody>
                    <a:bodyPr/>
                    <a:lstStyle/>
                    <a:p>
                      <a:pPr marL="0" indent="0" algn="ctr">
                        <a:buNone/>
                      </a:pPr>
                      <a:r>
                        <a:rPr lang="en-US" sz="900" dirty="0">
                          <a:solidFill>
                            <a:srgbClr val="1B2A3A"/>
                          </a:solidFill>
                          <a:latin typeface="Calibri" pitchFamily="34" charset="0"/>
                          <a:ea typeface="Calibri" pitchFamily="34" charset="-122"/>
                          <a:cs typeface="Calibri" pitchFamily="34" charset="-120"/>
                        </a:rPr>
                        <a:t>-232</a:t>
                      </a:r>
                      <a:endParaRPr lang="en-US" sz="900" dirty="0">
                        <a:latin typeface="Calibri" charset="0"/>
                        <a:ea typeface="Calibri" charset="0"/>
                        <a:cs typeface="Calibri" charset="0"/>
                      </a:endParaRPr>
                    </a:p>
                  </a:txBody>
                  <a:tcPr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tcPr>
                </a:tc>
                <a:tc>
                  <a:txBody>
                    <a:bodyPr/>
                    <a:lstStyle/>
                    <a:p>
                      <a:pPr marL="0" indent="0" algn="ctr">
                        <a:buNone/>
                      </a:pPr>
                      <a:r>
                        <a:rPr lang="en-US" sz="900" dirty="0">
                          <a:solidFill>
                            <a:srgbClr val="1B2A3A"/>
                          </a:solidFill>
                          <a:latin typeface="Calibri" pitchFamily="34" charset="0"/>
                          <a:ea typeface="Calibri" pitchFamily="34" charset="-122"/>
                          <a:cs typeface="Calibri" pitchFamily="34" charset="-120"/>
                        </a:rPr>
                        <a:t>-115</a:t>
                      </a:r>
                      <a:endParaRPr lang="en-US" sz="900" dirty="0">
                        <a:latin typeface="Calibri" charset="0"/>
                        <a:ea typeface="Calibri" charset="0"/>
                        <a:cs typeface="Calibri" charset="0"/>
                      </a:endParaRPr>
                    </a:p>
                  </a:txBody>
                  <a:tcPr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tcPr>
                </a:tc>
                <a:tc>
                  <a:txBody>
                    <a:bodyPr/>
                    <a:lstStyle/>
                    <a:p>
                      <a:pPr marL="0" indent="0" algn="ctr">
                        <a:buNone/>
                      </a:pPr>
                      <a:r>
                        <a:rPr lang="en-US" sz="900" dirty="0">
                          <a:solidFill>
                            <a:srgbClr val="1B2A3A"/>
                          </a:solidFill>
                          <a:latin typeface="Calibri" pitchFamily="34" charset="0"/>
                          <a:ea typeface="Calibri" pitchFamily="34" charset="-122"/>
                          <a:cs typeface="Calibri" pitchFamily="34" charset="-120"/>
                        </a:rPr>
                        <a:t>213</a:t>
                      </a:r>
                      <a:endParaRPr lang="en-US" sz="900" dirty="0">
                        <a:latin typeface="Calibri" charset="0"/>
                        <a:ea typeface="Calibri" charset="0"/>
                        <a:cs typeface="Calibri" charset="0"/>
                      </a:endParaRPr>
                    </a:p>
                  </a:txBody>
                  <a:tcPr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tcPr>
                </a:tc>
                <a:tc>
                  <a:txBody>
                    <a:bodyPr/>
                    <a:lstStyle/>
                    <a:p>
                      <a:pPr marL="0" indent="0" algn="ctr">
                        <a:buNone/>
                      </a:pPr>
                      <a:r>
                        <a:rPr lang="en-US" sz="900" dirty="0">
                          <a:solidFill>
                            <a:srgbClr val="1B2A3A"/>
                          </a:solidFill>
                          <a:latin typeface="Calibri" pitchFamily="34" charset="0"/>
                          <a:ea typeface="Calibri" pitchFamily="34" charset="-122"/>
                          <a:cs typeface="Calibri" pitchFamily="34" charset="-120"/>
                        </a:rPr>
                        <a:t>1,392</a:t>
                      </a:r>
                      <a:endParaRPr lang="en-US" sz="900" dirty="0">
                        <a:latin typeface="Calibri" charset="0"/>
                        <a:ea typeface="Calibri" charset="0"/>
                        <a:cs typeface="Calibri" charset="0"/>
                      </a:endParaRPr>
                    </a:p>
                  </a:txBody>
                  <a:tcPr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tcPr>
                </a:tc>
                <a:tc>
                  <a:txBody>
                    <a:bodyPr/>
                    <a:lstStyle/>
                    <a:p>
                      <a:pPr marL="0" indent="0" algn="ctr">
                        <a:buNone/>
                      </a:pPr>
                      <a:r>
                        <a:rPr lang="en-US" sz="900" dirty="0">
                          <a:solidFill>
                            <a:srgbClr val="1B2A3A"/>
                          </a:solidFill>
                          <a:latin typeface="Calibri" pitchFamily="34" charset="0"/>
                          <a:ea typeface="Calibri" pitchFamily="34" charset="-122"/>
                          <a:cs typeface="Calibri" pitchFamily="34" charset="-120"/>
                        </a:rPr>
                        <a:t>3,249</a:t>
                      </a:r>
                      <a:endParaRPr lang="en-US" sz="900" dirty="0">
                        <a:latin typeface="Calibri" charset="0"/>
                        <a:ea typeface="Calibri" charset="0"/>
                        <a:cs typeface="Calibri" charset="0"/>
                      </a:endParaRPr>
                    </a:p>
                  </a:txBody>
                  <a:tcPr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tcPr>
                </a:tc>
                <a:extLst>
                  <a:ext uri="{0D108BD9-81ED-4DB2-BD59-A6C34878D82A}">
                    <a16:rowId xmlns:a16="http://schemas.microsoft.com/office/drawing/2014/main" val="10004"/>
                  </a:ext>
                </a:extLst>
              </a:tr>
              <a:tr h="214884">
                <a:tc>
                  <a:txBody>
                    <a:bodyPr/>
                    <a:lstStyle/>
                    <a:p>
                      <a:pPr marL="0" indent="0" algn="l">
                        <a:buNone/>
                      </a:pPr>
                      <a:r>
                        <a:rPr lang="en-US" sz="900" b="1" dirty="0">
                          <a:solidFill>
                            <a:srgbClr val="1B2A3A"/>
                          </a:solidFill>
                          <a:latin typeface="Calibri" pitchFamily="34" charset="0"/>
                          <a:ea typeface="Calibri" pitchFamily="34" charset="-122"/>
                          <a:cs typeface="Calibri" pitchFamily="34" charset="-120"/>
                        </a:rPr>
                        <a:t>Team (FTE)</a:t>
                      </a:r>
                      <a:endParaRPr lang="en-US" sz="900" dirty="0">
                        <a:latin typeface="Calibri" charset="0"/>
                        <a:ea typeface="Calibri" charset="0"/>
                        <a:cs typeface="Calibri" charset="0"/>
                      </a:endParaRPr>
                    </a:p>
                  </a:txBody>
                  <a:tcPr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tcPr>
                </a:tc>
                <a:tc>
                  <a:txBody>
                    <a:bodyPr/>
                    <a:lstStyle/>
                    <a:p>
                      <a:pPr marL="0" indent="0" algn="ctr">
                        <a:buNone/>
                      </a:pPr>
                      <a:r>
                        <a:rPr lang="en-US" sz="900" dirty="0">
                          <a:solidFill>
                            <a:srgbClr val="1B2A3A"/>
                          </a:solidFill>
                          <a:latin typeface="Calibri" pitchFamily="34" charset="0"/>
                          <a:ea typeface="Calibri" pitchFamily="34" charset="-122"/>
                          <a:cs typeface="Calibri" pitchFamily="34" charset="-120"/>
                        </a:rPr>
                        <a:t>8.5</a:t>
                      </a:r>
                      <a:endParaRPr lang="en-US" sz="900" dirty="0">
                        <a:latin typeface="Calibri" charset="0"/>
                        <a:ea typeface="Calibri" charset="0"/>
                        <a:cs typeface="Calibri" charset="0"/>
                      </a:endParaRPr>
                    </a:p>
                  </a:txBody>
                  <a:tcPr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tcPr>
                </a:tc>
                <a:tc>
                  <a:txBody>
                    <a:bodyPr/>
                    <a:lstStyle/>
                    <a:p>
                      <a:pPr marL="0" indent="0" algn="ctr">
                        <a:buNone/>
                      </a:pPr>
                      <a:r>
                        <a:rPr lang="en-US" sz="900" dirty="0">
                          <a:solidFill>
                            <a:srgbClr val="1B2A3A"/>
                          </a:solidFill>
                          <a:latin typeface="Calibri" pitchFamily="34" charset="0"/>
                          <a:ea typeface="Calibri" pitchFamily="34" charset="-122"/>
                          <a:cs typeface="Calibri" pitchFamily="34" charset="-120"/>
                        </a:rPr>
                        <a:t>14.5</a:t>
                      </a:r>
                      <a:endParaRPr lang="en-US" sz="900" dirty="0">
                        <a:latin typeface="Calibri" charset="0"/>
                        <a:ea typeface="Calibri" charset="0"/>
                        <a:cs typeface="Calibri" charset="0"/>
                      </a:endParaRPr>
                    </a:p>
                  </a:txBody>
                  <a:tcPr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tcPr>
                </a:tc>
                <a:tc>
                  <a:txBody>
                    <a:bodyPr/>
                    <a:lstStyle/>
                    <a:p>
                      <a:pPr marL="0" indent="0" algn="ctr">
                        <a:buNone/>
                      </a:pPr>
                      <a:r>
                        <a:rPr lang="en-US" sz="900" dirty="0">
                          <a:solidFill>
                            <a:srgbClr val="1B2A3A"/>
                          </a:solidFill>
                          <a:latin typeface="Calibri" pitchFamily="34" charset="0"/>
                          <a:ea typeface="Calibri" pitchFamily="34" charset="-122"/>
                          <a:cs typeface="Calibri" pitchFamily="34" charset="-120"/>
                        </a:rPr>
                        <a:t>22</a:t>
                      </a:r>
                      <a:endParaRPr lang="en-US" sz="900" dirty="0">
                        <a:latin typeface="Calibri" charset="0"/>
                        <a:ea typeface="Calibri" charset="0"/>
                        <a:cs typeface="Calibri" charset="0"/>
                      </a:endParaRPr>
                    </a:p>
                  </a:txBody>
                  <a:tcPr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tcPr>
                </a:tc>
                <a:tc>
                  <a:txBody>
                    <a:bodyPr/>
                    <a:lstStyle/>
                    <a:p>
                      <a:pPr marL="0" indent="0" algn="ctr">
                        <a:buNone/>
                      </a:pPr>
                      <a:r>
                        <a:rPr lang="en-US" sz="900" dirty="0">
                          <a:solidFill>
                            <a:srgbClr val="1B2A3A"/>
                          </a:solidFill>
                          <a:latin typeface="Calibri" pitchFamily="34" charset="0"/>
                          <a:ea typeface="Calibri" pitchFamily="34" charset="-122"/>
                          <a:cs typeface="Calibri" pitchFamily="34" charset="-120"/>
                        </a:rPr>
                        <a:t>28.5</a:t>
                      </a:r>
                      <a:endParaRPr lang="en-US" sz="900" dirty="0">
                        <a:latin typeface="Calibri" charset="0"/>
                        <a:ea typeface="Calibri" charset="0"/>
                        <a:cs typeface="Calibri" charset="0"/>
                      </a:endParaRPr>
                    </a:p>
                  </a:txBody>
                  <a:tcPr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tcPr>
                </a:tc>
                <a:tc>
                  <a:txBody>
                    <a:bodyPr/>
                    <a:lstStyle/>
                    <a:p>
                      <a:pPr marL="0" indent="0" algn="ctr">
                        <a:buNone/>
                      </a:pPr>
                      <a:r>
                        <a:rPr lang="en-US" sz="900" dirty="0">
                          <a:solidFill>
                            <a:srgbClr val="1B2A3A"/>
                          </a:solidFill>
                          <a:latin typeface="Calibri" pitchFamily="34" charset="0"/>
                          <a:ea typeface="Calibri" pitchFamily="34" charset="-122"/>
                          <a:cs typeface="Calibri" pitchFamily="34" charset="-120"/>
                        </a:rPr>
                        <a:t>34.5</a:t>
                      </a:r>
                      <a:endParaRPr lang="en-US" sz="900" dirty="0">
                        <a:latin typeface="Calibri" charset="0"/>
                        <a:ea typeface="Calibri" charset="0"/>
                        <a:cs typeface="Calibri" charset="0"/>
                      </a:endParaRPr>
                    </a:p>
                  </a:txBody>
                  <a:tcPr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tcPr>
                </a:tc>
                <a:extLst>
                  <a:ext uri="{0D108BD9-81ED-4DB2-BD59-A6C34878D82A}">
                    <a16:rowId xmlns:a16="http://schemas.microsoft.com/office/drawing/2014/main" val="10005"/>
                  </a:ext>
                </a:extLst>
              </a:tr>
              <a:tr h="214884">
                <a:tc>
                  <a:txBody>
                    <a:bodyPr/>
                    <a:lstStyle/>
                    <a:p>
                      <a:pPr marL="0" indent="0" algn="l">
                        <a:buNone/>
                      </a:pPr>
                      <a:r>
                        <a:rPr lang="en-US" sz="900" b="1" dirty="0">
                          <a:solidFill>
                            <a:srgbClr val="1B2A3A"/>
                          </a:solidFill>
                          <a:latin typeface="Calibri" pitchFamily="34" charset="0"/>
                          <a:ea typeface="Calibri" pitchFamily="34" charset="-122"/>
                          <a:cs typeface="Calibri" pitchFamily="34" charset="-120"/>
                        </a:rPr>
                        <a:t>Closing cash</a:t>
                      </a:r>
                      <a:endParaRPr lang="en-US" sz="900" dirty="0">
                        <a:latin typeface="Calibri" charset="0"/>
                        <a:ea typeface="Calibri" charset="0"/>
                        <a:cs typeface="Calibri" charset="0"/>
                      </a:endParaRPr>
                    </a:p>
                  </a:txBody>
                  <a:tcPr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tcPr>
                </a:tc>
                <a:tc>
                  <a:txBody>
                    <a:bodyPr/>
                    <a:lstStyle/>
                    <a:p>
                      <a:pPr marL="0" indent="0" algn="ctr">
                        <a:buNone/>
                      </a:pPr>
                      <a:r>
                        <a:rPr lang="en-US" sz="900" dirty="0">
                          <a:solidFill>
                            <a:srgbClr val="1B2A3A"/>
                          </a:solidFill>
                          <a:latin typeface="Calibri" pitchFamily="34" charset="0"/>
                          <a:ea typeface="Calibri" pitchFamily="34" charset="-122"/>
                          <a:cs typeface="Calibri" pitchFamily="34" charset="-120"/>
                        </a:rPr>
                        <a:t>375</a:t>
                      </a:r>
                      <a:endParaRPr lang="en-US" sz="900" dirty="0">
                        <a:latin typeface="Calibri" charset="0"/>
                        <a:ea typeface="Calibri" charset="0"/>
                        <a:cs typeface="Calibri" charset="0"/>
                      </a:endParaRPr>
                    </a:p>
                  </a:txBody>
                  <a:tcPr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tcPr>
                </a:tc>
                <a:tc>
                  <a:txBody>
                    <a:bodyPr/>
                    <a:lstStyle/>
                    <a:p>
                      <a:pPr marL="0" indent="0" algn="ctr">
                        <a:buNone/>
                      </a:pPr>
                      <a:r>
                        <a:rPr lang="en-US" sz="900" dirty="0">
                          <a:solidFill>
                            <a:srgbClr val="1B2A3A"/>
                          </a:solidFill>
                          <a:latin typeface="Calibri" pitchFamily="34" charset="0"/>
                          <a:ea typeface="Calibri" pitchFamily="34" charset="-122"/>
                          <a:cs typeface="Calibri" pitchFamily="34" charset="-120"/>
                        </a:rPr>
                        <a:t>2,252</a:t>
                      </a:r>
                      <a:endParaRPr lang="en-US" sz="900" dirty="0">
                        <a:latin typeface="Calibri" charset="0"/>
                        <a:ea typeface="Calibri" charset="0"/>
                        <a:cs typeface="Calibri" charset="0"/>
                      </a:endParaRPr>
                    </a:p>
                  </a:txBody>
                  <a:tcPr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tcPr>
                </a:tc>
                <a:tc>
                  <a:txBody>
                    <a:bodyPr/>
                    <a:lstStyle/>
                    <a:p>
                      <a:pPr marL="0" indent="0" algn="ctr">
                        <a:buNone/>
                      </a:pPr>
                      <a:r>
                        <a:rPr lang="en-US" sz="900" dirty="0">
                          <a:solidFill>
                            <a:srgbClr val="1B2A3A"/>
                          </a:solidFill>
                          <a:latin typeface="Calibri" pitchFamily="34" charset="0"/>
                          <a:ea typeface="Calibri" pitchFamily="34" charset="-122"/>
                          <a:cs typeface="Calibri" pitchFamily="34" charset="-120"/>
                        </a:rPr>
                        <a:t>2,454</a:t>
                      </a:r>
                      <a:endParaRPr lang="en-US" sz="900" dirty="0">
                        <a:latin typeface="Calibri" charset="0"/>
                        <a:ea typeface="Calibri" charset="0"/>
                        <a:cs typeface="Calibri" charset="0"/>
                      </a:endParaRPr>
                    </a:p>
                  </a:txBody>
                  <a:tcPr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tcPr>
                </a:tc>
                <a:tc>
                  <a:txBody>
                    <a:bodyPr/>
                    <a:lstStyle/>
                    <a:p>
                      <a:pPr marL="0" indent="0" algn="ctr">
                        <a:buNone/>
                      </a:pPr>
                      <a:r>
                        <a:rPr lang="en-US" sz="900" dirty="0">
                          <a:solidFill>
                            <a:srgbClr val="1B2A3A"/>
                          </a:solidFill>
                          <a:latin typeface="Calibri" pitchFamily="34" charset="0"/>
                          <a:ea typeface="Calibri" pitchFamily="34" charset="-122"/>
                          <a:cs typeface="Calibri" pitchFamily="34" charset="-120"/>
                        </a:rPr>
                        <a:t>3,726</a:t>
                      </a:r>
                      <a:endParaRPr lang="en-US" sz="900" dirty="0">
                        <a:latin typeface="Calibri" charset="0"/>
                        <a:ea typeface="Calibri" charset="0"/>
                        <a:cs typeface="Calibri" charset="0"/>
                      </a:endParaRPr>
                    </a:p>
                  </a:txBody>
                  <a:tcPr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tcPr>
                </a:tc>
                <a:tc>
                  <a:txBody>
                    <a:bodyPr/>
                    <a:lstStyle/>
                    <a:p>
                      <a:pPr marL="0" indent="0" algn="ctr">
                        <a:buNone/>
                      </a:pPr>
                      <a:r>
                        <a:rPr lang="en-US" sz="900" dirty="0">
                          <a:solidFill>
                            <a:srgbClr val="1B2A3A"/>
                          </a:solidFill>
                          <a:latin typeface="Calibri" pitchFamily="34" charset="0"/>
                          <a:ea typeface="Calibri" pitchFamily="34" charset="-122"/>
                          <a:cs typeface="Calibri" pitchFamily="34" charset="-120"/>
                        </a:rPr>
                        <a:t>6,674</a:t>
                      </a:r>
                      <a:endParaRPr lang="en-US" sz="900" dirty="0">
                        <a:latin typeface="Calibri" charset="0"/>
                        <a:ea typeface="Calibri" charset="0"/>
                        <a:cs typeface="Calibri" charset="0"/>
                      </a:endParaRPr>
                    </a:p>
                  </a:txBody>
                  <a:tcPr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16" name="Text 11"/>
          <p:cNvSpPr txBox="1"/>
          <p:nvPr/>
        </p:nvSpPr>
        <p:spPr>
          <a:xfrm>
            <a:off x="457200" y="4636008"/>
            <a:ext cx="8229600" cy="164592"/>
          </a:xfrm>
          <a:prstGeom prst="rect">
            <a:avLst/>
          </a:prstGeom>
          <a:noFill/>
          <a:ln/>
        </p:spPr>
        <p:txBody>
          <a:bodyPr wrap="square" lIns="0" tIns="0" rIns="0" bIns="0" rtlCol="0" anchor="t"/>
          <a:lstStyle/>
          <a:p>
            <a:pPr marL="0" indent="0">
              <a:buNone/>
            </a:pPr>
            <a:r>
              <a:rPr lang="en-US" sz="800" dirty="0">
                <a:solidFill>
                  <a:srgbClr val="5B6B7B"/>
                </a:solidFill>
                <a:latin typeface="Calibri" pitchFamily="34" charset="0"/>
                <a:ea typeface="Calibri" pitchFamily="34" charset="-122"/>
                <a:cs typeface="Calibri" pitchFamily="34" charset="-120"/>
              </a:rPr>
              <a:t>Source: Clarus pre-seed financial model, re-priced. $2M seed round assumed in 2028.</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buNone/>
            </a:pPr>
            <a:r>
              <a:rPr lang="en-US" sz="2600" b="1" dirty="0">
                <a:solidFill>
                  <a:srgbClr val="0B2545"/>
                </a:solidFill>
                <a:latin typeface="Calibri" pitchFamily="34" charset="0"/>
                <a:ea typeface="Calibri" pitchFamily="34" charset="-122"/>
                <a:cs typeface="Calibri" pitchFamily="34" charset="-120"/>
              </a:rPr>
              <a:t>The Ask: Capital and Connections</a:t>
            </a:r>
            <a:endParaRPr lang="en-US" sz="2600" dirty="0"/>
          </a:p>
        </p:txBody>
      </p:sp>
      <p:sp>
        <p:nvSpPr>
          <p:cNvPr id="3" name="Text 1"/>
          <p:cNvSpPr txBox="1"/>
          <p:nvPr/>
        </p:nvSpPr>
        <p:spPr>
          <a:xfrm>
            <a:off x="457200" y="4818888"/>
            <a:ext cx="4572000" cy="201168"/>
          </a:xfrm>
          <a:prstGeom prst="rect">
            <a:avLst/>
          </a:prstGeom>
          <a:noFill/>
          <a:ln/>
        </p:spPr>
        <p:txBody>
          <a:bodyPr wrap="square" lIns="0" tIns="0" rIns="0" bIns="0" rtlCol="0" anchor="t"/>
          <a:lstStyle/>
          <a:p>
            <a:pPr marL="0" indent="0">
              <a:buNone/>
            </a:pPr>
            <a:r>
              <a:rPr lang="en-US" sz="900" dirty="0">
                <a:solidFill>
                  <a:srgbClr val="5B6B7B"/>
                </a:solidFill>
                <a:latin typeface="Calibri" pitchFamily="34" charset="0"/>
                <a:ea typeface="Calibri" pitchFamily="34" charset="-122"/>
                <a:cs typeface="Calibri" pitchFamily="34" charset="-120"/>
              </a:rPr>
              <a:t>Clarus Confidential. Do not copy.</a:t>
            </a:r>
            <a:endParaRPr lang="en-US" sz="900" dirty="0"/>
          </a:p>
        </p:txBody>
      </p:sp>
      <p:sp>
        <p:nvSpPr>
          <p:cNvPr id="5" name="Shape 2"/>
          <p:cNvSpPr/>
          <p:nvPr/>
        </p:nvSpPr>
        <p:spPr>
          <a:xfrm>
            <a:off x="457200" y="914400"/>
            <a:ext cx="4023360" cy="3520440"/>
          </a:xfrm>
          <a:prstGeom prst="roundRect">
            <a:avLst>
              <a:gd name="adj" fmla="val 2078"/>
            </a:avLst>
          </a:prstGeom>
          <a:solidFill>
            <a:srgbClr val="0B2545"/>
          </a:solidFill>
          <a:ln w="12700">
            <a:solidFill>
              <a:srgbClr val="0B2545"/>
            </a:solidFill>
            <a:prstDash val="solid"/>
          </a:ln>
        </p:spPr>
      </p:sp>
      <p:sp>
        <p:nvSpPr>
          <p:cNvPr id="6" name="Text 3"/>
          <p:cNvSpPr txBox="1"/>
          <p:nvPr/>
        </p:nvSpPr>
        <p:spPr>
          <a:xfrm>
            <a:off x="685800" y="1005840"/>
            <a:ext cx="3566160" cy="822960"/>
          </a:xfrm>
          <a:prstGeom prst="rect">
            <a:avLst/>
          </a:prstGeom>
          <a:noFill/>
          <a:ln/>
        </p:spPr>
        <p:txBody>
          <a:bodyPr wrap="square" lIns="0" tIns="0" rIns="0" bIns="0" rtlCol="0" anchor="t"/>
          <a:lstStyle/>
          <a:p>
            <a:pPr marL="0" indent="0">
              <a:buNone/>
            </a:pPr>
            <a:r>
              <a:rPr lang="en-US" sz="4800" b="1" dirty="0">
                <a:solidFill>
                  <a:srgbClr val="FFFFFF"/>
                </a:solidFill>
                <a:latin typeface="Calibri" pitchFamily="34" charset="0"/>
                <a:ea typeface="Calibri" pitchFamily="34" charset="-122"/>
                <a:cs typeface="Calibri" pitchFamily="34" charset="-120"/>
              </a:rPr>
              <a:t>$600K</a:t>
            </a:r>
            <a:endParaRPr lang="en-US" sz="4800" dirty="0"/>
          </a:p>
        </p:txBody>
      </p:sp>
      <p:sp>
        <p:nvSpPr>
          <p:cNvPr id="7" name="Text 4"/>
          <p:cNvSpPr txBox="1"/>
          <p:nvPr/>
        </p:nvSpPr>
        <p:spPr>
          <a:xfrm>
            <a:off x="685800" y="1828800"/>
            <a:ext cx="3566160" cy="274320"/>
          </a:xfrm>
          <a:prstGeom prst="rect">
            <a:avLst/>
          </a:prstGeom>
          <a:noFill/>
          <a:ln/>
        </p:spPr>
        <p:txBody>
          <a:bodyPr wrap="square" lIns="0" tIns="0" rIns="0" bIns="0" rtlCol="0" anchor="t"/>
          <a:lstStyle/>
          <a:p>
            <a:pPr marL="0" indent="0">
              <a:buNone/>
            </a:pPr>
            <a:r>
              <a:rPr lang="en-US" sz="1300" dirty="0">
                <a:solidFill>
                  <a:srgbClr val="BFE6EA"/>
                </a:solidFill>
                <a:latin typeface="Calibri" pitchFamily="34" charset="0"/>
                <a:ea typeface="Calibri" pitchFamily="34" charset="-122"/>
                <a:cs typeface="Calibri" pitchFamily="34" charset="-120"/>
              </a:rPr>
              <a:t>pre-seed on a post-money SAFE</a:t>
            </a:r>
            <a:endParaRPr lang="en-US" sz="1300" dirty="0"/>
          </a:p>
        </p:txBody>
      </p:sp>
      <p:sp>
        <p:nvSpPr>
          <p:cNvPr id="8" name="Text 5"/>
          <p:cNvSpPr txBox="1"/>
          <p:nvPr/>
        </p:nvSpPr>
        <p:spPr>
          <a:xfrm>
            <a:off x="685800" y="2286000"/>
            <a:ext cx="3566160" cy="137160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$3.1M post-money cap ($2.5M pre-money)</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~20 months of runway to seed milestones</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Base-case exit 9.5x (~57% IRR) at FY2031</a:t>
            </a:r>
            <a:endParaRPr lang="en-US" sz="1200" dirty="0"/>
          </a:p>
        </p:txBody>
      </p:sp>
      <p:sp>
        <p:nvSpPr>
          <p:cNvPr id="9" name="Text 6"/>
          <p:cNvSpPr txBox="1"/>
          <p:nvPr/>
        </p:nvSpPr>
        <p:spPr>
          <a:xfrm>
            <a:off x="685800" y="3657600"/>
            <a:ext cx="3566160" cy="731520"/>
          </a:xfrm>
          <a:prstGeom prst="rect">
            <a:avLst/>
          </a:prstGeom>
          <a:noFill/>
          <a:ln/>
        </p:spPr>
        <p:txBody>
          <a:bodyPr wrap="square" lIns="0" tIns="0" rIns="0" bIns="0" rtlCol="0" anchor="t"/>
          <a:lstStyle/>
          <a:p>
            <a:pPr marL="0" indent="0">
              <a:buNone/>
            </a:pPr>
            <a:r>
              <a:rPr lang="en-US" sz="1050" dirty="0">
                <a:solidFill>
                  <a:srgbClr val="BFE6EA"/>
                </a:solidFill>
                <a:latin typeface="Calibri" pitchFamily="34" charset="0"/>
                <a:ea typeface="Calibri" pitchFamily="34" charset="-122"/>
                <a:cs typeface="Calibri" pitchFamily="34" charset="-120"/>
              </a:rPr>
              <a:t>Milestones: 79 clinics and $184K ARR by end 2027; 277 clinics and $774K ARR across three markets by end 2028.</a:t>
            </a:r>
            <a:endParaRPr lang="en-US" sz="1050" dirty="0"/>
          </a:p>
        </p:txBody>
      </p:sp>
      <p:sp>
        <p:nvSpPr>
          <p:cNvPr id="10" name="Shape 7"/>
          <p:cNvSpPr/>
          <p:nvPr/>
        </p:nvSpPr>
        <p:spPr>
          <a:xfrm>
            <a:off x="4663440" y="914400"/>
            <a:ext cx="4023360" cy="3520440"/>
          </a:xfrm>
          <a:prstGeom prst="roundRect">
            <a:avLst>
              <a:gd name="adj" fmla="val 3478"/>
            </a:avLst>
          </a:prstGeom>
          <a:solidFill>
            <a:srgbClr val="EEF4F7"/>
          </a:solidFill>
          <a:ln w="12700">
            <a:solidFill>
              <a:srgbClr val="EEF4F7"/>
            </a:solidFill>
            <a:prstDash val="solid"/>
          </a:ln>
        </p:spPr>
      </p:sp>
      <p:sp>
        <p:nvSpPr>
          <p:cNvPr id="11" name="Text 8"/>
          <p:cNvSpPr txBox="1"/>
          <p:nvPr/>
        </p:nvSpPr>
        <p:spPr>
          <a:xfrm>
            <a:off x="4846320" y="1005840"/>
            <a:ext cx="3657600" cy="320040"/>
          </a:xfrm>
          <a:prstGeom prst="rect">
            <a:avLst/>
          </a:prstGeom>
          <a:noFill/>
          <a:ln/>
        </p:spPr>
        <p:txBody>
          <a:bodyPr wrap="square" lIns="0" tIns="0" rIns="0" bIns="0" rtlCol="0" anchor="t"/>
          <a:lstStyle/>
          <a:p>
            <a:pPr marL="0" indent="0">
              <a:buNone/>
            </a:pPr>
            <a:r>
              <a:rPr lang="en-US" sz="1400" b="1" dirty="0">
                <a:solidFill>
                  <a:srgbClr val="0E9AA7"/>
                </a:solidFill>
                <a:latin typeface="Calibri" pitchFamily="34" charset="0"/>
                <a:ea typeface="Calibri" pitchFamily="34" charset="-122"/>
                <a:cs typeface="Calibri" pitchFamily="34" charset="-120"/>
              </a:rPr>
              <a:t>What we need beyond money</a:t>
            </a:r>
            <a:endParaRPr lang="en-US" sz="1400" dirty="0"/>
          </a:p>
        </p:txBody>
      </p:sp>
      <p:sp>
        <p:nvSpPr>
          <p:cNvPr id="12" name="Text 9"/>
          <p:cNvSpPr txBox="1"/>
          <p:nvPr/>
        </p:nvSpPr>
        <p:spPr>
          <a:xfrm>
            <a:off x="4846320" y="1417320"/>
            <a:ext cx="3657600" cy="2926080"/>
          </a:xfrm>
          <a:prstGeom prst="rect">
            <a:avLst/>
          </a:prstGeom>
          <a:noFill/>
          <a:ln/>
        </p:spPr>
        <p:txBody>
          <a:bodyPr wrap="square" lIns="0" tIns="0" rIns="0" bIns="0" rtlCol="0" anchor="t"/>
          <a:lstStyle/>
          <a:p>
            <a:pPr marL="342900" indent="-342900">
              <a:spcAft>
                <a:spcPts val="500"/>
              </a:spcAft>
              <a:buSzPct val="100000"/>
              <a:buChar char="•"/>
            </a:pPr>
            <a:endParaRPr lang="en-US" sz="1150" dirty="0">
              <a:solidFill>
                <a:srgbClr val="1B2A3A"/>
              </a:solidFill>
              <a:latin typeface="Calibri" pitchFamily="34" charset="0"/>
              <a:ea typeface="Calibri" pitchFamily="34" charset="-122"/>
              <a:cs typeface="Calibri" pitchFamily="34" charset="-120"/>
            </a:endParaRPr>
          </a:p>
          <a:p>
            <a:pPr marL="342900" indent="-342900">
              <a:spcAft>
                <a:spcPts val="500"/>
              </a:spcAft>
              <a:buSzPct val="100000"/>
              <a:buChar char="•"/>
            </a:pPr>
            <a:r>
              <a:rPr lang="en-US" sz="1150" dirty="0">
                <a:solidFill>
                  <a:srgbClr val="1B2A3A"/>
                </a:solidFill>
                <a:latin typeface="Calibri" pitchFamily="34" charset="0"/>
                <a:ea typeface="Calibri" pitchFamily="34" charset="-122"/>
                <a:cs typeface="Calibri" pitchFamily="34" charset="-120"/>
              </a:rPr>
              <a:t>Seeking professional networks from all over North America</a:t>
            </a:r>
          </a:p>
          <a:p>
            <a:pPr marL="342900" indent="-342900">
              <a:spcAft>
                <a:spcPts val="500"/>
              </a:spcAft>
              <a:buSzPct val="100000"/>
              <a:buChar char="•"/>
            </a:pPr>
            <a:r>
              <a:rPr lang="en-US" sz="1150" dirty="0">
                <a:solidFill>
                  <a:srgbClr val="1B2A3A"/>
                </a:solidFill>
                <a:latin typeface="Calibri" pitchFamily="34" charset="0"/>
                <a:ea typeface="Calibri" pitchFamily="34" charset="-122"/>
                <a:cs typeface="Calibri" pitchFamily="34" charset="-120"/>
              </a:rPr>
              <a:t>Introductions to clinic groups, dental networks and health systems in North America (Canada, United States and others)</a:t>
            </a:r>
            <a:endParaRPr lang="en-US" sz="1150" dirty="0"/>
          </a:p>
          <a:p>
            <a:pPr marL="342900" indent="-342900">
              <a:spcAft>
                <a:spcPts val="500"/>
              </a:spcAft>
              <a:buSzPct val="100000"/>
              <a:buChar char="•"/>
            </a:pPr>
            <a:r>
              <a:rPr lang="en-US" sz="1150" dirty="0">
                <a:solidFill>
                  <a:srgbClr val="1B2A3A"/>
                </a:solidFill>
                <a:latin typeface="Calibri" pitchFamily="34" charset="0"/>
                <a:ea typeface="Calibri" pitchFamily="34" charset="-122"/>
                <a:cs typeface="Calibri" pitchFamily="34" charset="-120"/>
              </a:rPr>
              <a:t>Connections to North American healthcare investors, advisors and pilot clinics</a:t>
            </a:r>
            <a:endParaRPr lang="en-US" sz="1150" dirty="0"/>
          </a:p>
          <a:p>
            <a:pPr marL="342900" indent="-342900">
              <a:spcAft>
                <a:spcPts val="500"/>
              </a:spcAft>
              <a:buSzPct val="100000"/>
              <a:buChar char="•"/>
            </a:pPr>
            <a:r>
              <a:rPr lang="en-US" sz="1150" dirty="0">
                <a:solidFill>
                  <a:srgbClr val="1B2A3A"/>
                </a:solidFill>
                <a:latin typeface="Calibri" pitchFamily="34" charset="0"/>
                <a:ea typeface="Calibri" pitchFamily="34" charset="-122"/>
                <a:cs typeface="Calibri" pitchFamily="34" charset="-120"/>
              </a:rPr>
              <a:t>Introductions to clinic groups and health networks in Dubai and Qatar</a:t>
            </a:r>
            <a:endParaRPr lang="en-US" sz="1150" dirty="0"/>
          </a:p>
          <a:p>
            <a:pPr marL="342900" indent="-342900">
              <a:spcAft>
                <a:spcPts val="500"/>
              </a:spcAft>
              <a:buSzPct val="100000"/>
              <a:buChar char="•"/>
            </a:pPr>
            <a:r>
              <a:rPr lang="en-US" sz="1150" dirty="0">
                <a:solidFill>
                  <a:srgbClr val="1B2A3A"/>
                </a:solidFill>
                <a:latin typeface="Calibri" pitchFamily="34" charset="0"/>
                <a:ea typeface="Calibri" pitchFamily="34" charset="-122"/>
                <a:cs typeface="Calibri" pitchFamily="34" charset="-120"/>
              </a:rPr>
              <a:t>An IPTSP telecom partner for AI voice calls on +880 numbers</a:t>
            </a:r>
            <a:endParaRPr lang="en-US" sz="1150" dirty="0"/>
          </a:p>
          <a:p>
            <a:pPr marL="342900" indent="-342900">
              <a:spcAft>
                <a:spcPts val="500"/>
              </a:spcAft>
              <a:buSzPct val="100000"/>
              <a:buChar char="•"/>
            </a:pPr>
            <a:r>
              <a:rPr lang="en-US" sz="1150" dirty="0">
                <a:solidFill>
                  <a:srgbClr val="1B2A3A"/>
                </a:solidFill>
                <a:latin typeface="Calibri" pitchFamily="34" charset="0"/>
                <a:ea typeface="Calibri" pitchFamily="34" charset="-122"/>
                <a:cs typeface="Calibri" pitchFamily="34" charset="-120"/>
              </a:rPr>
              <a:t>Mentors on health-data compliance and North American and Gulf go-to-market</a:t>
            </a:r>
            <a:endParaRPr lang="en-US" sz="1150" dirty="0"/>
          </a:p>
        </p:txBody>
      </p:sp>
      <p:sp>
        <p:nvSpPr>
          <p:cNvPr id="16" name="Text 13"/>
          <p:cNvSpPr txBox="1"/>
          <p:nvPr/>
        </p:nvSpPr>
        <p:spPr>
          <a:xfrm>
            <a:off x="457200" y="4599432"/>
            <a:ext cx="8229600" cy="182880"/>
          </a:xfrm>
          <a:prstGeom prst="rect">
            <a:avLst/>
          </a:prstGeom>
          <a:noFill/>
          <a:ln/>
        </p:spPr>
        <p:txBody>
          <a:bodyPr wrap="square" lIns="0" tIns="0" rIns="0" bIns="0" rtlCol="0" anchor="t"/>
          <a:lstStyle/>
          <a:p>
            <a:pPr marL="0" indent="0">
              <a:buNone/>
            </a:pPr>
            <a:r>
              <a:rPr lang="en-US" sz="800" dirty="0">
                <a:solidFill>
                  <a:srgbClr val="5B6B7B"/>
                </a:solidFill>
                <a:latin typeface="Calibri" pitchFamily="34" charset="0"/>
                <a:ea typeface="Calibri" pitchFamily="34" charset="-122"/>
                <a:cs typeface="Calibri" pitchFamily="34" charset="-120"/>
              </a:rPr>
              <a:t>Sources: Clarus model (valuation, cap table).</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8229600" cy="548640"/>
          </a:xfrm>
          <a:prstGeom prst="rect">
            <a:avLst/>
          </a:prstGeom>
          <a:noFill/>
        </p:spPr>
        <p:txBody>
          <a:bodyPr wrap="square" lIns="0" tIns="0" rIns="0" bIns="0" anchor="ctr">
            <a:spAutoFit/>
          </a:bodyPr>
          <a:lstStyle/>
          <a:p>
            <a:r>
              <a:rPr sz="2600" b="1">
                <a:solidFill>
                  <a:srgbClr val="0B2545"/>
                </a:solidFill>
                <a:latin typeface="Calibri"/>
              </a:rPr>
              <a:t>Use of Funds: $600K</a:t>
            </a:r>
          </a:p>
        </p:txBody>
      </p:sp>
      <p:sp>
        <p:nvSpPr>
          <p:cNvPr id="4" name="Rounded Rectangle 3"/>
          <p:cNvSpPr/>
          <p:nvPr/>
        </p:nvSpPr>
        <p:spPr>
          <a:xfrm>
            <a:off x="457200" y="914400"/>
            <a:ext cx="2651760" cy="1645920"/>
          </a:xfrm>
          <a:prstGeom prst="roundRect">
            <a:avLst>
              <a:gd name="adj" fmla="val 4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640080" y="1115568"/>
            <a:ext cx="164592" cy="164592"/>
          </a:xfrm>
          <a:prstGeom prst="ellipse">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77824" y="1078992"/>
            <a:ext cx="2048256" cy="256032"/>
          </a:xfrm>
          <a:prstGeom prst="rect">
            <a:avLst/>
          </a:prstGeom>
          <a:noFill/>
        </p:spPr>
        <p:txBody>
          <a:bodyPr wrap="square" lIns="0" tIns="0" rIns="0" bIns="0" anchor="t">
            <a:spAutoFit/>
          </a:bodyPr>
          <a:lstStyle/>
          <a:p>
            <a:r>
              <a:rPr sz="1200" b="1">
                <a:solidFill>
                  <a:srgbClr val="0B2545"/>
                </a:solidFill>
                <a:latin typeface="Calibri"/>
              </a:rPr>
              <a:t>Product &amp; Engineering</a:t>
            </a:r>
          </a:p>
        </p:txBody>
      </p:sp>
      <p:sp>
        <p:nvSpPr>
          <p:cNvPr id="7" name="TextBox 6"/>
          <p:cNvSpPr txBox="1"/>
          <p:nvPr/>
        </p:nvSpPr>
        <p:spPr>
          <a:xfrm>
            <a:off x="640080" y="1426464"/>
            <a:ext cx="2286000" cy="723275"/>
          </a:xfrm>
          <a:prstGeom prst="rect">
            <a:avLst/>
          </a:prstGeom>
          <a:noFill/>
        </p:spPr>
        <p:txBody>
          <a:bodyPr wrap="square" lIns="0" tIns="0" rIns="0" bIns="0">
            <a:spAutoFit/>
          </a:bodyPr>
          <a:lstStyle/>
          <a:p>
            <a:pPr marL="171450" indent="-171450">
              <a:spcAft>
                <a:spcPts val="300"/>
              </a:spcAft>
              <a:buChar char="•"/>
            </a:pPr>
            <a:r>
              <a:rPr sz="1050" dirty="0">
                <a:solidFill>
                  <a:srgbClr val="1B2A3A"/>
                </a:solidFill>
                <a:latin typeface="Calibri"/>
              </a:rPr>
              <a:t>Engineering hires </a:t>
            </a:r>
            <a:endParaRPr lang="en-US" sz="1050" dirty="0">
              <a:solidFill>
                <a:srgbClr val="1B2A3A"/>
              </a:solidFill>
              <a:latin typeface="Calibri"/>
            </a:endParaRPr>
          </a:p>
          <a:p>
            <a:pPr marL="171450" indent="-171450">
              <a:spcAft>
                <a:spcPts val="300"/>
              </a:spcAft>
              <a:buChar char="•"/>
            </a:pPr>
            <a:r>
              <a:rPr lang="en-US" sz="1050" dirty="0">
                <a:solidFill>
                  <a:srgbClr val="1B2A3A"/>
                </a:solidFill>
                <a:latin typeface="Calibri"/>
              </a:rPr>
              <a:t>Product &amp; design hires</a:t>
            </a:r>
          </a:p>
          <a:p>
            <a:pPr marL="171450" indent="-171450">
              <a:spcAft>
                <a:spcPts val="300"/>
              </a:spcAft>
              <a:buChar char="•"/>
            </a:pPr>
            <a:r>
              <a:rPr lang="en-US" sz="1050" dirty="0">
                <a:solidFill>
                  <a:srgbClr val="1B2A3A"/>
                </a:solidFill>
                <a:latin typeface="Calibri"/>
              </a:rPr>
              <a:t> AI voice tier and HMS/EMR integrations</a:t>
            </a:r>
          </a:p>
        </p:txBody>
      </p:sp>
      <p:sp>
        <p:nvSpPr>
          <p:cNvPr id="8" name="Rounded Rectangle 7"/>
          <p:cNvSpPr/>
          <p:nvPr/>
        </p:nvSpPr>
        <p:spPr>
          <a:xfrm>
            <a:off x="457200" y="2743200"/>
            <a:ext cx="2651760" cy="1645920"/>
          </a:xfrm>
          <a:prstGeom prst="roundRect">
            <a:avLst>
              <a:gd name="adj" fmla="val 4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640080" y="2944368"/>
            <a:ext cx="164592" cy="164592"/>
          </a:xfrm>
          <a:prstGeom prst="ellipse">
            <a:avLst/>
          </a:prstGeom>
          <a:solidFill>
            <a:srgbClr val="0E9A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77824" y="2907792"/>
            <a:ext cx="2048256" cy="256032"/>
          </a:xfrm>
          <a:prstGeom prst="rect">
            <a:avLst/>
          </a:prstGeom>
          <a:noFill/>
        </p:spPr>
        <p:txBody>
          <a:bodyPr wrap="square" lIns="0" tIns="0" rIns="0" bIns="0" anchor="t">
            <a:spAutoFit/>
          </a:bodyPr>
          <a:lstStyle/>
          <a:p>
            <a:r>
              <a:rPr sz="1200" b="1">
                <a:solidFill>
                  <a:srgbClr val="0B2545"/>
                </a:solidFill>
                <a:latin typeface="Calibri"/>
              </a:rPr>
              <a:t>Sales &amp; Marketing</a:t>
            </a:r>
          </a:p>
        </p:txBody>
      </p:sp>
      <p:sp>
        <p:nvSpPr>
          <p:cNvPr id="11" name="TextBox 10"/>
          <p:cNvSpPr txBox="1"/>
          <p:nvPr/>
        </p:nvSpPr>
        <p:spPr>
          <a:xfrm>
            <a:off x="640080" y="3255264"/>
            <a:ext cx="2286000" cy="523220"/>
          </a:xfrm>
          <a:prstGeom prst="rect">
            <a:avLst/>
          </a:prstGeom>
          <a:noFill/>
        </p:spPr>
        <p:txBody>
          <a:bodyPr wrap="square" lIns="0" tIns="0" rIns="0" bIns="0">
            <a:spAutoFit/>
          </a:bodyPr>
          <a:lstStyle/>
          <a:p>
            <a:pPr marL="171450" indent="-171450">
              <a:spcAft>
                <a:spcPts val="300"/>
              </a:spcAft>
              <a:buChar char="•"/>
            </a:pPr>
            <a:r>
              <a:rPr sz="1050" dirty="0">
                <a:solidFill>
                  <a:srgbClr val="1B2A3A"/>
                </a:solidFill>
                <a:latin typeface="Calibri"/>
              </a:rPr>
              <a:t>Sales reps (North America, Dubai, Qatar) </a:t>
            </a:r>
            <a:endParaRPr lang="en-US" sz="1050" dirty="0">
              <a:solidFill>
                <a:srgbClr val="1B2A3A"/>
              </a:solidFill>
              <a:latin typeface="Calibri"/>
            </a:endParaRPr>
          </a:p>
          <a:p>
            <a:pPr marL="171450" indent="-171450">
              <a:spcAft>
                <a:spcPts val="300"/>
              </a:spcAft>
              <a:buChar char="•"/>
            </a:pPr>
            <a:r>
              <a:rPr sz="1050" dirty="0">
                <a:solidFill>
                  <a:srgbClr val="1B2A3A"/>
                </a:solidFill>
                <a:latin typeface="Calibri"/>
              </a:rPr>
              <a:t>Pilots, events and referral credits </a:t>
            </a:r>
            <a:endParaRPr lang="en-US" sz="1050" dirty="0">
              <a:solidFill>
                <a:srgbClr val="1B2A3A"/>
              </a:solidFill>
              <a:latin typeface="Calibri"/>
            </a:endParaRPr>
          </a:p>
        </p:txBody>
      </p:sp>
      <p:sp>
        <p:nvSpPr>
          <p:cNvPr id="12" name="Rounded Rectangle 11"/>
          <p:cNvSpPr/>
          <p:nvPr/>
        </p:nvSpPr>
        <p:spPr>
          <a:xfrm>
            <a:off x="6035040" y="914400"/>
            <a:ext cx="2651760" cy="1645920"/>
          </a:xfrm>
          <a:prstGeom prst="roundRect">
            <a:avLst>
              <a:gd name="adj" fmla="val 4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6217920" y="1115568"/>
            <a:ext cx="164592" cy="164592"/>
          </a:xfrm>
          <a:prstGeom prst="ellipse">
            <a:avLst/>
          </a:prstGeom>
          <a:solidFill>
            <a:srgbClr val="1F5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55664" y="1078992"/>
            <a:ext cx="2048256" cy="256032"/>
          </a:xfrm>
          <a:prstGeom prst="rect">
            <a:avLst/>
          </a:prstGeom>
          <a:noFill/>
        </p:spPr>
        <p:txBody>
          <a:bodyPr wrap="square" lIns="0" tIns="0" rIns="0" bIns="0" anchor="t">
            <a:spAutoFit/>
          </a:bodyPr>
          <a:lstStyle/>
          <a:p>
            <a:r>
              <a:rPr sz="1200" b="1">
                <a:solidFill>
                  <a:srgbClr val="0B2545"/>
                </a:solidFill>
                <a:latin typeface="Calibri"/>
              </a:rPr>
              <a:t>Compliance &amp; Infrastructure</a:t>
            </a:r>
          </a:p>
        </p:txBody>
      </p:sp>
      <p:sp>
        <p:nvSpPr>
          <p:cNvPr id="15" name="TextBox 14"/>
          <p:cNvSpPr txBox="1"/>
          <p:nvPr/>
        </p:nvSpPr>
        <p:spPr>
          <a:xfrm>
            <a:off x="6217920" y="1426464"/>
            <a:ext cx="2286000" cy="561692"/>
          </a:xfrm>
          <a:prstGeom prst="rect">
            <a:avLst/>
          </a:prstGeom>
          <a:noFill/>
        </p:spPr>
        <p:txBody>
          <a:bodyPr wrap="square" lIns="0" tIns="0" rIns="0" bIns="0">
            <a:spAutoFit/>
          </a:bodyPr>
          <a:lstStyle/>
          <a:p>
            <a:pPr marL="171450" indent="-171450">
              <a:spcAft>
                <a:spcPts val="300"/>
              </a:spcAft>
              <a:buChar char="•"/>
            </a:pPr>
            <a:r>
              <a:rPr sz="1050" dirty="0">
                <a:solidFill>
                  <a:srgbClr val="1B2A3A"/>
                </a:solidFill>
                <a:latin typeface="Calibri"/>
              </a:rPr>
              <a:t>In-region data hosting </a:t>
            </a:r>
            <a:endParaRPr lang="en-US" sz="1050" dirty="0">
              <a:solidFill>
                <a:srgbClr val="1B2A3A"/>
              </a:solidFill>
              <a:latin typeface="Calibri"/>
            </a:endParaRPr>
          </a:p>
          <a:p>
            <a:pPr marL="171450" indent="-171450">
              <a:spcAft>
                <a:spcPts val="300"/>
              </a:spcAft>
              <a:buChar char="•"/>
            </a:pPr>
            <a:r>
              <a:rPr sz="1050" dirty="0">
                <a:solidFill>
                  <a:srgbClr val="1B2A3A"/>
                </a:solidFill>
                <a:latin typeface="Calibri"/>
              </a:rPr>
              <a:t>ISO 27001 / SOC 2 and legal </a:t>
            </a:r>
            <a:endParaRPr lang="en-US" sz="1050" dirty="0">
              <a:solidFill>
                <a:srgbClr val="1B2A3A"/>
              </a:solidFill>
              <a:latin typeface="Calibri"/>
            </a:endParaRPr>
          </a:p>
          <a:p>
            <a:pPr marL="171450" indent="-171450">
              <a:spcAft>
                <a:spcPts val="300"/>
              </a:spcAft>
              <a:buChar char="•"/>
            </a:pPr>
            <a:r>
              <a:rPr lang="en-US" sz="1050" dirty="0">
                <a:solidFill>
                  <a:srgbClr val="1B2A3A"/>
                </a:solidFill>
                <a:latin typeface="Calibri"/>
              </a:rPr>
              <a:t>Patenting and licensing</a:t>
            </a:r>
            <a:endParaRPr sz="1050" dirty="0">
              <a:solidFill>
                <a:srgbClr val="1B2A3A"/>
              </a:solidFill>
              <a:latin typeface="Calibri"/>
            </a:endParaRPr>
          </a:p>
        </p:txBody>
      </p:sp>
      <p:sp>
        <p:nvSpPr>
          <p:cNvPr id="16" name="Rounded Rectangle 15"/>
          <p:cNvSpPr/>
          <p:nvPr/>
        </p:nvSpPr>
        <p:spPr>
          <a:xfrm>
            <a:off x="6035040" y="2743200"/>
            <a:ext cx="2651760" cy="1645920"/>
          </a:xfrm>
          <a:prstGeom prst="roundRect">
            <a:avLst>
              <a:gd name="adj" fmla="val 4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6217920" y="2944368"/>
            <a:ext cx="164592" cy="164592"/>
          </a:xfrm>
          <a:prstGeom prst="ellipse">
            <a:avLst/>
          </a:prstGeom>
          <a:solidFill>
            <a:srgbClr val="5B6B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55664" y="2907792"/>
            <a:ext cx="2048256" cy="256032"/>
          </a:xfrm>
          <a:prstGeom prst="rect">
            <a:avLst/>
          </a:prstGeom>
          <a:noFill/>
        </p:spPr>
        <p:txBody>
          <a:bodyPr wrap="square" lIns="0" tIns="0" rIns="0" bIns="0" anchor="t">
            <a:spAutoFit/>
          </a:bodyPr>
          <a:lstStyle/>
          <a:p>
            <a:r>
              <a:rPr sz="1200" b="1">
                <a:solidFill>
                  <a:srgbClr val="0B2545"/>
                </a:solidFill>
                <a:latin typeface="Calibri"/>
              </a:rPr>
              <a:t>Operations &amp; Support</a:t>
            </a:r>
          </a:p>
        </p:txBody>
      </p:sp>
      <p:sp>
        <p:nvSpPr>
          <p:cNvPr id="19" name="TextBox 18"/>
          <p:cNvSpPr txBox="1"/>
          <p:nvPr/>
        </p:nvSpPr>
        <p:spPr>
          <a:xfrm>
            <a:off x="6217920" y="3255264"/>
            <a:ext cx="2286000" cy="361637"/>
          </a:xfrm>
          <a:prstGeom prst="rect">
            <a:avLst/>
          </a:prstGeom>
          <a:noFill/>
        </p:spPr>
        <p:txBody>
          <a:bodyPr wrap="square" lIns="0" tIns="0" rIns="0" bIns="0">
            <a:spAutoFit/>
          </a:bodyPr>
          <a:lstStyle/>
          <a:p>
            <a:pPr marL="171450" indent="-171450">
              <a:spcAft>
                <a:spcPts val="300"/>
              </a:spcAft>
              <a:buChar char="•"/>
            </a:pPr>
            <a:r>
              <a:rPr sz="1050" dirty="0">
                <a:solidFill>
                  <a:srgbClr val="1B2A3A"/>
                </a:solidFill>
                <a:latin typeface="Calibri"/>
              </a:rPr>
              <a:t>Customer support </a:t>
            </a:r>
            <a:r>
              <a:rPr lang="en-US" sz="1050" dirty="0">
                <a:solidFill>
                  <a:srgbClr val="1B2A3A"/>
                </a:solidFill>
                <a:latin typeface="Calibri"/>
              </a:rPr>
              <a:t>hire</a:t>
            </a:r>
          </a:p>
          <a:p>
            <a:pPr marL="171450" indent="-171450">
              <a:spcAft>
                <a:spcPts val="300"/>
              </a:spcAft>
              <a:buChar char="•"/>
            </a:pPr>
            <a:r>
              <a:rPr sz="1050" dirty="0">
                <a:solidFill>
                  <a:srgbClr val="1B2A3A"/>
                </a:solidFill>
                <a:latin typeface="Calibri"/>
              </a:rPr>
              <a:t>Clinic onboarding</a:t>
            </a:r>
          </a:p>
        </p:txBody>
      </p:sp>
      <p:graphicFrame>
        <p:nvGraphicFramePr>
          <p:cNvPr id="20" name="Chart 19"/>
          <p:cNvGraphicFramePr>
            <a:graphicFrameLocks noGrp="1"/>
          </p:cNvGraphicFramePr>
          <p:nvPr/>
        </p:nvGraphicFramePr>
        <p:xfrm>
          <a:off x="3246120" y="914400"/>
          <a:ext cx="2651760" cy="3474720"/>
        </p:xfrm>
        <a:graphic>
          <a:graphicData uri="http://schemas.openxmlformats.org/drawingml/2006/chart">
            <c:chart xmlns:c="http://schemas.openxmlformats.org/drawingml/2006/chart" xmlns:r="http://schemas.openxmlformats.org/officeDocument/2006/relationships" r:id="rId2"/>
          </a:graphicData>
        </a:graphic>
      </p:graphicFrame>
      <p:sp>
        <p:nvSpPr>
          <p:cNvPr id="21" name="TextBox 20"/>
          <p:cNvSpPr txBox="1"/>
          <p:nvPr/>
        </p:nvSpPr>
        <p:spPr>
          <a:xfrm>
            <a:off x="3886200" y="2331720"/>
            <a:ext cx="1371600" cy="338328"/>
          </a:xfrm>
          <a:prstGeom prst="rect">
            <a:avLst/>
          </a:prstGeom>
          <a:noFill/>
        </p:spPr>
        <p:txBody>
          <a:bodyPr wrap="square" lIns="0" tIns="0" rIns="0" bIns="0" anchor="t">
            <a:spAutoFit/>
          </a:bodyPr>
          <a:lstStyle/>
          <a:p>
            <a:pPr algn="ctr"/>
            <a:r>
              <a:rPr sz="2200" b="1">
                <a:solidFill>
                  <a:srgbClr val="0B2545"/>
                </a:solidFill>
                <a:latin typeface="Calibri"/>
              </a:rPr>
              <a:t>$600K</a:t>
            </a:r>
          </a:p>
        </p:txBody>
      </p:sp>
      <p:sp>
        <p:nvSpPr>
          <p:cNvPr id="22" name="TextBox 21"/>
          <p:cNvSpPr txBox="1"/>
          <p:nvPr/>
        </p:nvSpPr>
        <p:spPr>
          <a:xfrm>
            <a:off x="3886200" y="2670048"/>
            <a:ext cx="1371600" cy="228600"/>
          </a:xfrm>
          <a:prstGeom prst="rect">
            <a:avLst/>
          </a:prstGeom>
          <a:noFill/>
        </p:spPr>
        <p:txBody>
          <a:bodyPr wrap="square" lIns="0" tIns="0" rIns="0" bIns="0" anchor="t">
            <a:spAutoFit/>
          </a:bodyPr>
          <a:lstStyle/>
          <a:p>
            <a:pPr algn="ctr"/>
            <a:r>
              <a:rPr sz="1100" b="0">
                <a:solidFill>
                  <a:srgbClr val="5B6B7B"/>
                </a:solidFill>
                <a:latin typeface="Calibri"/>
              </a:rPr>
              <a:t>Use of Funds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34BE78D0-FB1F-4F28-A5A2-0D0F1439ABE4}"/>
              </a:ext>
            </a:extLst>
          </p:cNvPr>
          <p:cNvSpPr txBox="1"/>
          <p:nvPr/>
        </p:nvSpPr>
        <p:spPr>
          <a:xfrm>
            <a:off x="3032760" y="1203960"/>
            <a:ext cx="13489229" cy="2487930"/>
          </a:xfrm>
          <a:prstGeom prst="rect">
            <a:avLst/>
          </a:prstGeom>
          <a:noFill/>
          <a:ln/>
        </p:spPr>
        <p:txBody>
          <a:bodyPr wrap="square" lIns="0" tIns="0" rIns="0" bIns="0" rtlCol="0" anchor="ctr"/>
          <a:lstStyle/>
          <a:p>
            <a:pPr marL="0" indent="0">
              <a:buNone/>
            </a:pPr>
            <a:r>
              <a:rPr lang="en-US" sz="4800" b="1" dirty="0">
                <a:solidFill>
                  <a:srgbClr val="0B2545"/>
                </a:solidFill>
                <a:latin typeface="Calibri" pitchFamily="34" charset="0"/>
                <a:ea typeface="Calibri" pitchFamily="34" charset="-122"/>
                <a:cs typeface="Calibri" pitchFamily="34" charset="-120"/>
              </a:rPr>
              <a:t>THANK YOU</a:t>
            </a:r>
            <a:endParaRPr lang="en-US" sz="4800" dirty="0"/>
          </a:p>
        </p:txBody>
      </p:sp>
    </p:spTree>
    <p:extLst>
      <p:ext uri="{BB962C8B-B14F-4D97-AF65-F5344CB8AC3E}">
        <p14:creationId xmlns:p14="http://schemas.microsoft.com/office/powerpoint/2010/main" val="18990661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88</TotalTime>
  <Words>2373</Words>
  <Application>Microsoft Office PowerPoint</Application>
  <PresentationFormat>On-screen Show (16:9)</PresentationFormat>
  <Paragraphs>308</Paragraphs>
  <Slides>15</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Clarus — Pre-seed Investor Deck</dc:title>
  <dc:subject>PptxGenJS Presentation</dc:subject>
  <dc:creator>PptxGenJS</dc:creator>
  <cp:lastModifiedBy>Admin</cp:lastModifiedBy>
  <cp:revision>14</cp:revision>
  <dcterms:created xsi:type="dcterms:W3CDTF">2026-09-30T11:27:24Z</dcterms:created>
  <dcterms:modified xsi:type="dcterms:W3CDTF">2026-09-30T18:23:38Z</dcterms:modified>
</cp:coreProperties>
</file>